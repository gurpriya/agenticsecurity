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3" r:id="rId2"/>
    <p:sldId id="258" r:id="rId3"/>
    <p:sldId id="259" r:id="rId4"/>
    <p:sldId id="269" r:id="rId5"/>
    <p:sldId id="260" r:id="rId6"/>
    <p:sldId id="270" r:id="rId7"/>
    <p:sldId id="261" r:id="rId8"/>
    <p:sldId id="271" r:id="rId9"/>
    <p:sldId id="262" r:id="rId10"/>
    <p:sldId id="272" r:id="rId11"/>
    <p:sldId id="263" r:id="rId12"/>
    <p:sldId id="273" r:id="rId13"/>
    <p:sldId id="264" r:id="rId14"/>
    <p:sldId id="274" r:id="rId15"/>
    <p:sldId id="265" r:id="rId16"/>
    <p:sldId id="275" r:id="rId17"/>
    <p:sldId id="266" r:id="rId18"/>
    <p:sldId id="276" r:id="rId19"/>
    <p:sldId id="267" r:id="rId20"/>
    <p:sldId id="277" r:id="rId21"/>
    <p:sldId id="268" r:id="rId22"/>
    <p:sldId id="278" r:id="rId23"/>
    <p:sldId id="279"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82"/>
    <p:restoredTop sz="94793"/>
  </p:normalViewPr>
  <p:slideViewPr>
    <p:cSldViewPr snapToGrid="0">
      <p:cViewPr varScale="1">
        <p:scale>
          <a:sx n="107" d="100"/>
          <a:sy n="107" d="100"/>
        </p:scale>
        <p:origin x="608"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1F4E76-F4B2-2E42-8DA4-BB2A62184F96}" type="datetimeFigureOut">
              <a:rPr lang="en-US" smtClean="0"/>
              <a:t>4/8/26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BCD895-FA11-734B-8E8D-8DADB5A0EBD1}" type="slidenum">
              <a:rPr lang="en-US" smtClean="0"/>
              <a:t>‹#›</a:t>
            </a:fld>
            <a:endParaRPr lang="en-US"/>
          </a:p>
        </p:txBody>
      </p:sp>
    </p:spTree>
    <p:extLst>
      <p:ext uri="{BB962C8B-B14F-4D97-AF65-F5344CB8AC3E}">
        <p14:creationId xmlns:p14="http://schemas.microsoft.com/office/powerpoint/2010/main" val="410345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BCD895-FA11-734B-8E8D-8DADB5A0EBD1}" type="slidenum">
              <a:rPr lang="en-US" smtClean="0"/>
              <a:t>2</a:t>
            </a:fld>
            <a:endParaRPr lang="en-US"/>
          </a:p>
        </p:txBody>
      </p:sp>
    </p:spTree>
    <p:extLst>
      <p:ext uri="{BB962C8B-B14F-4D97-AF65-F5344CB8AC3E}">
        <p14:creationId xmlns:p14="http://schemas.microsoft.com/office/powerpoint/2010/main" val="2385783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effectLst/>
                <a:latin typeface="Helvetica" pitchFamily="2" charset="0"/>
              </a:rPr>
              <a:t>Issue short-lived, narrowly scoped tokens per</a:t>
            </a:r>
            <a:endParaRPr lang="en-US" dirty="0">
              <a:effectLst/>
              <a:latin typeface="Helvetica" pitchFamily="2" charset="0"/>
            </a:endParaRPr>
          </a:p>
          <a:p>
            <a:r>
              <a:rPr lang="en-US" i="1" dirty="0">
                <a:effectLst/>
                <a:latin typeface="Helvetica" pitchFamily="2" charset="0"/>
              </a:rPr>
              <a:t>task and cap rights with permission boundaries - using per-agent identities and short-lived</a:t>
            </a:r>
            <a:endParaRPr lang="en-US" dirty="0">
              <a:effectLst/>
              <a:latin typeface="Helvetica" pitchFamily="2" charset="0"/>
            </a:endParaRPr>
          </a:p>
          <a:p>
            <a:r>
              <a:rPr lang="en-US" i="1" dirty="0">
                <a:effectLst/>
                <a:latin typeface="Helvetica" pitchFamily="2" charset="0"/>
              </a:rPr>
              <a:t>credentials (e.g., </a:t>
            </a:r>
            <a:r>
              <a:rPr lang="en-US" i="1" dirty="0" err="1">
                <a:effectLst/>
                <a:latin typeface="Helvetica" pitchFamily="2" charset="0"/>
              </a:rPr>
              <a:t>mTLS</a:t>
            </a:r>
            <a:r>
              <a:rPr lang="en-US" i="1" dirty="0">
                <a:effectLst/>
                <a:latin typeface="Helvetica" pitchFamily="2" charset="0"/>
              </a:rPr>
              <a:t> certificates or scoped tokens) - to limit blast radius, block delegated-abuse</a:t>
            </a:r>
            <a:endParaRPr lang="en-US" dirty="0">
              <a:effectLst/>
              <a:latin typeface="Helvetica" pitchFamily="2" charset="0"/>
            </a:endParaRPr>
          </a:p>
          <a:p>
            <a:r>
              <a:rPr lang="en-US" i="1" dirty="0">
                <a:effectLst/>
                <a:latin typeface="Helvetica" pitchFamily="2" charset="0"/>
              </a:rPr>
              <a:t>and maintenance-window attacks, and mitigate un-scoped inheritance, orphaned privileges, and</a:t>
            </a:r>
            <a:endParaRPr lang="en-US" dirty="0">
              <a:effectLst/>
              <a:latin typeface="Helvetica" pitchFamily="2" charset="0"/>
            </a:endParaRPr>
          </a:p>
          <a:p>
            <a:r>
              <a:rPr lang="en-US" i="1" dirty="0">
                <a:effectLst/>
                <a:latin typeface="Helvetica" pitchFamily="2" charset="0"/>
              </a:rPr>
              <a:t>reflection-loop elevation.</a:t>
            </a:r>
            <a:endParaRPr lang="en-US" dirty="0">
              <a:effectLst/>
              <a:latin typeface="Helvetica" pitchFamily="2" charset="0"/>
            </a:endParaRPr>
          </a:p>
          <a:p>
            <a:endParaRPr lang="en-US" dirty="0"/>
          </a:p>
        </p:txBody>
      </p:sp>
      <p:sp>
        <p:nvSpPr>
          <p:cNvPr id="4" name="Slide Number Placeholder 3"/>
          <p:cNvSpPr>
            <a:spLocks noGrp="1"/>
          </p:cNvSpPr>
          <p:nvPr>
            <p:ph type="sldNum" sz="quarter" idx="5"/>
          </p:nvPr>
        </p:nvSpPr>
        <p:spPr/>
        <p:txBody>
          <a:bodyPr/>
          <a:lstStyle/>
          <a:p>
            <a:fld id="{A9BCD895-FA11-734B-8E8D-8DADB5A0EBD1}" type="slidenum">
              <a:rPr lang="en-US" smtClean="0"/>
              <a:t>8</a:t>
            </a:fld>
            <a:endParaRPr lang="en-US"/>
          </a:p>
        </p:txBody>
      </p:sp>
    </p:spTree>
    <p:extLst>
      <p:ext uri="{BB962C8B-B14F-4D97-AF65-F5344CB8AC3E}">
        <p14:creationId xmlns:p14="http://schemas.microsoft.com/office/powerpoint/2010/main" val="306074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Tackling this problem requires careful development-time tooling and runtime orchestration, where components are dynamically loaded, shared, and trusted.</a:t>
            </a:r>
          </a:p>
        </p:txBody>
      </p:sp>
      <p:sp>
        <p:nvSpPr>
          <p:cNvPr id="4" name="Slide Number Placeholder 3"/>
          <p:cNvSpPr>
            <a:spLocks noGrp="1"/>
          </p:cNvSpPr>
          <p:nvPr>
            <p:ph type="sldNum" sz="quarter" idx="5"/>
          </p:nvPr>
        </p:nvSpPr>
        <p:spPr/>
        <p:txBody>
          <a:bodyPr/>
          <a:lstStyle/>
          <a:p>
            <a:fld id="{A9BCD895-FA11-734B-8E8D-8DADB5A0EBD1}" type="slidenum">
              <a:rPr lang="en-US" smtClean="0"/>
              <a:t>9</a:t>
            </a:fld>
            <a:endParaRPr lang="en-US"/>
          </a:p>
        </p:txBody>
      </p:sp>
    </p:spTree>
    <p:extLst>
      <p:ext uri="{BB962C8B-B14F-4D97-AF65-F5344CB8AC3E}">
        <p14:creationId xmlns:p14="http://schemas.microsoft.com/office/powerpoint/2010/main" val="3562177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D26B0-3E17-9EC4-C381-FF94488AF5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A7A5A-37DC-611F-FEA8-F6202612A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A965CB-2499-AF55-1691-D53A70E04A93}"/>
              </a:ext>
            </a:extLst>
          </p:cNvPr>
          <p:cNvSpPr>
            <a:spLocks noGrp="1"/>
          </p:cNvSpPr>
          <p:nvPr>
            <p:ph type="body" idx="1"/>
          </p:nvPr>
        </p:nvSpPr>
        <p:spPr/>
        <p:txBody>
          <a:bodyPr/>
          <a:lstStyle/>
          <a:p>
            <a:r>
              <a:rPr lang="en-US" dirty="0"/>
              <a:t>Implement emergency revocation mechanisms that can instantly disable specific tools, prompts, or agent connections across all deployments when a compromise is detected, preventing further cascading damage.</a:t>
            </a:r>
          </a:p>
        </p:txBody>
      </p:sp>
      <p:sp>
        <p:nvSpPr>
          <p:cNvPr id="4" name="Slide Number Placeholder 3">
            <a:extLst>
              <a:ext uri="{FF2B5EF4-FFF2-40B4-BE49-F238E27FC236}">
                <a16:creationId xmlns:a16="http://schemas.microsoft.com/office/drawing/2014/main" id="{369E0758-F3D6-4BA1-A7CC-D8AAEED5522A}"/>
              </a:ext>
            </a:extLst>
          </p:cNvPr>
          <p:cNvSpPr>
            <a:spLocks noGrp="1"/>
          </p:cNvSpPr>
          <p:nvPr>
            <p:ph type="sldNum" sz="quarter" idx="5"/>
          </p:nvPr>
        </p:nvSpPr>
        <p:spPr/>
        <p:txBody>
          <a:bodyPr/>
          <a:lstStyle/>
          <a:p>
            <a:fld id="{A9BCD895-FA11-734B-8E8D-8DADB5A0EBD1}" type="slidenum">
              <a:rPr lang="en-US" smtClean="0"/>
              <a:t>10</a:t>
            </a:fld>
            <a:endParaRPr lang="en-US"/>
          </a:p>
        </p:txBody>
      </p:sp>
    </p:spTree>
    <p:extLst>
      <p:ext uri="{BB962C8B-B14F-4D97-AF65-F5344CB8AC3E}">
        <p14:creationId xmlns:p14="http://schemas.microsoft.com/office/powerpoint/2010/main" val="1427811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Multi agent systems depend on continuous communication between autonomous agents that coordinate via APIs, message buses, and shared memory, significantly expanding the attack surface. </a:t>
            </a:r>
          </a:p>
          <a:p>
            <a:endParaRPr lang="en-US" dirty="0"/>
          </a:p>
        </p:txBody>
      </p:sp>
      <p:sp>
        <p:nvSpPr>
          <p:cNvPr id="4" name="Slide Number Placeholder 3"/>
          <p:cNvSpPr>
            <a:spLocks noGrp="1"/>
          </p:cNvSpPr>
          <p:nvPr>
            <p:ph type="sldNum" sz="quarter" idx="5"/>
          </p:nvPr>
        </p:nvSpPr>
        <p:spPr/>
        <p:txBody>
          <a:bodyPr/>
          <a:lstStyle/>
          <a:p>
            <a:fld id="{A9BCD895-FA11-734B-8E8D-8DADB5A0EBD1}" type="slidenum">
              <a:rPr lang="en-US" smtClean="0"/>
              <a:t>15</a:t>
            </a:fld>
            <a:endParaRPr lang="en-US"/>
          </a:p>
        </p:txBody>
      </p:sp>
    </p:spTree>
    <p:extLst>
      <p:ext uri="{BB962C8B-B14F-4D97-AF65-F5344CB8AC3E}">
        <p14:creationId xmlns:p14="http://schemas.microsoft.com/office/powerpoint/2010/main" val="1055078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899FF-B165-7D37-BBFB-6D60D631F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DF625-04E2-202B-8570-2110AC46E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06ABA-A588-2006-A59C-0403E5A705FD}"/>
              </a:ext>
            </a:extLst>
          </p:cNvPr>
          <p:cNvSpPr>
            <a:spLocks noGrp="1"/>
          </p:cNvSpPr>
          <p:nvPr>
            <p:ph type="body" idx="1"/>
          </p:nvPr>
        </p:nvSpPr>
        <p:spPr/>
        <p:txBody>
          <a:bodyPr/>
          <a:lstStyle/>
          <a:p>
            <a:r>
              <a:rPr lang="en-US" dirty="0">
                <a:effectLst/>
                <a:latin typeface="Helvetica" pitchFamily="2" charset="0"/>
              </a:rPr>
              <a:t>Use registries or marketplaces that provide digital attestation of agent identity, provenance, and descriptor integrity. Require signed agent cards and continuous verification before accepting discovery or coordination messages. Leverage the PKI trusted root certificate registries to enable robust agent verification and attestation of critical attributes.</a:t>
            </a:r>
          </a:p>
        </p:txBody>
      </p:sp>
      <p:sp>
        <p:nvSpPr>
          <p:cNvPr id="4" name="Slide Number Placeholder 3">
            <a:extLst>
              <a:ext uri="{FF2B5EF4-FFF2-40B4-BE49-F238E27FC236}">
                <a16:creationId xmlns:a16="http://schemas.microsoft.com/office/drawing/2014/main" id="{F0F4D010-2611-E85D-814E-2BB3C886C2DA}"/>
              </a:ext>
            </a:extLst>
          </p:cNvPr>
          <p:cNvSpPr>
            <a:spLocks noGrp="1"/>
          </p:cNvSpPr>
          <p:nvPr>
            <p:ph type="sldNum" sz="quarter" idx="5"/>
          </p:nvPr>
        </p:nvSpPr>
        <p:spPr/>
        <p:txBody>
          <a:bodyPr/>
          <a:lstStyle/>
          <a:p>
            <a:fld id="{A9BCD895-FA11-734B-8E8D-8DADB5A0EBD1}" type="slidenum">
              <a:rPr lang="en-US" smtClean="0"/>
              <a:t>16</a:t>
            </a:fld>
            <a:endParaRPr lang="en-US"/>
          </a:p>
        </p:txBody>
      </p:sp>
    </p:spTree>
    <p:extLst>
      <p:ext uri="{BB962C8B-B14F-4D97-AF65-F5344CB8AC3E}">
        <p14:creationId xmlns:p14="http://schemas.microsoft.com/office/powerpoint/2010/main" val="3741348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04624-E128-B993-5655-9FEA6613E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1A124F-41C5-9D79-E6C9-8C73EBD110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19C1E0-31F0-D16D-A239-78121B286075}"/>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DB8038D8-F836-1A06-89DA-8F77B83BA1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C4A83-CD8B-3DA9-A0EA-DB5BDB9CE3F2}"/>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1149922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E3104-3544-9F21-4872-8D287D4C53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0D31DC-C074-0188-668C-3AB6C33F4C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25399-F514-0F34-D3D6-24E7AA40937B}"/>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FA2CDF10-1CB9-5EFC-FA7C-A05A26466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59248-F593-657F-624D-2DAB519C22B8}"/>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885032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CEE7C-A1FB-C452-EA48-6F40529178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233F62-2418-5EC0-11EB-42C68E10CB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9A8EEE-7F5E-070C-0EAE-FECACF25B03B}"/>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417F928A-2921-0D26-1B52-85AC795B97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CC5CD1-1362-8EB4-C848-031D9F4FA528}"/>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1556578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8505E-DD4F-BEF0-5238-C29EA3F6AD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51148F-C31E-319A-9635-8D8044DFBE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D8E80B-D77A-4650-A908-97313DAE24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0C9CA7-3334-32B1-EFC3-97A7813E4FD8}"/>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6" name="Footer Placeholder 5">
            <a:extLst>
              <a:ext uri="{FF2B5EF4-FFF2-40B4-BE49-F238E27FC236}">
                <a16:creationId xmlns:a16="http://schemas.microsoft.com/office/drawing/2014/main" id="{47396C99-1F90-1333-797F-4FC30D2A66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976121-14BC-E0A5-4618-6E2737C00262}"/>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240195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B291D-5D94-298C-C99C-1288DA2398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8888B1-1504-C6A0-5204-A067F3D1E1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A6CB14-D03C-7133-EFD7-8E9B958CAC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0ACC56-6D88-F4A3-588A-EE294DA230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683236-5353-60BE-B14A-83FB03F13A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F699AA-8B05-9ABE-8EC0-2861DD7F6B61}"/>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8" name="Footer Placeholder 7">
            <a:extLst>
              <a:ext uri="{FF2B5EF4-FFF2-40B4-BE49-F238E27FC236}">
                <a16:creationId xmlns:a16="http://schemas.microsoft.com/office/drawing/2014/main" id="{93DF3894-AEA3-B01D-EDB4-0B1F4EE87C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713D0B-60E9-E123-F103-C09A9707BB73}"/>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1993920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A3B56-6725-A253-EE07-2A8428BC76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A43DB8-F4AD-D81D-2E31-53288E4A10BF}"/>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4" name="Footer Placeholder 3">
            <a:extLst>
              <a:ext uri="{FF2B5EF4-FFF2-40B4-BE49-F238E27FC236}">
                <a16:creationId xmlns:a16="http://schemas.microsoft.com/office/drawing/2014/main" id="{00C27065-A421-1E27-259E-C18128E2F0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E416CE-952C-7649-01DC-AD1B8B27603C}"/>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758777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60BFF7-C473-D5C7-1AD5-777D2F8660DD}"/>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3" name="Footer Placeholder 2">
            <a:extLst>
              <a:ext uri="{FF2B5EF4-FFF2-40B4-BE49-F238E27FC236}">
                <a16:creationId xmlns:a16="http://schemas.microsoft.com/office/drawing/2014/main" id="{D4241819-BCC1-70BF-4148-23AD5D8887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73128B-DF08-9EC0-FA4E-9145D2A49CD3}"/>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715511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D56D2-0352-FC66-A5DA-870E043CD7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AE67D7-7CB9-7D4B-5508-23E899BEA8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40EE18-7815-2F6B-FA98-6BD533ED51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C84E64-712C-8603-B8DF-E657186D06B5}"/>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6" name="Footer Placeholder 5">
            <a:extLst>
              <a:ext uri="{FF2B5EF4-FFF2-40B4-BE49-F238E27FC236}">
                <a16:creationId xmlns:a16="http://schemas.microsoft.com/office/drawing/2014/main" id="{F30206A6-D26C-F166-3AC9-12AB9C1A05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766F8B-FC78-351D-9F10-B5D7CAF6D84B}"/>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2207510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7ADC-3CCB-0E2A-DF21-F0970E9C88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6965FA-B475-9FA7-82F4-9C75939CD8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8DD853-CCC8-37CF-5C85-D61F0D02DD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01D5A0-2842-F467-9342-91C6C3993E5D}"/>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6" name="Footer Placeholder 5">
            <a:extLst>
              <a:ext uri="{FF2B5EF4-FFF2-40B4-BE49-F238E27FC236}">
                <a16:creationId xmlns:a16="http://schemas.microsoft.com/office/drawing/2014/main" id="{40B9A963-8B11-6DA0-382F-18D892F90A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35D6C-478C-7F00-2F87-49C44203CB28}"/>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3158995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752D-0596-5056-C4C7-2B65EF6911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D73EE7-D671-3C70-EA34-F83377587D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A1C03A-2F98-798B-5417-78F21F51846F}"/>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C30F8DCE-5D09-BBD4-9A03-6E38DEDE6A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0853E2-B201-8EA7-75E4-B0A2A94CDA16}"/>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3891103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434A0-D6C7-38F4-79D1-7747588FC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BE24AE-EA82-2D4B-ADF9-27EAC47F7C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211146-DAEF-3E53-8FB7-FEA019B9F8AC}"/>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FB957A1A-4568-AD78-DD81-456E5347F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D830F1-82C5-8161-F608-A11AEEAA8D4C}"/>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3702018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32C704-E326-77FA-48C8-8C7988303F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009431-3518-5ABF-1F70-0A5CEA412D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CB33AA-5B91-2DBC-8393-994CBCCE2C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81A7C657-5F1E-72CF-BDC7-06D06F1E1B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420E17-3986-7D02-5872-0B402107D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2D384C-419C-674E-8E55-1D52BF195C1D}" type="slidenum">
              <a:rPr lang="en-US" smtClean="0"/>
              <a:t>‹#›</a:t>
            </a:fld>
            <a:endParaRPr lang="en-US"/>
          </a:p>
        </p:txBody>
      </p:sp>
    </p:spTree>
    <p:extLst>
      <p:ext uri="{BB962C8B-B14F-4D97-AF65-F5344CB8AC3E}">
        <p14:creationId xmlns:p14="http://schemas.microsoft.com/office/powerpoint/2010/main" val="354264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enai.owasp.org/resource/owasp-top-10-for-agentic-applications-for-2026/"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58FE2-BD43-356F-284A-09AA8CFAA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2760A-CECD-438D-5CDF-95D6121C027D}"/>
              </a:ext>
            </a:extLst>
          </p:cNvPr>
          <p:cNvSpPr>
            <a:spLocks noGrp="1"/>
          </p:cNvSpPr>
          <p:nvPr>
            <p:ph type="ctrTitle"/>
          </p:nvPr>
        </p:nvSpPr>
        <p:spPr/>
        <p:txBody>
          <a:bodyPr/>
          <a:lstStyle/>
          <a:p>
            <a:r>
              <a:rPr lang="en-US" dirty="0"/>
              <a:t>Top 10 Threats in Agentic Application</a:t>
            </a:r>
          </a:p>
        </p:txBody>
      </p:sp>
      <p:sp>
        <p:nvSpPr>
          <p:cNvPr id="3" name="Subtitle 2">
            <a:extLst>
              <a:ext uri="{FF2B5EF4-FFF2-40B4-BE49-F238E27FC236}">
                <a16:creationId xmlns:a16="http://schemas.microsoft.com/office/drawing/2014/main" id="{C7232EE9-440E-9711-DA73-3CF297127202}"/>
              </a:ext>
            </a:extLst>
          </p:cNvPr>
          <p:cNvSpPr>
            <a:spLocks noGrp="1"/>
          </p:cNvSpPr>
          <p:nvPr>
            <p:ph type="subTitle" idx="1"/>
          </p:nvPr>
        </p:nvSpPr>
        <p:spPr/>
        <p:txBody>
          <a:bodyPr/>
          <a:lstStyle/>
          <a:p>
            <a:r>
              <a:rPr lang="en-US" dirty="0"/>
              <a:t>OWASP Edition – Notes</a:t>
            </a:r>
          </a:p>
          <a:p>
            <a:r>
              <a:rPr lang="en-US" dirty="0"/>
              <a:t>Link: </a:t>
            </a:r>
            <a:r>
              <a:rPr lang="en-US" dirty="0">
                <a:hlinkClick r:id="rId2"/>
              </a:rPr>
              <a:t>https://genai.owasp.org/resource/owasp-top-10-for-agentic-applications-for-2026/</a:t>
            </a:r>
            <a:endParaRPr lang="en-US" dirty="0"/>
          </a:p>
          <a:p>
            <a:endParaRPr lang="en-US" dirty="0"/>
          </a:p>
        </p:txBody>
      </p:sp>
    </p:spTree>
    <p:extLst>
      <p:ext uri="{BB962C8B-B14F-4D97-AF65-F5344CB8AC3E}">
        <p14:creationId xmlns:p14="http://schemas.microsoft.com/office/powerpoint/2010/main" val="1367332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8A8D0-8A51-1A44-399A-3F6AB8381D6C}"/>
              </a:ext>
            </a:extLst>
          </p:cNvPr>
          <p:cNvSpPr>
            <a:spLocks noGrp="1"/>
          </p:cNvSpPr>
          <p:nvPr>
            <p:ph type="title"/>
          </p:nvPr>
        </p:nvSpPr>
        <p:spPr/>
        <p:txBody>
          <a:bodyPr/>
          <a:lstStyle/>
          <a:p>
            <a:r>
              <a:rPr lang="en-US" dirty="0"/>
              <a:t>OWASP Top 10 for Agentic Application</a:t>
            </a:r>
          </a:p>
        </p:txBody>
      </p:sp>
      <p:pic>
        <p:nvPicPr>
          <p:cNvPr id="4" name="Content Placeholder 3">
            <a:extLst>
              <a:ext uri="{FF2B5EF4-FFF2-40B4-BE49-F238E27FC236}">
                <a16:creationId xmlns:a16="http://schemas.microsoft.com/office/drawing/2014/main" id="{AD145821-9153-24DB-C76D-5AF0EB272F8F}"/>
              </a:ext>
            </a:extLst>
          </p:cNvPr>
          <p:cNvPicPr>
            <a:picLocks noGrp="1" noChangeAspect="1"/>
          </p:cNvPicPr>
          <p:nvPr>
            <p:ph idx="1"/>
          </p:nvPr>
        </p:nvPicPr>
        <p:blipFill>
          <a:blip r:embed="rId3"/>
          <a:stretch>
            <a:fillRect/>
          </a:stretch>
        </p:blipFill>
        <p:spPr>
          <a:xfrm>
            <a:off x="3909453" y="1825625"/>
            <a:ext cx="4373094" cy="4351338"/>
          </a:xfrm>
          <a:prstGeom prst="rect">
            <a:avLst/>
          </a:prstGeom>
        </p:spPr>
      </p:pic>
    </p:spTree>
    <p:extLst>
      <p:ext uri="{BB962C8B-B14F-4D97-AF65-F5344CB8AC3E}">
        <p14:creationId xmlns:p14="http://schemas.microsoft.com/office/powerpoint/2010/main" val="1117787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A8FF9-4F68-E20B-59C0-9E89BBD7F68A}"/>
              </a:ext>
            </a:extLst>
          </p:cNvPr>
          <p:cNvSpPr>
            <a:spLocks noGrp="1"/>
          </p:cNvSpPr>
          <p:nvPr>
            <p:ph type="title"/>
          </p:nvPr>
        </p:nvSpPr>
        <p:spPr/>
        <p:txBody>
          <a:bodyPr>
            <a:normAutofit/>
          </a:bodyPr>
          <a:lstStyle/>
          <a:p>
            <a:r>
              <a:rPr lang="en-US" dirty="0"/>
              <a:t>ASI01: Agent Goal Hijack</a:t>
            </a:r>
            <a:br>
              <a:rPr lang="en-US" dirty="0"/>
            </a:br>
            <a:endParaRPr lang="en-US" dirty="0"/>
          </a:p>
        </p:txBody>
      </p:sp>
      <p:sp>
        <p:nvSpPr>
          <p:cNvPr id="3" name="Content Placeholder 2">
            <a:extLst>
              <a:ext uri="{FF2B5EF4-FFF2-40B4-BE49-F238E27FC236}">
                <a16:creationId xmlns:a16="http://schemas.microsoft.com/office/drawing/2014/main" id="{E02320EC-9853-8A07-38D7-350A3BBBA2C3}"/>
              </a:ext>
            </a:extLst>
          </p:cNvPr>
          <p:cNvSpPr>
            <a:spLocks noGrp="1"/>
          </p:cNvSpPr>
          <p:nvPr>
            <p:ph idx="1"/>
          </p:nvPr>
        </p:nvSpPr>
        <p:spPr/>
        <p:txBody>
          <a:bodyPr>
            <a:normAutofit/>
          </a:bodyPr>
          <a:lstStyle/>
          <a:p>
            <a:pPr lvl="1"/>
            <a:r>
              <a:rPr lang="en-US" b="1" dirty="0"/>
              <a:t>What</a:t>
            </a:r>
            <a:r>
              <a:rPr lang="en-US" dirty="0"/>
              <a:t>: Manipulation of </a:t>
            </a:r>
            <a:r>
              <a:rPr lang="en-US" b="1" dirty="0"/>
              <a:t>goal</a:t>
            </a:r>
            <a:r>
              <a:rPr lang="en-US" dirty="0"/>
              <a:t> and </a:t>
            </a:r>
            <a:r>
              <a:rPr lang="en-US" b="1" dirty="0"/>
              <a:t>multi-step behavior </a:t>
            </a:r>
            <a:r>
              <a:rPr lang="en-US" dirty="0"/>
              <a:t>; autonomous misalignment that emerges without active attacker control.</a:t>
            </a:r>
          </a:p>
          <a:p>
            <a:pPr lvl="1"/>
            <a:r>
              <a:rPr lang="en-US" b="1" dirty="0"/>
              <a:t>Cause</a:t>
            </a:r>
            <a:r>
              <a:rPr lang="en-US" dirty="0"/>
              <a:t>: Agents rely on untyped natural-language inputs and loosely governed orchestration logic, they cannot reliably distinguish legitimate instructions from attacker -controlled content.</a:t>
            </a:r>
          </a:p>
          <a:p>
            <a:pPr lvl="1"/>
            <a:r>
              <a:rPr lang="en-US" b="1" dirty="0"/>
              <a:t>How</a:t>
            </a:r>
            <a:r>
              <a:rPr lang="en-US" dirty="0"/>
              <a:t>: Can occur interactively or pre-positioned input. Ex: Prompt-based manipulation, deceptive tool outputs, malicious artefacts, forged agent-to-agent messages, or poisoned external data. </a:t>
            </a:r>
          </a:p>
          <a:p>
            <a:pPr lvl="1"/>
            <a:r>
              <a:rPr lang="en-US" b="1" dirty="0"/>
              <a:t>Result</a:t>
            </a:r>
            <a:r>
              <a:rPr lang="en-US" dirty="0"/>
              <a:t>: Attackers can manipulate an agent’s objectives, instructions, tool selection, or decision</a:t>
            </a:r>
          </a:p>
          <a:p>
            <a:pPr lvl="1"/>
            <a:r>
              <a:rPr lang="en-US" b="1" dirty="0"/>
              <a:t>OWASP Agentic AI Threats and Mitigation Guide</a:t>
            </a:r>
          </a:p>
          <a:p>
            <a:pPr lvl="2"/>
            <a:r>
              <a:rPr lang="en-US" dirty="0"/>
              <a:t>T06 (Goal Manipulation) and T07 (Misaligned and deceptive behavior)</a:t>
            </a:r>
          </a:p>
        </p:txBody>
      </p:sp>
    </p:spTree>
    <p:extLst>
      <p:ext uri="{BB962C8B-B14F-4D97-AF65-F5344CB8AC3E}">
        <p14:creationId xmlns:p14="http://schemas.microsoft.com/office/powerpoint/2010/main" val="3690716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8E76B-2024-F115-112D-33E25A29B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04C8C-98AB-64D6-0552-5C41D79C0D03}"/>
              </a:ext>
            </a:extLst>
          </p:cNvPr>
          <p:cNvSpPr>
            <a:spLocks noGrp="1"/>
          </p:cNvSpPr>
          <p:nvPr>
            <p:ph type="title"/>
          </p:nvPr>
        </p:nvSpPr>
        <p:spPr/>
        <p:txBody>
          <a:bodyPr>
            <a:normAutofit/>
          </a:bodyPr>
          <a:lstStyle/>
          <a:p>
            <a:r>
              <a:rPr lang="en-US" dirty="0"/>
              <a:t>ASI01: Agent Goal Hijack</a:t>
            </a:r>
            <a:br>
              <a:rPr lang="en-US" dirty="0"/>
            </a:br>
            <a:endParaRPr lang="en-US" dirty="0"/>
          </a:p>
        </p:txBody>
      </p:sp>
      <p:sp>
        <p:nvSpPr>
          <p:cNvPr id="3" name="Content Placeholder 2">
            <a:extLst>
              <a:ext uri="{FF2B5EF4-FFF2-40B4-BE49-F238E27FC236}">
                <a16:creationId xmlns:a16="http://schemas.microsoft.com/office/drawing/2014/main" id="{34A6EA6B-D4D5-FC03-64A1-233B55393CE5}"/>
              </a:ext>
            </a:extLst>
          </p:cNvPr>
          <p:cNvSpPr>
            <a:spLocks noGrp="1"/>
          </p:cNvSpPr>
          <p:nvPr>
            <p:ph idx="1"/>
          </p:nvPr>
        </p:nvSpPr>
        <p:spPr>
          <a:xfrm>
            <a:off x="838200" y="1167788"/>
            <a:ext cx="10515600" cy="5009175"/>
          </a:xfrm>
        </p:spPr>
        <p:txBody>
          <a:bodyPr>
            <a:normAutofit fontScale="85000" lnSpcReduction="20000"/>
          </a:bodyPr>
          <a:lstStyle/>
          <a:p>
            <a:pPr lvl="1"/>
            <a:r>
              <a:rPr lang="en-US" b="1" dirty="0"/>
              <a:t>Example Vulnerability</a:t>
            </a:r>
          </a:p>
          <a:p>
            <a:pPr lvl="2"/>
            <a:r>
              <a:rPr lang="en-US" dirty="0"/>
              <a:t>Direct prompt injection</a:t>
            </a:r>
          </a:p>
          <a:p>
            <a:pPr lvl="2"/>
            <a:r>
              <a:rPr lang="en-US" dirty="0"/>
              <a:t>Indirect Prompt Injection via hidden instruction payloads embedded in web pages or documents</a:t>
            </a:r>
          </a:p>
          <a:p>
            <a:pPr lvl="2"/>
            <a:r>
              <a:rPr lang="en-US" dirty="0"/>
              <a:t>Indirect Prompt Injection external communication channels (e.g. email, calendar, teams) sent from outside</a:t>
            </a:r>
          </a:p>
          <a:p>
            <a:pPr lvl="1"/>
            <a:r>
              <a:rPr lang="en-US" b="1" dirty="0"/>
              <a:t>Prevention and Mitigation Guidelines</a:t>
            </a:r>
          </a:p>
          <a:p>
            <a:pPr lvl="2"/>
            <a:r>
              <a:rPr lang="en-US" dirty="0"/>
              <a:t>Treat all natural language input as untrusted </a:t>
            </a:r>
          </a:p>
          <a:p>
            <a:pPr lvl="2"/>
            <a:r>
              <a:rPr lang="en-US" dirty="0"/>
              <a:t>Route them through the same input-validation and prompt-injection safeguards defined before they can influence goal selection, planning, or tool calls.</a:t>
            </a:r>
          </a:p>
          <a:p>
            <a:pPr lvl="2"/>
            <a:r>
              <a:rPr lang="en-US" dirty="0"/>
              <a:t>enforcing least privilege for agent tools and requiring human approval for high-impact or goal-changing actions.</a:t>
            </a:r>
          </a:p>
          <a:p>
            <a:pPr lvl="2"/>
            <a:r>
              <a:rPr lang="en-US" dirty="0"/>
              <a:t>Define and lock agent system prompts so that goal priorities and permitted actions are explicit and auditable. Changes to changes in goals or reward definitions must go through configuration management and human approval.</a:t>
            </a:r>
          </a:p>
          <a:p>
            <a:pPr lvl="2"/>
            <a:r>
              <a:rPr lang="en-US" dirty="0"/>
              <a:t>At run time, validate(human approval, policy engine, platform guardrails) both user intent and agent intent before executing goal-changing or high impact actions</a:t>
            </a:r>
          </a:p>
          <a:p>
            <a:pPr lvl="2"/>
            <a:r>
              <a:rPr lang="en-US" dirty="0"/>
              <a:t>Pause or block execution on any unexpected goal shift, surface the deviation for review, and record it for audit.</a:t>
            </a:r>
          </a:p>
          <a:p>
            <a:pPr lvl="2"/>
            <a:r>
              <a:rPr lang="en-US" dirty="0"/>
              <a:t>When building agents, evaluate use of “intent capsule”, an emerging pattern to bind the declared goal, constraints, and context to each execution cycle in a signed envelope, restricting run-time use.</a:t>
            </a:r>
          </a:p>
        </p:txBody>
      </p:sp>
    </p:spTree>
    <p:extLst>
      <p:ext uri="{BB962C8B-B14F-4D97-AF65-F5344CB8AC3E}">
        <p14:creationId xmlns:p14="http://schemas.microsoft.com/office/powerpoint/2010/main" val="1907383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2DC0A-43C8-AE1C-85F8-4C74399F6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B748E5-22BB-A245-4C2E-A62AA489D24C}"/>
              </a:ext>
            </a:extLst>
          </p:cNvPr>
          <p:cNvSpPr>
            <a:spLocks noGrp="1"/>
          </p:cNvSpPr>
          <p:nvPr>
            <p:ph type="title"/>
          </p:nvPr>
        </p:nvSpPr>
        <p:spPr/>
        <p:txBody>
          <a:bodyPr>
            <a:normAutofit/>
          </a:bodyPr>
          <a:lstStyle/>
          <a:p>
            <a:r>
              <a:rPr lang="en-US" dirty="0"/>
              <a:t>ASI02: Tool Misuse and Exploitation</a:t>
            </a:r>
          </a:p>
        </p:txBody>
      </p:sp>
      <p:sp>
        <p:nvSpPr>
          <p:cNvPr id="3" name="Content Placeholder 2">
            <a:extLst>
              <a:ext uri="{FF2B5EF4-FFF2-40B4-BE49-F238E27FC236}">
                <a16:creationId xmlns:a16="http://schemas.microsoft.com/office/drawing/2014/main" id="{574D6D7D-084E-9020-3F7E-0419D6E0FDAA}"/>
              </a:ext>
            </a:extLst>
          </p:cNvPr>
          <p:cNvSpPr>
            <a:spLocks noGrp="1"/>
          </p:cNvSpPr>
          <p:nvPr>
            <p:ph idx="1"/>
          </p:nvPr>
        </p:nvSpPr>
        <p:spPr/>
        <p:txBody>
          <a:bodyPr>
            <a:normAutofit/>
          </a:bodyPr>
          <a:lstStyle/>
          <a:p>
            <a:pPr lvl="1"/>
            <a:r>
              <a:rPr lang="en-US" b="1" dirty="0"/>
              <a:t>What: </a:t>
            </a:r>
            <a:r>
              <a:rPr lang="en-US" dirty="0"/>
              <a:t>An unintended or unsafe use of already authorized tool</a:t>
            </a:r>
          </a:p>
          <a:p>
            <a:pPr lvl="1"/>
            <a:r>
              <a:rPr lang="en-US" b="1" dirty="0"/>
              <a:t>Causes: </a:t>
            </a:r>
            <a:r>
              <a:rPr lang="en-US" dirty="0"/>
              <a:t>Prompt injection, misalignment, or unsafe delegation or ambiguous instruction , how the agent chooses and applies tools; agent memory, dynamic tool selection, and delegation</a:t>
            </a:r>
          </a:p>
          <a:p>
            <a:pPr lvl="1"/>
            <a:r>
              <a:rPr lang="en-US" b="1" dirty="0"/>
              <a:t>Result: </a:t>
            </a:r>
            <a:r>
              <a:rPr lang="en-US" dirty="0"/>
              <a:t>Leading to data exfiltration, tool output manipulation or workflow hijacking, chaining, privilege escalation, and unintended actions.</a:t>
            </a:r>
          </a:p>
          <a:p>
            <a:pPr lvl="2"/>
            <a:r>
              <a:rPr lang="en-US" dirty="0"/>
              <a:t>Example: deleting valuable data, over-invoking costly APIs, or exfiltrating information.</a:t>
            </a:r>
          </a:p>
          <a:p>
            <a:pPr lvl="1"/>
            <a:r>
              <a:rPr lang="en-US" b="1" dirty="0"/>
              <a:t>OWASP Agentic AI Threats and Mitigation Guide</a:t>
            </a:r>
          </a:p>
          <a:p>
            <a:pPr lvl="2"/>
            <a:r>
              <a:rPr lang="en-US" dirty="0"/>
              <a:t>T2 Tool Misuse , T4 Resource Overload and T16 Insecure Inter-Agent Protocol Abuse</a:t>
            </a:r>
          </a:p>
          <a:p>
            <a:pPr lvl="1"/>
            <a:endParaRPr lang="en-US" dirty="0"/>
          </a:p>
        </p:txBody>
      </p:sp>
    </p:spTree>
    <p:extLst>
      <p:ext uri="{BB962C8B-B14F-4D97-AF65-F5344CB8AC3E}">
        <p14:creationId xmlns:p14="http://schemas.microsoft.com/office/powerpoint/2010/main" val="287478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85722-D9A9-8F51-FF06-E94BC2F40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44078-8EDE-7696-C2E2-848BC7469B07}"/>
              </a:ext>
            </a:extLst>
          </p:cNvPr>
          <p:cNvSpPr>
            <a:spLocks noGrp="1"/>
          </p:cNvSpPr>
          <p:nvPr>
            <p:ph type="title"/>
          </p:nvPr>
        </p:nvSpPr>
        <p:spPr/>
        <p:txBody>
          <a:bodyPr>
            <a:normAutofit/>
          </a:bodyPr>
          <a:lstStyle/>
          <a:p>
            <a:r>
              <a:rPr lang="en-US" dirty="0"/>
              <a:t>ASI02: Tool Misuse and Exploitation</a:t>
            </a:r>
          </a:p>
        </p:txBody>
      </p:sp>
      <p:sp>
        <p:nvSpPr>
          <p:cNvPr id="3" name="Content Placeholder 2">
            <a:extLst>
              <a:ext uri="{FF2B5EF4-FFF2-40B4-BE49-F238E27FC236}">
                <a16:creationId xmlns:a16="http://schemas.microsoft.com/office/drawing/2014/main" id="{98EFD030-B7CB-1D35-2291-993DEAB5A1C8}"/>
              </a:ext>
            </a:extLst>
          </p:cNvPr>
          <p:cNvSpPr>
            <a:spLocks noGrp="1"/>
          </p:cNvSpPr>
          <p:nvPr>
            <p:ph idx="1"/>
          </p:nvPr>
        </p:nvSpPr>
        <p:spPr>
          <a:xfrm>
            <a:off x="440675" y="1454226"/>
            <a:ext cx="11600761" cy="5255045"/>
          </a:xfrm>
        </p:spPr>
        <p:txBody>
          <a:bodyPr>
            <a:normAutofit fontScale="77500" lnSpcReduction="20000"/>
          </a:bodyPr>
          <a:lstStyle/>
          <a:p>
            <a:pPr lvl="1"/>
            <a:r>
              <a:rPr lang="en-US" b="1" dirty="0"/>
              <a:t>Example Vulnerability</a:t>
            </a:r>
          </a:p>
          <a:p>
            <a:pPr lvl="2"/>
            <a:r>
              <a:rPr lang="en-US" dirty="0"/>
              <a:t>Over privileged or over scoped tool access</a:t>
            </a:r>
          </a:p>
          <a:p>
            <a:pPr lvl="3"/>
            <a:r>
              <a:rPr lang="en-US" dirty="0"/>
              <a:t>Internal query -&gt; external exfiltration ; auto-run/approved tool</a:t>
            </a:r>
          </a:p>
          <a:p>
            <a:pPr lvl="2"/>
            <a:r>
              <a:rPr lang="en-US" dirty="0"/>
              <a:t>Unvalidated input forwarding</a:t>
            </a:r>
          </a:p>
          <a:p>
            <a:pPr lvl="3"/>
            <a:r>
              <a:rPr lang="en-US" dirty="0"/>
              <a:t>Treat LLM or planner outputs as untrusted </a:t>
            </a:r>
          </a:p>
          <a:p>
            <a:pPr lvl="2"/>
            <a:r>
              <a:rPr lang="en-US" dirty="0"/>
              <a:t>Unsafe browsing or federated calls or External data tool poisoning  </a:t>
            </a:r>
          </a:p>
          <a:p>
            <a:pPr lvl="3"/>
            <a:r>
              <a:rPr lang="en-US" dirty="0"/>
              <a:t>Compromising tool interface ; tool chaining</a:t>
            </a:r>
          </a:p>
          <a:p>
            <a:pPr lvl="2"/>
            <a:r>
              <a:rPr lang="en-US" dirty="0"/>
              <a:t>Loop amplification</a:t>
            </a:r>
          </a:p>
          <a:p>
            <a:pPr lvl="1"/>
            <a:r>
              <a:rPr lang="en-US" b="1" dirty="0"/>
              <a:t>Prevention and Mitigation Guidelines</a:t>
            </a:r>
          </a:p>
          <a:p>
            <a:pPr lvl="2"/>
            <a:r>
              <a:rPr lang="en-US" dirty="0"/>
              <a:t>Require explicit authentication for each tool invocation and human confirmation for high-impact or destructive actions</a:t>
            </a:r>
          </a:p>
          <a:p>
            <a:pPr lvl="2"/>
            <a:r>
              <a:rPr lang="en-US" dirty="0"/>
              <a:t>Enforce fully qualified tool names and version pins </a:t>
            </a:r>
          </a:p>
          <a:p>
            <a:pPr lvl="2"/>
            <a:r>
              <a:rPr lang="en-US" dirty="0"/>
              <a:t>Validate the intended semantics of tool calls rather than relying on just syntax</a:t>
            </a:r>
          </a:p>
          <a:p>
            <a:pPr lvl="2"/>
            <a:r>
              <a:rPr lang="en-US" dirty="0"/>
              <a:t>Just in time and Ephemeral Access - Grant temporary credentials or API tokens that expire immediately after use. Bind keys to specific user sessions to prevent lateral abuse.</a:t>
            </a:r>
          </a:p>
          <a:p>
            <a:pPr lvl="2"/>
            <a:r>
              <a:rPr lang="en-US" dirty="0"/>
              <a:t>Adaptive tool budgeting - Apply usage ceilings (cost, rate, or token budgets) with automatic revocation or throttling when exceeded.</a:t>
            </a:r>
          </a:p>
          <a:p>
            <a:pPr lvl="2"/>
            <a:r>
              <a:rPr lang="en-US" dirty="0"/>
              <a:t>A pre-execution Policy Enforcement Point (PEP/PDP) validates intent and arguments, enforces schemas and rate limits, issues short-lived credentials, and revokes or audits on drift.</a:t>
            </a:r>
          </a:p>
          <a:p>
            <a:pPr lvl="2"/>
            <a:r>
              <a:rPr lang="en-US" dirty="0"/>
              <a:t>Run tool or code execution in isolated sandboxes. </a:t>
            </a:r>
          </a:p>
          <a:p>
            <a:pPr lvl="2"/>
            <a:r>
              <a:rPr lang="en-US" dirty="0"/>
              <a:t>Enforce outbound allowlists and deny all non-approved network destinations</a:t>
            </a:r>
          </a:p>
          <a:p>
            <a:pPr lvl="2"/>
            <a:r>
              <a:rPr lang="en-US" dirty="0"/>
              <a:t>Define per-tool least-privilege profiles (scopes, maximum rate, and egress allowlists) and restrict agentic tool functionality and each tool’s permissions and data scope to those profiles</a:t>
            </a:r>
          </a:p>
          <a:p>
            <a:pPr lvl="2"/>
            <a:endParaRPr lang="en-US" dirty="0"/>
          </a:p>
          <a:p>
            <a:pPr lvl="1"/>
            <a:endParaRPr lang="en-US" b="1" dirty="0"/>
          </a:p>
        </p:txBody>
      </p:sp>
    </p:spTree>
    <p:extLst>
      <p:ext uri="{BB962C8B-B14F-4D97-AF65-F5344CB8AC3E}">
        <p14:creationId xmlns:p14="http://schemas.microsoft.com/office/powerpoint/2010/main" val="371132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95C20-F0CC-B742-B422-9340C0656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C7C1E-9D01-C9B4-1767-CD7AC46C20DB}"/>
              </a:ext>
            </a:extLst>
          </p:cNvPr>
          <p:cNvSpPr>
            <a:spLocks noGrp="1"/>
          </p:cNvSpPr>
          <p:nvPr>
            <p:ph type="title"/>
          </p:nvPr>
        </p:nvSpPr>
        <p:spPr/>
        <p:txBody>
          <a:bodyPr>
            <a:normAutofit/>
          </a:bodyPr>
          <a:lstStyle/>
          <a:p>
            <a:r>
              <a:rPr lang="en-US" dirty="0"/>
              <a:t>ASI03: Identity and Privilege Abuse</a:t>
            </a:r>
          </a:p>
        </p:txBody>
      </p:sp>
      <p:sp>
        <p:nvSpPr>
          <p:cNvPr id="3" name="Content Placeholder 2">
            <a:extLst>
              <a:ext uri="{FF2B5EF4-FFF2-40B4-BE49-F238E27FC236}">
                <a16:creationId xmlns:a16="http://schemas.microsoft.com/office/drawing/2014/main" id="{32462C86-3FDF-A102-DB29-443D9DAECCF4}"/>
              </a:ext>
            </a:extLst>
          </p:cNvPr>
          <p:cNvSpPr>
            <a:spLocks noGrp="1"/>
          </p:cNvSpPr>
          <p:nvPr>
            <p:ph idx="1"/>
          </p:nvPr>
        </p:nvSpPr>
        <p:spPr/>
        <p:txBody>
          <a:bodyPr>
            <a:normAutofit fontScale="92500" lnSpcReduction="10000"/>
          </a:bodyPr>
          <a:lstStyle/>
          <a:p>
            <a:pPr lvl="1"/>
            <a:r>
              <a:rPr lang="en-US" b="1" dirty="0"/>
              <a:t>What:</a:t>
            </a:r>
            <a:r>
              <a:rPr lang="en-US" dirty="0"/>
              <a:t> Exploits dynamic trust and delegation in agents</a:t>
            </a:r>
          </a:p>
          <a:p>
            <a:pPr lvl="2"/>
            <a:r>
              <a:rPr lang="en-US" dirty="0"/>
              <a:t>Identity refers to agents defined persona and to any authentication material it represents.</a:t>
            </a:r>
          </a:p>
          <a:p>
            <a:pPr lvl="1"/>
            <a:r>
              <a:rPr lang="en-US" b="1" dirty="0"/>
              <a:t>Cause: </a:t>
            </a:r>
            <a:r>
              <a:rPr lang="en-US" dirty="0"/>
              <a:t>Agent to agent trust or inherited credentials; architectural mismatch between user-centric identity systems and agentic design. Agent permission, tool integration. </a:t>
            </a:r>
          </a:p>
          <a:p>
            <a:pPr lvl="1"/>
            <a:r>
              <a:rPr lang="en-US" b="1" dirty="0"/>
              <a:t>How: </a:t>
            </a:r>
            <a:r>
              <a:rPr lang="en-US" dirty="0"/>
              <a:t>manipulating delegation chains, role inheritance, control flows, and agent context; context includes cached credentials or conversation history across interconnected systems. Prompt Injection</a:t>
            </a:r>
          </a:p>
          <a:p>
            <a:pPr lvl="1"/>
            <a:r>
              <a:rPr lang="en-US" b="1" dirty="0"/>
              <a:t>Result: </a:t>
            </a:r>
            <a:r>
              <a:rPr lang="en-US" dirty="0"/>
              <a:t>Escalate access, hijack privileges, or execute unauthorized actions</a:t>
            </a:r>
            <a:endParaRPr lang="en-US" b="1" dirty="0"/>
          </a:p>
          <a:p>
            <a:pPr lvl="1"/>
            <a:r>
              <a:rPr lang="en-US" b="1" dirty="0"/>
              <a:t>OWASP Agentic AI Threats and Mitigation Guide:</a:t>
            </a:r>
          </a:p>
          <a:p>
            <a:pPr lvl="2"/>
            <a:r>
              <a:rPr lang="en-US" sz="2400" dirty="0"/>
              <a:t>T3: Privilege Compromise</a:t>
            </a:r>
          </a:p>
          <a:p>
            <a:pPr lvl="1"/>
            <a:r>
              <a:rPr lang="en-US" b="1" dirty="0"/>
              <a:t>OWASP AIVSS:</a:t>
            </a:r>
          </a:p>
          <a:p>
            <a:pPr lvl="2"/>
            <a:r>
              <a:rPr lang="en-US" sz="2400" dirty="0"/>
              <a:t>Core Risk 2: Agent Access Control Violation.</a:t>
            </a:r>
          </a:p>
          <a:p>
            <a:pPr lvl="2"/>
            <a:endParaRPr lang="en-US" b="1" dirty="0"/>
          </a:p>
          <a:p>
            <a:pPr lvl="1"/>
            <a:endParaRPr lang="en-US" dirty="0"/>
          </a:p>
          <a:p>
            <a:pPr lvl="1"/>
            <a:endParaRPr lang="en-US" dirty="0"/>
          </a:p>
        </p:txBody>
      </p:sp>
    </p:spTree>
    <p:extLst>
      <p:ext uri="{BB962C8B-B14F-4D97-AF65-F5344CB8AC3E}">
        <p14:creationId xmlns:p14="http://schemas.microsoft.com/office/powerpoint/2010/main" val="1328346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FC735-1617-AA28-F349-B9AAEFEE5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9DDB9-A145-44C8-C20F-48C24AA7D597}"/>
              </a:ext>
            </a:extLst>
          </p:cNvPr>
          <p:cNvSpPr>
            <a:spLocks noGrp="1"/>
          </p:cNvSpPr>
          <p:nvPr>
            <p:ph type="title"/>
          </p:nvPr>
        </p:nvSpPr>
        <p:spPr/>
        <p:txBody>
          <a:bodyPr>
            <a:normAutofit/>
          </a:bodyPr>
          <a:lstStyle/>
          <a:p>
            <a:r>
              <a:rPr lang="en-US" dirty="0"/>
              <a:t>ASI03: Identity and Privilege Abuse</a:t>
            </a:r>
          </a:p>
        </p:txBody>
      </p:sp>
      <p:sp>
        <p:nvSpPr>
          <p:cNvPr id="3" name="Content Placeholder 2">
            <a:extLst>
              <a:ext uri="{FF2B5EF4-FFF2-40B4-BE49-F238E27FC236}">
                <a16:creationId xmlns:a16="http://schemas.microsoft.com/office/drawing/2014/main" id="{4109EF7C-3D7F-5FAC-CB78-BCDE1AC7593F}"/>
              </a:ext>
            </a:extLst>
          </p:cNvPr>
          <p:cNvSpPr>
            <a:spLocks noGrp="1"/>
          </p:cNvSpPr>
          <p:nvPr>
            <p:ph idx="1"/>
          </p:nvPr>
        </p:nvSpPr>
        <p:spPr>
          <a:xfrm>
            <a:off x="374573" y="1509310"/>
            <a:ext cx="11523643" cy="5244029"/>
          </a:xfrm>
        </p:spPr>
        <p:txBody>
          <a:bodyPr>
            <a:normAutofit fontScale="92500" lnSpcReduction="20000"/>
          </a:bodyPr>
          <a:lstStyle/>
          <a:p>
            <a:pPr lvl="1"/>
            <a:r>
              <a:rPr lang="en-US" b="1" dirty="0"/>
              <a:t>Example Vulnerability</a:t>
            </a:r>
          </a:p>
          <a:p>
            <a:pPr lvl="2"/>
            <a:r>
              <a:rPr lang="en-US" dirty="0"/>
              <a:t>Occurs when a high-privilege manager delegates tasks without applying least-privilege scoping</a:t>
            </a:r>
          </a:p>
          <a:p>
            <a:pPr lvl="2"/>
            <a:r>
              <a:rPr lang="en-US" dirty="0"/>
              <a:t>If memory is not segmented or cleared between tasks or users, Page 16 </a:t>
            </a:r>
            <a:r>
              <a:rPr lang="en-US" dirty="0" err="1"/>
              <a:t>genai.owasp.org</a:t>
            </a:r>
            <a:r>
              <a:rPr lang="en-US" dirty="0"/>
              <a:t> attackers can prompt the agent to reuse cached secrets, escalate privileges, or leak data from a prior secure session into a weaker one.</a:t>
            </a:r>
          </a:p>
          <a:p>
            <a:pPr lvl="2"/>
            <a:r>
              <a:rPr lang="en-US" dirty="0"/>
              <a:t>Cross-Agent Trust Exploitation (Confused Deputy). In multi-agent systems, agents often trust internal requests by default.</a:t>
            </a:r>
          </a:p>
          <a:p>
            <a:pPr lvl="2"/>
            <a:r>
              <a:rPr lang="en-US" dirty="0"/>
              <a:t>Time-of-Check to Time-of-Use (TOCTOU) in Agent Workflows. Permissions may be validated at the start of a workflow but change or expire before execution</a:t>
            </a:r>
          </a:p>
          <a:p>
            <a:pPr lvl="2"/>
            <a:r>
              <a:rPr lang="en-US" dirty="0"/>
              <a:t>Synthetic Identity Injection</a:t>
            </a:r>
          </a:p>
          <a:p>
            <a:pPr lvl="1"/>
            <a:r>
              <a:rPr lang="en-US" b="1" dirty="0"/>
              <a:t>Prevention and Mitigation Guidelines</a:t>
            </a:r>
          </a:p>
          <a:p>
            <a:pPr lvl="2"/>
            <a:r>
              <a:rPr lang="en-US" dirty="0"/>
              <a:t>Issue short lived, narrowly scoped tokens per task</a:t>
            </a:r>
          </a:p>
          <a:p>
            <a:pPr lvl="2"/>
            <a:r>
              <a:rPr lang="en-US" dirty="0"/>
              <a:t>Require re-authentication on context switch. </a:t>
            </a:r>
          </a:p>
          <a:p>
            <a:pPr lvl="2"/>
            <a:r>
              <a:rPr lang="en-US" dirty="0"/>
              <a:t>Prevent privilege inheritance across agents unless the original intent is re-validated.</a:t>
            </a:r>
          </a:p>
          <a:p>
            <a:pPr lvl="2"/>
            <a:r>
              <a:rPr lang="en-US" dirty="0"/>
              <a:t>Bind OAuth tokens to a signed intent that includes subject, audience, purpose, and session.</a:t>
            </a:r>
          </a:p>
          <a:p>
            <a:pPr lvl="2"/>
            <a:r>
              <a:rPr lang="en-US" dirty="0"/>
              <a:t>Require human approval for high-privilege or irreversible actions to provide a safety net that would stop Memory-Based Escalation, Cross-Agent Trust Exploitation, and Maintenance Window attacks.</a:t>
            </a:r>
          </a:p>
          <a:p>
            <a:pPr lvl="2"/>
            <a:r>
              <a:rPr lang="en-US" dirty="0"/>
              <a:t>Run per-session sandboxes with separated permissions and memory, wiping state between tasks to prevent Memory-Based Escalation and reduce Cross- Repository Data Exfiltration.</a:t>
            </a:r>
          </a:p>
        </p:txBody>
      </p:sp>
    </p:spTree>
    <p:extLst>
      <p:ext uri="{BB962C8B-B14F-4D97-AF65-F5344CB8AC3E}">
        <p14:creationId xmlns:p14="http://schemas.microsoft.com/office/powerpoint/2010/main" val="2515293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74795-BDBE-4755-4369-5E9BC2B816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D96E7-1D07-9F66-9529-2D4E3EA6BA93}"/>
              </a:ext>
            </a:extLst>
          </p:cNvPr>
          <p:cNvSpPr>
            <a:spLocks noGrp="1"/>
          </p:cNvSpPr>
          <p:nvPr>
            <p:ph type="title"/>
          </p:nvPr>
        </p:nvSpPr>
        <p:spPr/>
        <p:txBody>
          <a:bodyPr>
            <a:normAutofit/>
          </a:bodyPr>
          <a:lstStyle/>
          <a:p>
            <a:r>
              <a:rPr lang="en-US" dirty="0"/>
              <a:t>ASI04: Agentic Supply Chain Vulnerabilities</a:t>
            </a:r>
            <a:br>
              <a:rPr lang="en-US" dirty="0"/>
            </a:br>
            <a:endParaRPr lang="en-US" dirty="0"/>
          </a:p>
        </p:txBody>
      </p:sp>
      <p:sp>
        <p:nvSpPr>
          <p:cNvPr id="3" name="Content Placeholder 2">
            <a:extLst>
              <a:ext uri="{FF2B5EF4-FFF2-40B4-BE49-F238E27FC236}">
                <a16:creationId xmlns:a16="http://schemas.microsoft.com/office/drawing/2014/main" id="{85A003FB-0227-A0AE-46E9-8B38974D4C0E}"/>
              </a:ext>
            </a:extLst>
          </p:cNvPr>
          <p:cNvSpPr>
            <a:spLocks noGrp="1"/>
          </p:cNvSpPr>
          <p:nvPr>
            <p:ph idx="1"/>
          </p:nvPr>
        </p:nvSpPr>
        <p:spPr/>
        <p:txBody>
          <a:bodyPr>
            <a:normAutofit fontScale="92500" lnSpcReduction="10000"/>
          </a:bodyPr>
          <a:lstStyle/>
          <a:p>
            <a:pPr lvl="1"/>
            <a:r>
              <a:rPr lang="en-US" b="1" dirty="0"/>
              <a:t>What: </a:t>
            </a:r>
            <a:r>
              <a:rPr lang="en-US" dirty="0"/>
              <a:t>Arise when agents, tools, and related artefacts they work with are provided by third parties and may be malicious, compromised, or tampered with in transit. Can be both static or dynamic (including models and model weights, tools, plug-ins, datasets, other agents, agentic interfaces - MCP (Model Context Protocol), A2A (Agent2Agent) - agentic registries and related artifacts, or update channels.)</a:t>
            </a:r>
          </a:p>
          <a:p>
            <a:pPr lvl="1"/>
            <a:r>
              <a:rPr lang="en-US" b="1" dirty="0"/>
              <a:t>Cause: </a:t>
            </a:r>
            <a:r>
              <a:rPr lang="en-US" dirty="0"/>
              <a:t>Composing capabilities at runtime(loading external tools- agent personas dynamically), combined with agentic autonomy</a:t>
            </a:r>
          </a:p>
          <a:p>
            <a:pPr lvl="1"/>
            <a:r>
              <a:rPr lang="en-US" b="1" dirty="0"/>
              <a:t>Result: </a:t>
            </a:r>
            <a:r>
              <a:rPr lang="en-US" dirty="0"/>
              <a:t>Unsafe code, hidden instructions, or deceptive behaviors into the agent’s execution chain.</a:t>
            </a:r>
          </a:p>
          <a:p>
            <a:pPr lvl="1"/>
            <a:r>
              <a:rPr lang="en-US" b="1" dirty="0"/>
              <a:t>OWASP Agentic AI Threats and Mitigation Guide</a:t>
            </a:r>
          </a:p>
          <a:p>
            <a:pPr lvl="2"/>
            <a:r>
              <a:rPr lang="en-US" dirty="0"/>
              <a:t>T17 Supply Chain Compromise in Agentic Threats and Mitigations and across T2 Tool Misuse, T11 Unexpected RCE and Code Attacks, T12 Agent Communication Poisoning, T13 Rogue Agent and T16 Insecure Inter-Agent Protocol Abuse.</a:t>
            </a:r>
          </a:p>
          <a:p>
            <a:pPr lvl="1"/>
            <a:endParaRPr lang="en-US" dirty="0"/>
          </a:p>
          <a:p>
            <a:pPr lvl="1"/>
            <a:endParaRPr lang="en-US" dirty="0"/>
          </a:p>
        </p:txBody>
      </p:sp>
    </p:spTree>
    <p:extLst>
      <p:ext uri="{BB962C8B-B14F-4D97-AF65-F5344CB8AC3E}">
        <p14:creationId xmlns:p14="http://schemas.microsoft.com/office/powerpoint/2010/main" val="973583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08DA3-71AF-C821-79AF-8E3E95425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387D9-1F2D-C3A7-9EE7-54828CB00D9C}"/>
              </a:ext>
            </a:extLst>
          </p:cNvPr>
          <p:cNvSpPr>
            <a:spLocks noGrp="1"/>
          </p:cNvSpPr>
          <p:nvPr>
            <p:ph type="title"/>
          </p:nvPr>
        </p:nvSpPr>
        <p:spPr/>
        <p:txBody>
          <a:bodyPr>
            <a:normAutofit/>
          </a:bodyPr>
          <a:lstStyle/>
          <a:p>
            <a:r>
              <a:rPr lang="en-US" dirty="0"/>
              <a:t>ASI04: Agentic Supply Chain Vulnerabilities</a:t>
            </a:r>
            <a:br>
              <a:rPr lang="en-US" dirty="0"/>
            </a:br>
            <a:endParaRPr lang="en-US" dirty="0"/>
          </a:p>
        </p:txBody>
      </p:sp>
      <p:sp>
        <p:nvSpPr>
          <p:cNvPr id="3" name="Content Placeholder 2">
            <a:extLst>
              <a:ext uri="{FF2B5EF4-FFF2-40B4-BE49-F238E27FC236}">
                <a16:creationId xmlns:a16="http://schemas.microsoft.com/office/drawing/2014/main" id="{FF842A33-7455-B329-3345-5F59D567F16D}"/>
              </a:ext>
            </a:extLst>
          </p:cNvPr>
          <p:cNvSpPr>
            <a:spLocks noGrp="1"/>
          </p:cNvSpPr>
          <p:nvPr>
            <p:ph idx="1"/>
          </p:nvPr>
        </p:nvSpPr>
        <p:spPr>
          <a:xfrm>
            <a:off x="838200" y="1222872"/>
            <a:ext cx="10515600" cy="5376232"/>
          </a:xfrm>
        </p:spPr>
        <p:txBody>
          <a:bodyPr>
            <a:normAutofit fontScale="92500" lnSpcReduction="20000"/>
          </a:bodyPr>
          <a:lstStyle/>
          <a:p>
            <a:pPr lvl="1"/>
            <a:r>
              <a:rPr lang="en-US" b="1" dirty="0"/>
              <a:t>Example Vulnerability</a:t>
            </a:r>
          </a:p>
          <a:p>
            <a:pPr lvl="2"/>
            <a:r>
              <a:rPr lang="en-US" dirty="0"/>
              <a:t>Poisoned prompt templates loaded remotely consisting of hidden instructions</a:t>
            </a:r>
          </a:p>
          <a:p>
            <a:pPr lvl="2"/>
            <a:r>
              <a:rPr lang="en-US" dirty="0"/>
              <a:t>Embed hidden instructions or malicious payloads into a tool’s metadata or MCP card – host agent interprets as trusted guidance and acts upon</a:t>
            </a:r>
          </a:p>
          <a:p>
            <a:pPr lvl="2"/>
            <a:r>
              <a:rPr lang="en-US" dirty="0"/>
              <a:t>Dynamically discovers or connects to external services/tools - typo squatted endpoint of a symbol attack </a:t>
            </a:r>
          </a:p>
          <a:p>
            <a:pPr lvl="2"/>
            <a:r>
              <a:rPr lang="en-US" dirty="0"/>
              <a:t>Vulnerable third party agent </a:t>
            </a:r>
          </a:p>
          <a:p>
            <a:pPr lvl="2"/>
            <a:r>
              <a:rPr lang="en-US" dirty="0"/>
              <a:t>Compromised registry/MCP server</a:t>
            </a:r>
          </a:p>
          <a:p>
            <a:pPr lvl="2"/>
            <a:r>
              <a:rPr lang="en-US" dirty="0"/>
              <a:t>Poisoned knowledge plug in </a:t>
            </a:r>
          </a:p>
          <a:p>
            <a:pPr lvl="1"/>
            <a:r>
              <a:rPr lang="en-US" b="1" dirty="0"/>
              <a:t>Prevention and Mitigation Guidelines</a:t>
            </a:r>
          </a:p>
          <a:p>
            <a:pPr lvl="2"/>
            <a:r>
              <a:rPr lang="en-US" dirty="0"/>
              <a:t>Supply chain kill switch</a:t>
            </a:r>
          </a:p>
          <a:p>
            <a:pPr lvl="2"/>
            <a:r>
              <a:rPr lang="en-US" dirty="0"/>
              <a:t>Pin prompts, tools, and configs by content hash and commit ID – staged rollout and auto-rollback on hash drift or behavioral change </a:t>
            </a:r>
          </a:p>
          <a:p>
            <a:pPr lvl="2"/>
            <a:r>
              <a:rPr lang="en-US" dirty="0"/>
              <a:t>Re-check signatures, hashes, and SBOMs (incl. AIBOMs) at runtime</a:t>
            </a:r>
          </a:p>
          <a:p>
            <a:pPr lvl="2"/>
            <a:r>
              <a:rPr lang="en-US" dirty="0"/>
              <a:t>Enforce mutual auth and attestation via PKI and </a:t>
            </a:r>
            <a:r>
              <a:rPr lang="en-US" dirty="0" err="1"/>
              <a:t>mTLS</a:t>
            </a:r>
            <a:r>
              <a:rPr lang="en-US" dirty="0"/>
              <a:t>; no open registration; sign and verify all inter-agent messages.</a:t>
            </a:r>
          </a:p>
          <a:p>
            <a:pPr lvl="2"/>
            <a:r>
              <a:rPr lang="en-US" dirty="0"/>
              <a:t>Dependency gatekeeping – scan for </a:t>
            </a:r>
            <a:r>
              <a:rPr lang="en-US" dirty="0" err="1"/>
              <a:t>typosquats</a:t>
            </a:r>
            <a:r>
              <a:rPr lang="en-US" dirty="0"/>
              <a:t> ; verify for provenance before install or activate; auto-reject unsigned or unverified</a:t>
            </a:r>
          </a:p>
          <a:p>
            <a:pPr lvl="2"/>
            <a:r>
              <a:rPr lang="en-US" dirty="0"/>
              <a:t>Maintain an inventory of AI application </a:t>
            </a:r>
          </a:p>
        </p:txBody>
      </p:sp>
    </p:spTree>
    <p:extLst>
      <p:ext uri="{BB962C8B-B14F-4D97-AF65-F5344CB8AC3E}">
        <p14:creationId xmlns:p14="http://schemas.microsoft.com/office/powerpoint/2010/main" val="2455137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A847B-5280-B658-ECF5-1882FAA6D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50BC8-F149-7BE1-15D5-C292C2BBE303}"/>
              </a:ext>
            </a:extLst>
          </p:cNvPr>
          <p:cNvSpPr>
            <a:spLocks noGrp="1"/>
          </p:cNvSpPr>
          <p:nvPr>
            <p:ph type="title"/>
          </p:nvPr>
        </p:nvSpPr>
        <p:spPr/>
        <p:txBody>
          <a:bodyPr>
            <a:normAutofit/>
          </a:bodyPr>
          <a:lstStyle/>
          <a:p>
            <a:r>
              <a:rPr lang="en-US" dirty="0"/>
              <a:t>ASI05: Unexpected Code Execution</a:t>
            </a:r>
            <a:br>
              <a:rPr lang="en-US" dirty="0"/>
            </a:br>
            <a:endParaRPr lang="en-US" dirty="0"/>
          </a:p>
        </p:txBody>
      </p:sp>
      <p:sp>
        <p:nvSpPr>
          <p:cNvPr id="3" name="Content Placeholder 2">
            <a:extLst>
              <a:ext uri="{FF2B5EF4-FFF2-40B4-BE49-F238E27FC236}">
                <a16:creationId xmlns:a16="http://schemas.microsoft.com/office/drawing/2014/main" id="{D471489B-769D-69FE-BDF1-318EAF25C99A}"/>
              </a:ext>
            </a:extLst>
          </p:cNvPr>
          <p:cNvSpPr>
            <a:spLocks noGrp="1"/>
          </p:cNvSpPr>
          <p:nvPr>
            <p:ph idx="1"/>
          </p:nvPr>
        </p:nvSpPr>
        <p:spPr>
          <a:xfrm>
            <a:off x="838200" y="1531345"/>
            <a:ext cx="10515600" cy="4645618"/>
          </a:xfrm>
        </p:spPr>
        <p:txBody>
          <a:bodyPr>
            <a:normAutofit/>
          </a:bodyPr>
          <a:lstStyle/>
          <a:p>
            <a:pPr lvl="1"/>
            <a:r>
              <a:rPr lang="en-US" b="1" dirty="0"/>
              <a:t>What: </a:t>
            </a:r>
            <a:r>
              <a:rPr lang="en-US" dirty="0"/>
              <a:t>Escalate action into Remote code execution (attacker defined code)</a:t>
            </a:r>
          </a:p>
          <a:p>
            <a:pPr lvl="1"/>
            <a:r>
              <a:rPr lang="en-US" b="1" dirty="0"/>
              <a:t>Cause: </a:t>
            </a:r>
            <a:r>
              <a:rPr lang="en-US" dirty="0"/>
              <a:t>Vibe coding tool that often generate and execute code - it can bypass tradition security controls; Host or container compromise, persistence, or sandbox escape</a:t>
            </a:r>
          </a:p>
          <a:p>
            <a:pPr lvl="1"/>
            <a:r>
              <a:rPr lang="en-US" b="1" dirty="0"/>
              <a:t>How: </a:t>
            </a:r>
            <a:r>
              <a:rPr lang="en-US" dirty="0"/>
              <a:t>Exploit code-generation features or embedded tool access ; Prompt injection, tool misuse or unsafe serialization</a:t>
            </a:r>
          </a:p>
          <a:p>
            <a:pPr lvl="1"/>
            <a:r>
              <a:rPr lang="en-US" b="1" dirty="0"/>
              <a:t>Result: </a:t>
            </a:r>
            <a:r>
              <a:rPr lang="en-US" dirty="0"/>
              <a:t>Convert text into unintended executable behavior </a:t>
            </a:r>
            <a:endParaRPr lang="en-US" b="1" dirty="0"/>
          </a:p>
          <a:p>
            <a:pPr lvl="1"/>
            <a:r>
              <a:rPr lang="en-US" b="1" dirty="0"/>
              <a:t>OWASP Agentic AI Threats and Mitigation Guide</a:t>
            </a:r>
          </a:p>
          <a:p>
            <a:pPr lvl="1"/>
            <a:endParaRPr lang="en-US" dirty="0"/>
          </a:p>
        </p:txBody>
      </p:sp>
    </p:spTree>
    <p:extLst>
      <p:ext uri="{BB962C8B-B14F-4D97-AF65-F5344CB8AC3E}">
        <p14:creationId xmlns:p14="http://schemas.microsoft.com/office/powerpoint/2010/main" val="2276634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6381A-B6F7-5577-B568-FBF825F9B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CE4E5-DB20-43D8-0AB0-5E09C66D75B8}"/>
              </a:ext>
            </a:extLst>
          </p:cNvPr>
          <p:cNvSpPr>
            <a:spLocks noGrp="1"/>
          </p:cNvSpPr>
          <p:nvPr>
            <p:ph type="title"/>
          </p:nvPr>
        </p:nvSpPr>
        <p:spPr/>
        <p:txBody>
          <a:bodyPr>
            <a:normAutofit/>
          </a:bodyPr>
          <a:lstStyle/>
          <a:p>
            <a:r>
              <a:rPr lang="en-US" dirty="0"/>
              <a:t>ASI05: Unexpected Code Execution</a:t>
            </a:r>
            <a:br>
              <a:rPr lang="en-US" dirty="0"/>
            </a:br>
            <a:endParaRPr lang="en-US" dirty="0"/>
          </a:p>
        </p:txBody>
      </p:sp>
      <p:sp>
        <p:nvSpPr>
          <p:cNvPr id="3" name="Content Placeholder 2">
            <a:extLst>
              <a:ext uri="{FF2B5EF4-FFF2-40B4-BE49-F238E27FC236}">
                <a16:creationId xmlns:a16="http://schemas.microsoft.com/office/drawing/2014/main" id="{3D4D0F3D-D94C-F2A2-A4FE-8BC986170A1F}"/>
              </a:ext>
            </a:extLst>
          </p:cNvPr>
          <p:cNvSpPr>
            <a:spLocks noGrp="1"/>
          </p:cNvSpPr>
          <p:nvPr>
            <p:ph idx="1"/>
          </p:nvPr>
        </p:nvSpPr>
        <p:spPr>
          <a:xfrm>
            <a:off x="838200" y="1322024"/>
            <a:ext cx="10515600" cy="4854939"/>
          </a:xfrm>
        </p:spPr>
        <p:txBody>
          <a:bodyPr>
            <a:normAutofit/>
          </a:bodyPr>
          <a:lstStyle/>
          <a:p>
            <a:pPr lvl="1"/>
            <a:r>
              <a:rPr lang="en-US" b="1" dirty="0"/>
              <a:t>Example Vulnerability</a:t>
            </a:r>
          </a:p>
          <a:p>
            <a:pPr lvl="2"/>
            <a:r>
              <a:rPr lang="en-US" dirty="0"/>
              <a:t>Prompt injection</a:t>
            </a:r>
          </a:p>
          <a:p>
            <a:pPr lvl="2"/>
            <a:r>
              <a:rPr lang="en-US" dirty="0"/>
              <a:t>Code hallucinations – generating malicious or exploitable constructs </a:t>
            </a:r>
          </a:p>
          <a:p>
            <a:pPr lvl="2"/>
            <a:r>
              <a:rPr lang="en-US" dirty="0"/>
              <a:t>Shell command invocation from reflected prompts</a:t>
            </a:r>
          </a:p>
          <a:p>
            <a:pPr lvl="2"/>
            <a:r>
              <a:rPr lang="en-US" dirty="0"/>
              <a:t>Unsafe function calls, object deserialization or code evaluation</a:t>
            </a:r>
          </a:p>
          <a:p>
            <a:pPr lvl="2"/>
            <a:r>
              <a:rPr lang="en-US" dirty="0"/>
              <a:t>Use of exposed, </a:t>
            </a:r>
            <a:r>
              <a:rPr lang="en-US" dirty="0" err="1"/>
              <a:t>unsanitized</a:t>
            </a:r>
            <a:r>
              <a:rPr lang="en-US" dirty="0"/>
              <a:t> eval() functions – powering agent memory that have access to untrusted content </a:t>
            </a:r>
          </a:p>
          <a:p>
            <a:pPr lvl="2"/>
            <a:r>
              <a:rPr lang="en-US" dirty="0"/>
              <a:t>Unverified or malicious package install</a:t>
            </a:r>
          </a:p>
          <a:p>
            <a:pPr lvl="2"/>
            <a:endParaRPr lang="en-US" dirty="0"/>
          </a:p>
          <a:p>
            <a:pPr lvl="1"/>
            <a:r>
              <a:rPr lang="en-US" b="1" dirty="0"/>
              <a:t>Prevention and Mitigation Guidelines</a:t>
            </a:r>
          </a:p>
          <a:p>
            <a:pPr lvl="2"/>
            <a:r>
              <a:rPr lang="en-US" dirty="0"/>
              <a:t>Ban eval in production agents – safe interpreters, taint-tracking on generated code</a:t>
            </a:r>
          </a:p>
          <a:p>
            <a:pPr lvl="2"/>
            <a:r>
              <a:rPr lang="en-US" dirty="0"/>
              <a:t>Never run as root</a:t>
            </a:r>
          </a:p>
          <a:p>
            <a:pPr lvl="2"/>
            <a:r>
              <a:rPr lang="en-US" dirty="0"/>
              <a:t>Do static scans before execution </a:t>
            </a:r>
          </a:p>
        </p:txBody>
      </p:sp>
    </p:spTree>
    <p:extLst>
      <p:ext uri="{BB962C8B-B14F-4D97-AF65-F5344CB8AC3E}">
        <p14:creationId xmlns:p14="http://schemas.microsoft.com/office/powerpoint/2010/main" val="3864675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F9C67-35B7-DCE8-04EA-5611D7D58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DB676-45C1-133B-3EA0-83005372B7AD}"/>
              </a:ext>
            </a:extLst>
          </p:cNvPr>
          <p:cNvSpPr>
            <a:spLocks noGrp="1"/>
          </p:cNvSpPr>
          <p:nvPr>
            <p:ph type="title"/>
          </p:nvPr>
        </p:nvSpPr>
        <p:spPr/>
        <p:txBody>
          <a:bodyPr>
            <a:normAutofit/>
          </a:bodyPr>
          <a:lstStyle/>
          <a:p>
            <a:r>
              <a:rPr lang="en-US" dirty="0"/>
              <a:t>ASI06: Memory and Context Poisoning</a:t>
            </a:r>
            <a:br>
              <a:rPr lang="en-US" dirty="0"/>
            </a:br>
            <a:endParaRPr lang="en-US" dirty="0"/>
          </a:p>
        </p:txBody>
      </p:sp>
      <p:sp>
        <p:nvSpPr>
          <p:cNvPr id="3" name="Content Placeholder 2">
            <a:extLst>
              <a:ext uri="{FF2B5EF4-FFF2-40B4-BE49-F238E27FC236}">
                <a16:creationId xmlns:a16="http://schemas.microsoft.com/office/drawing/2014/main" id="{13458398-39AB-3106-B490-58A4AD809822}"/>
              </a:ext>
            </a:extLst>
          </p:cNvPr>
          <p:cNvSpPr>
            <a:spLocks noGrp="1"/>
          </p:cNvSpPr>
          <p:nvPr>
            <p:ph idx="1"/>
          </p:nvPr>
        </p:nvSpPr>
        <p:spPr/>
        <p:txBody>
          <a:bodyPr>
            <a:normAutofit fontScale="92500" lnSpcReduction="10000"/>
          </a:bodyPr>
          <a:lstStyle/>
          <a:p>
            <a:pPr lvl="1"/>
            <a:r>
              <a:rPr lang="en-US" b="1" dirty="0"/>
              <a:t>What: </a:t>
            </a:r>
            <a:r>
              <a:rPr lang="en-US" dirty="0"/>
              <a:t>Focuses on corruption of storage knowledge and retrievable information (snapshot of its conversation history, a memory tool or expanded context) and context (info an agent retains, retrieves or reuses - summaries, embeddings, RAG stores but excludes one time input prompt. )</a:t>
            </a:r>
          </a:p>
          <a:p>
            <a:pPr lvl="1"/>
            <a:r>
              <a:rPr lang="en-US" b="1" dirty="0"/>
              <a:t>Causes: </a:t>
            </a:r>
            <a:r>
              <a:rPr lang="en-US" dirty="0"/>
              <a:t>Ingestion sources such as uploads, API feeds, user input, or peer-agent exchanges may be untrusted or only partially validated.</a:t>
            </a:r>
          </a:p>
          <a:p>
            <a:pPr lvl="1"/>
            <a:r>
              <a:rPr lang="en-US" b="1" dirty="0"/>
              <a:t>How: </a:t>
            </a:r>
            <a:r>
              <a:rPr lang="en-US" dirty="0"/>
              <a:t>Adversaries corrupt or seed this context with malicious or misleading data, causing future reasoning, planning, or tool use to become biased, unsafe, or aid exfiltration. </a:t>
            </a:r>
          </a:p>
          <a:p>
            <a:pPr lvl="1"/>
            <a:r>
              <a:rPr lang="en-US" b="1" dirty="0"/>
              <a:t>Result: </a:t>
            </a:r>
            <a:r>
              <a:rPr lang="en-US" dirty="0"/>
              <a:t>Can lead to ASI01 as corrupted context or long-term memory can alter the agent’s goal interpretation, reasoning path, or tool-selection logic.</a:t>
            </a:r>
          </a:p>
          <a:p>
            <a:pPr lvl="1"/>
            <a:r>
              <a:rPr lang="en-US" b="1" dirty="0"/>
              <a:t>OWASP Agentic AI Threats and Mitigation Guide</a:t>
            </a:r>
          </a:p>
          <a:p>
            <a:pPr lvl="2"/>
            <a:r>
              <a:rPr lang="en-US" dirty="0"/>
              <a:t>T1 Memory Poisoning in Agentic Threats and Mitigations, with related impacts in T4 Memory Overload, T6 Broken Goals, and T12 Shared Memory Poisoning. In AIVSS, the AARS fields Memory Use and Contextual Awareness raise the agentic vulnerability score.</a:t>
            </a:r>
          </a:p>
          <a:p>
            <a:pPr lvl="1"/>
            <a:endParaRPr lang="en-US" dirty="0"/>
          </a:p>
        </p:txBody>
      </p:sp>
    </p:spTree>
    <p:extLst>
      <p:ext uri="{BB962C8B-B14F-4D97-AF65-F5344CB8AC3E}">
        <p14:creationId xmlns:p14="http://schemas.microsoft.com/office/powerpoint/2010/main" val="3457032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69523-4FF8-63C3-B1AE-550006163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94E65-C205-1BB7-F46D-2F513C17BFA3}"/>
              </a:ext>
            </a:extLst>
          </p:cNvPr>
          <p:cNvSpPr>
            <a:spLocks noGrp="1"/>
          </p:cNvSpPr>
          <p:nvPr>
            <p:ph type="title"/>
          </p:nvPr>
        </p:nvSpPr>
        <p:spPr/>
        <p:txBody>
          <a:bodyPr>
            <a:normAutofit/>
          </a:bodyPr>
          <a:lstStyle/>
          <a:p>
            <a:r>
              <a:rPr lang="en-US" dirty="0"/>
              <a:t>ASI06: Memory and Context Poisoning</a:t>
            </a:r>
            <a:br>
              <a:rPr lang="en-US" dirty="0"/>
            </a:br>
            <a:endParaRPr lang="en-US" dirty="0"/>
          </a:p>
        </p:txBody>
      </p:sp>
      <p:sp>
        <p:nvSpPr>
          <p:cNvPr id="3" name="Content Placeholder 2">
            <a:extLst>
              <a:ext uri="{FF2B5EF4-FFF2-40B4-BE49-F238E27FC236}">
                <a16:creationId xmlns:a16="http://schemas.microsoft.com/office/drawing/2014/main" id="{91239DB1-8E5B-427B-6B0F-FF786C03835E}"/>
              </a:ext>
            </a:extLst>
          </p:cNvPr>
          <p:cNvSpPr>
            <a:spLocks noGrp="1"/>
          </p:cNvSpPr>
          <p:nvPr>
            <p:ph idx="1"/>
          </p:nvPr>
        </p:nvSpPr>
        <p:spPr/>
        <p:txBody>
          <a:bodyPr>
            <a:normAutofit fontScale="85000" lnSpcReduction="20000"/>
          </a:bodyPr>
          <a:lstStyle/>
          <a:p>
            <a:pPr lvl="1"/>
            <a:r>
              <a:rPr lang="en-US" dirty="0"/>
              <a:t>Example Vulnerability</a:t>
            </a:r>
          </a:p>
          <a:p>
            <a:pPr lvl="2"/>
            <a:r>
              <a:rPr lang="en-US" dirty="0"/>
              <a:t>Malicious or manipulated data enters the vector DB via poisoned sources, direct uploads, or over-trusted pipelines.</a:t>
            </a:r>
          </a:p>
          <a:p>
            <a:pPr lvl="2"/>
            <a:r>
              <a:rPr lang="en-US" dirty="0"/>
              <a:t>Reused or shared contexts let attackers inject data through normal chats, influencing later sessions.</a:t>
            </a:r>
          </a:p>
          <a:p>
            <a:pPr lvl="2"/>
            <a:r>
              <a:rPr lang="en-US" dirty="0"/>
              <a:t>Long term memory drift due to incremental exposure to subtly tainted data</a:t>
            </a:r>
          </a:p>
          <a:p>
            <a:pPr lvl="2"/>
            <a:r>
              <a:rPr lang="en-US" dirty="0"/>
              <a:t>Contaminated context or shared memory spreads between cooperating agents, compounding corruption and enabling long-term data leakage or coordinated drift</a:t>
            </a:r>
          </a:p>
          <a:p>
            <a:pPr lvl="1"/>
            <a:r>
              <a:rPr lang="en-US" dirty="0"/>
              <a:t>Prevention and Mitigation Guidelines</a:t>
            </a:r>
          </a:p>
          <a:p>
            <a:pPr lvl="2"/>
            <a:r>
              <a:rPr lang="en-US" dirty="0"/>
              <a:t>Encrypt in transit and at rest combined with lease privilege access</a:t>
            </a:r>
          </a:p>
          <a:p>
            <a:pPr lvl="2"/>
            <a:r>
              <a:rPr lang="en-US" dirty="0"/>
              <a:t>Scan for sensitive content before committing agent response to memory</a:t>
            </a:r>
          </a:p>
          <a:p>
            <a:pPr lvl="2"/>
            <a:r>
              <a:rPr lang="en-US" dirty="0"/>
              <a:t>Memory segmentation – Isolate user sessions and domain contexts </a:t>
            </a:r>
          </a:p>
          <a:p>
            <a:pPr lvl="2"/>
            <a:r>
              <a:rPr lang="en-US" dirty="0"/>
              <a:t>Enforce context aware access per task </a:t>
            </a:r>
          </a:p>
          <a:p>
            <a:pPr lvl="2"/>
            <a:r>
              <a:rPr lang="en-US" dirty="0"/>
              <a:t>Minimize retention by data sensitivity</a:t>
            </a:r>
          </a:p>
          <a:p>
            <a:pPr lvl="2"/>
            <a:r>
              <a:rPr lang="en-US" dirty="0"/>
              <a:t>Require source attribution</a:t>
            </a:r>
          </a:p>
          <a:p>
            <a:pPr lvl="2"/>
            <a:r>
              <a:rPr lang="en-US" dirty="0"/>
              <a:t>Prevent automatic re-ingestion of an agent’s own generated outputs into trusted memory</a:t>
            </a:r>
          </a:p>
          <a:p>
            <a:pPr lvl="2"/>
            <a:r>
              <a:rPr lang="en-US" dirty="0"/>
              <a:t>Expire unverified memory to limit poison persistence.</a:t>
            </a:r>
          </a:p>
          <a:p>
            <a:pPr lvl="2"/>
            <a:endParaRPr lang="en-US" dirty="0"/>
          </a:p>
          <a:p>
            <a:pPr lvl="2"/>
            <a:endParaRPr lang="en-US" b="1" dirty="0"/>
          </a:p>
        </p:txBody>
      </p:sp>
    </p:spTree>
    <p:extLst>
      <p:ext uri="{BB962C8B-B14F-4D97-AF65-F5344CB8AC3E}">
        <p14:creationId xmlns:p14="http://schemas.microsoft.com/office/powerpoint/2010/main" val="897840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354E0-E15E-2682-2D26-FA3A86F1B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59B7F-4FA1-A7E3-2FB2-CF2CC4C2EA61}"/>
              </a:ext>
            </a:extLst>
          </p:cNvPr>
          <p:cNvSpPr>
            <a:spLocks noGrp="1"/>
          </p:cNvSpPr>
          <p:nvPr>
            <p:ph type="title"/>
          </p:nvPr>
        </p:nvSpPr>
        <p:spPr/>
        <p:txBody>
          <a:bodyPr>
            <a:normAutofit/>
          </a:bodyPr>
          <a:lstStyle/>
          <a:p>
            <a:r>
              <a:rPr lang="en-US" dirty="0"/>
              <a:t>ASI07: Insecure Inter-Agent Communication</a:t>
            </a:r>
            <a:br>
              <a:rPr lang="en-US" dirty="0"/>
            </a:br>
            <a:endParaRPr lang="en-US" dirty="0"/>
          </a:p>
        </p:txBody>
      </p:sp>
      <p:sp>
        <p:nvSpPr>
          <p:cNvPr id="3" name="Content Placeholder 2">
            <a:extLst>
              <a:ext uri="{FF2B5EF4-FFF2-40B4-BE49-F238E27FC236}">
                <a16:creationId xmlns:a16="http://schemas.microsoft.com/office/drawing/2014/main" id="{6E0D525D-77A9-1A1E-AAD1-087645A48C13}"/>
              </a:ext>
            </a:extLst>
          </p:cNvPr>
          <p:cNvSpPr>
            <a:spLocks noGrp="1"/>
          </p:cNvSpPr>
          <p:nvPr>
            <p:ph idx="1"/>
          </p:nvPr>
        </p:nvSpPr>
        <p:spPr>
          <a:xfrm>
            <a:off x="838200" y="1344058"/>
            <a:ext cx="10515600" cy="5148817"/>
          </a:xfrm>
        </p:spPr>
        <p:txBody>
          <a:bodyPr>
            <a:normAutofit lnSpcReduction="10000"/>
          </a:bodyPr>
          <a:lstStyle/>
          <a:p>
            <a:pPr lvl="1"/>
            <a:r>
              <a:rPr lang="en-US" dirty="0"/>
              <a:t>What: Focuses on compromising real-time messages between agents, leading to misinformation, privilege confusion, or coordinated manipulation across distributed agentic systems.</a:t>
            </a:r>
          </a:p>
          <a:p>
            <a:pPr lvl="1"/>
            <a:r>
              <a:rPr lang="en-US" b="1" dirty="0"/>
              <a:t>Cause:</a:t>
            </a:r>
            <a:r>
              <a:rPr lang="en-US" dirty="0"/>
              <a:t> Decentralized architecture, varying autonomy, and uneven trust makes perimeter based security model ineffective. Lack proper authentication, integrity, or semantic validation - Weak inter agent controls for authentication, integrity, confidentiality, or authorization</a:t>
            </a:r>
          </a:p>
          <a:p>
            <a:pPr lvl="1"/>
            <a:r>
              <a:rPr lang="en-US" b="1" dirty="0"/>
              <a:t>How: </a:t>
            </a:r>
            <a:r>
              <a:rPr lang="en-US" dirty="0"/>
              <a:t>The threat spans transport, routing, discovery, and semantic layers, including covert or side-channels where agents leak or infer data through timing or behavioral cues. Semantic injection via unencrypted communication</a:t>
            </a:r>
          </a:p>
          <a:p>
            <a:pPr lvl="1"/>
            <a:r>
              <a:rPr lang="en-US" b="1" dirty="0"/>
              <a:t>Result: </a:t>
            </a:r>
            <a:r>
              <a:rPr lang="en-US" dirty="0"/>
              <a:t>Allowing interception, spoofing, or manipulation of agent messages and intents. </a:t>
            </a:r>
          </a:p>
          <a:p>
            <a:pPr lvl="1"/>
            <a:r>
              <a:rPr lang="en-US" b="1" dirty="0"/>
              <a:t>OWASP Agentic AI Threats and Mitigation Guide</a:t>
            </a:r>
          </a:p>
          <a:p>
            <a:pPr lvl="2"/>
            <a:r>
              <a:rPr lang="en-US" dirty="0"/>
              <a:t>T12 – Agent Communication Poisoning &amp; T16 – Insecure Inter-Agent Protocol Abuse</a:t>
            </a:r>
          </a:p>
          <a:p>
            <a:pPr lvl="1"/>
            <a:endParaRPr lang="en-US" dirty="0"/>
          </a:p>
        </p:txBody>
      </p:sp>
    </p:spTree>
    <p:extLst>
      <p:ext uri="{BB962C8B-B14F-4D97-AF65-F5344CB8AC3E}">
        <p14:creationId xmlns:p14="http://schemas.microsoft.com/office/powerpoint/2010/main" val="3534683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C70CF-BA9A-792F-D3F9-9AFFB109A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4FAC0-EC91-5508-75E9-64585F14CFE8}"/>
              </a:ext>
            </a:extLst>
          </p:cNvPr>
          <p:cNvSpPr>
            <a:spLocks noGrp="1"/>
          </p:cNvSpPr>
          <p:nvPr>
            <p:ph type="title"/>
          </p:nvPr>
        </p:nvSpPr>
        <p:spPr/>
        <p:txBody>
          <a:bodyPr>
            <a:normAutofit/>
          </a:bodyPr>
          <a:lstStyle/>
          <a:p>
            <a:r>
              <a:rPr lang="en-US" dirty="0"/>
              <a:t>ASI07: Insecure Inter-Agent Communication</a:t>
            </a:r>
            <a:br>
              <a:rPr lang="en-US" dirty="0"/>
            </a:br>
            <a:endParaRPr lang="en-US" dirty="0"/>
          </a:p>
        </p:txBody>
      </p:sp>
      <p:sp>
        <p:nvSpPr>
          <p:cNvPr id="3" name="Content Placeholder 2">
            <a:extLst>
              <a:ext uri="{FF2B5EF4-FFF2-40B4-BE49-F238E27FC236}">
                <a16:creationId xmlns:a16="http://schemas.microsoft.com/office/drawing/2014/main" id="{4098C679-8E4B-9D1B-71F3-3BCE381834EB}"/>
              </a:ext>
            </a:extLst>
          </p:cNvPr>
          <p:cNvSpPr>
            <a:spLocks noGrp="1"/>
          </p:cNvSpPr>
          <p:nvPr>
            <p:ph idx="1"/>
          </p:nvPr>
        </p:nvSpPr>
        <p:spPr>
          <a:xfrm>
            <a:off x="838200" y="1344058"/>
            <a:ext cx="10515600" cy="5148817"/>
          </a:xfrm>
        </p:spPr>
        <p:txBody>
          <a:bodyPr>
            <a:normAutofit fontScale="77500" lnSpcReduction="20000"/>
          </a:bodyPr>
          <a:lstStyle/>
          <a:p>
            <a:pPr lvl="1"/>
            <a:r>
              <a:rPr lang="en-US" dirty="0"/>
              <a:t>Example Vulnerability</a:t>
            </a:r>
          </a:p>
          <a:p>
            <a:pPr lvl="2"/>
            <a:r>
              <a:rPr lang="en-US" dirty="0"/>
              <a:t>Misdirected discovery traffic - forges relationships with malicious agents or unauthorized coordinators.</a:t>
            </a:r>
          </a:p>
          <a:p>
            <a:pPr lvl="2"/>
            <a:r>
              <a:rPr lang="en-US" dirty="0"/>
              <a:t>Spoofing agent descriptors </a:t>
            </a:r>
          </a:p>
          <a:p>
            <a:pPr lvl="2"/>
            <a:r>
              <a:rPr lang="en-US" dirty="0"/>
              <a:t>Coerce agents into weaker communication </a:t>
            </a:r>
          </a:p>
          <a:p>
            <a:pPr lvl="2"/>
            <a:r>
              <a:rPr lang="en-US" dirty="0"/>
              <a:t>Replayed delegation or trust messages trick agents into granting access or honoring stale instructions.</a:t>
            </a:r>
          </a:p>
          <a:p>
            <a:pPr lvl="2"/>
            <a:r>
              <a:rPr lang="en-US" dirty="0"/>
              <a:t>Context confusion via replay</a:t>
            </a:r>
          </a:p>
          <a:p>
            <a:pPr lvl="2"/>
            <a:r>
              <a:rPr lang="en-US" dirty="0"/>
              <a:t>Malicious MCP endpoint advertises spoofed agent descriptors or false capabilities.</a:t>
            </a:r>
          </a:p>
          <a:p>
            <a:pPr lvl="2"/>
            <a:r>
              <a:rPr lang="en-US" dirty="0"/>
              <a:t>Fake peer agent</a:t>
            </a:r>
          </a:p>
          <a:p>
            <a:pPr lvl="2"/>
            <a:r>
              <a:rPr lang="en-US" dirty="0"/>
              <a:t>A single instruction is parsed into divergent intents by different agents, producing conflicting but seemingly legitimate actions.</a:t>
            </a:r>
          </a:p>
          <a:p>
            <a:pPr lvl="1"/>
            <a:r>
              <a:rPr lang="en-US" dirty="0"/>
              <a:t>Prevention and Mitigation Guidelines</a:t>
            </a:r>
          </a:p>
          <a:p>
            <a:pPr lvl="2"/>
            <a:r>
              <a:rPr lang="en-US" dirty="0"/>
              <a:t>Use end-to-end encryption with per-agent credentials and mutual authentication. Enforce PKI certificate pinning, forward secrecy, and regular protocol reviews to prevent interception or spoofing.</a:t>
            </a:r>
          </a:p>
          <a:p>
            <a:pPr lvl="2"/>
            <a:r>
              <a:rPr lang="en-US" dirty="0"/>
              <a:t>Digitally sign messages, hash both payload and context, and validate for hidden or modified natural-language instructions.</a:t>
            </a:r>
          </a:p>
          <a:p>
            <a:pPr lvl="2"/>
            <a:r>
              <a:rPr lang="en-US" dirty="0"/>
              <a:t>Protect all exchanges with nonces, session identifiers, and timestamps tied to task windows. Maintain short-term message fingerprints or state hashes to detect cross context replays.</a:t>
            </a:r>
          </a:p>
          <a:p>
            <a:pPr lvl="2"/>
            <a:r>
              <a:rPr lang="en-US" dirty="0"/>
              <a:t>Using fixed size or padded messages – avoiding deterministic communication schedule</a:t>
            </a:r>
          </a:p>
          <a:p>
            <a:pPr lvl="2"/>
            <a:r>
              <a:rPr lang="en-US" dirty="0"/>
              <a:t>Define and enforce allowed protocol versions</a:t>
            </a:r>
          </a:p>
          <a:p>
            <a:pPr lvl="2"/>
            <a:r>
              <a:rPr lang="en-US" dirty="0"/>
              <a:t>Authenticate all discovery and coordination messages using cryptographic identity.</a:t>
            </a:r>
          </a:p>
          <a:p>
            <a:pPr lvl="2"/>
            <a:r>
              <a:rPr lang="en-US" dirty="0"/>
              <a:t>Secure directories with access controls and verified reputations, validate identity and intent end-to-end</a:t>
            </a:r>
          </a:p>
          <a:p>
            <a:pPr lvl="2"/>
            <a:endParaRPr lang="en-US" dirty="0"/>
          </a:p>
        </p:txBody>
      </p:sp>
    </p:spTree>
    <p:extLst>
      <p:ext uri="{BB962C8B-B14F-4D97-AF65-F5344CB8AC3E}">
        <p14:creationId xmlns:p14="http://schemas.microsoft.com/office/powerpoint/2010/main" val="203969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1763E-ECD2-CA5D-ECCE-B639DFD82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DEEAA-AC70-6C78-19E9-78F1508BB310}"/>
              </a:ext>
            </a:extLst>
          </p:cNvPr>
          <p:cNvSpPr>
            <a:spLocks noGrp="1"/>
          </p:cNvSpPr>
          <p:nvPr>
            <p:ph type="title"/>
          </p:nvPr>
        </p:nvSpPr>
        <p:spPr/>
        <p:txBody>
          <a:bodyPr>
            <a:normAutofit/>
          </a:bodyPr>
          <a:lstStyle/>
          <a:p>
            <a:r>
              <a:rPr lang="en-US" dirty="0"/>
              <a:t>ASI08: Cascading Failures</a:t>
            </a:r>
            <a:br>
              <a:rPr lang="en-US" dirty="0"/>
            </a:br>
            <a:endParaRPr lang="en-US" dirty="0"/>
          </a:p>
        </p:txBody>
      </p:sp>
      <p:sp>
        <p:nvSpPr>
          <p:cNvPr id="3" name="Content Placeholder 2">
            <a:extLst>
              <a:ext uri="{FF2B5EF4-FFF2-40B4-BE49-F238E27FC236}">
                <a16:creationId xmlns:a16="http://schemas.microsoft.com/office/drawing/2014/main" id="{4F862D78-D560-ED1B-4ECB-3A99EC195A62}"/>
              </a:ext>
            </a:extLst>
          </p:cNvPr>
          <p:cNvSpPr>
            <a:spLocks noGrp="1"/>
          </p:cNvSpPr>
          <p:nvPr>
            <p:ph idx="1"/>
          </p:nvPr>
        </p:nvSpPr>
        <p:spPr>
          <a:xfrm>
            <a:off x="838200" y="1244906"/>
            <a:ext cx="10515600" cy="5354197"/>
          </a:xfrm>
        </p:spPr>
        <p:txBody>
          <a:bodyPr>
            <a:normAutofit fontScale="92500" lnSpcReduction="10000"/>
          </a:bodyPr>
          <a:lstStyle/>
          <a:p>
            <a:pPr lvl="1"/>
            <a:r>
              <a:rPr lang="en-US" b="1" dirty="0"/>
              <a:t>What: </a:t>
            </a:r>
            <a:r>
              <a:rPr lang="en-US" dirty="0"/>
              <a:t>Propagation and amplification of an initial fault and not the initial/origin vulnerability. Spread across agents, sessions and workflows. Degradation after poisoning occurs. </a:t>
            </a:r>
          </a:p>
          <a:p>
            <a:pPr lvl="1"/>
            <a:r>
              <a:rPr lang="en-US" b="1" dirty="0"/>
              <a:t>Cause: </a:t>
            </a:r>
            <a:r>
              <a:rPr lang="en-US" dirty="0"/>
              <a:t>Agents Plan, persist, delegate autonomously. Form emergent links to new tools and peers. </a:t>
            </a:r>
          </a:p>
          <a:p>
            <a:pPr lvl="1"/>
            <a:r>
              <a:rPr lang="en-US" b="1" dirty="0"/>
              <a:t>How: </a:t>
            </a:r>
            <a:r>
              <a:rPr lang="en-US" dirty="0"/>
              <a:t>Agentic cascading failures occur when a single fault (hallucination, malicious input, corrupted tool, or poisoned memory) propagates across autonomous agents, compounding into system-wide harm. Inject hidden instructions</a:t>
            </a:r>
          </a:p>
          <a:p>
            <a:pPr lvl="1"/>
            <a:r>
              <a:rPr lang="en-US" b="1" dirty="0"/>
              <a:t>Result: </a:t>
            </a:r>
            <a:r>
              <a:rPr lang="en-US" dirty="0"/>
              <a:t>Compromise confidentiality, integrity, availability, leading to widespread service failures across agent networks, systems, and workflows.</a:t>
            </a:r>
          </a:p>
          <a:p>
            <a:pPr lvl="1"/>
            <a:r>
              <a:rPr lang="en-US" b="1" dirty="0"/>
              <a:t>Defense: </a:t>
            </a:r>
            <a:r>
              <a:rPr lang="en-US" dirty="0"/>
              <a:t>the ability to trace, attribute, and audit cascading behaviors through resilient logging and nonrepudiation mechanisms that prevent silent propagation.</a:t>
            </a:r>
          </a:p>
          <a:p>
            <a:pPr lvl="2"/>
            <a:r>
              <a:rPr lang="en-US" dirty="0"/>
              <a:t>Speed and scale of fault propagation is so high that its difficult for humans to keep up.</a:t>
            </a:r>
          </a:p>
          <a:p>
            <a:pPr lvl="1"/>
            <a:r>
              <a:rPr lang="en-US" b="1" dirty="0"/>
              <a:t>OWASP Agentic AI Threats and Mitigation Guide</a:t>
            </a:r>
          </a:p>
          <a:p>
            <a:pPr lvl="2"/>
            <a:r>
              <a:rPr lang="en-US" dirty="0"/>
              <a:t>T5 – Cascading Hallucination Attacks while T8 – Repudiation and </a:t>
            </a:r>
            <a:r>
              <a:rPr lang="en-US" dirty="0" err="1"/>
              <a:t>Untraceability</a:t>
            </a:r>
            <a:endParaRPr lang="en-US" dirty="0"/>
          </a:p>
          <a:p>
            <a:pPr lvl="1"/>
            <a:endParaRPr lang="en-US" dirty="0"/>
          </a:p>
        </p:txBody>
      </p:sp>
    </p:spTree>
    <p:extLst>
      <p:ext uri="{BB962C8B-B14F-4D97-AF65-F5344CB8AC3E}">
        <p14:creationId xmlns:p14="http://schemas.microsoft.com/office/powerpoint/2010/main" val="1453149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48BFE-84C1-5A39-7FE2-14A049551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FFAD8-98B3-82F4-377D-BB3BA89A92B0}"/>
              </a:ext>
            </a:extLst>
          </p:cNvPr>
          <p:cNvSpPr>
            <a:spLocks noGrp="1"/>
          </p:cNvSpPr>
          <p:nvPr>
            <p:ph type="title"/>
          </p:nvPr>
        </p:nvSpPr>
        <p:spPr/>
        <p:txBody>
          <a:bodyPr>
            <a:normAutofit/>
          </a:bodyPr>
          <a:lstStyle/>
          <a:p>
            <a:r>
              <a:rPr lang="en-US" dirty="0"/>
              <a:t>ASI08: Cascading Failures</a:t>
            </a:r>
            <a:br>
              <a:rPr lang="en-US" dirty="0"/>
            </a:br>
            <a:endParaRPr lang="en-US" dirty="0"/>
          </a:p>
        </p:txBody>
      </p:sp>
      <p:sp>
        <p:nvSpPr>
          <p:cNvPr id="3" name="Content Placeholder 2">
            <a:extLst>
              <a:ext uri="{FF2B5EF4-FFF2-40B4-BE49-F238E27FC236}">
                <a16:creationId xmlns:a16="http://schemas.microsoft.com/office/drawing/2014/main" id="{89516A3A-CAC3-4114-9E84-828793A8B396}"/>
              </a:ext>
            </a:extLst>
          </p:cNvPr>
          <p:cNvSpPr>
            <a:spLocks noGrp="1"/>
          </p:cNvSpPr>
          <p:nvPr>
            <p:ph idx="1"/>
          </p:nvPr>
        </p:nvSpPr>
        <p:spPr>
          <a:xfrm>
            <a:off x="838200" y="1244906"/>
            <a:ext cx="10515600" cy="5354197"/>
          </a:xfrm>
        </p:spPr>
        <p:txBody>
          <a:bodyPr>
            <a:normAutofit/>
          </a:bodyPr>
          <a:lstStyle/>
          <a:p>
            <a:pPr lvl="1"/>
            <a:r>
              <a:rPr lang="en-US" dirty="0"/>
              <a:t>Example Vulnerability</a:t>
            </a:r>
          </a:p>
          <a:p>
            <a:pPr lvl="2"/>
            <a:r>
              <a:rPr lang="en-US" dirty="0"/>
              <a:t>Hallucinating or compromised planner</a:t>
            </a:r>
          </a:p>
          <a:p>
            <a:pPr lvl="2"/>
            <a:r>
              <a:rPr lang="en-US" dirty="0"/>
              <a:t>Unencrypted channels – inject hidden instructions </a:t>
            </a:r>
          </a:p>
          <a:p>
            <a:pPr lvl="2"/>
            <a:r>
              <a:rPr lang="en-US" dirty="0"/>
              <a:t>Poisoned long-term goals or state entries continue influencing new plans and delegations</a:t>
            </a:r>
          </a:p>
          <a:p>
            <a:pPr lvl="2"/>
            <a:r>
              <a:rPr lang="en-US" dirty="0"/>
              <a:t>Poisoned messages between agents</a:t>
            </a:r>
          </a:p>
          <a:p>
            <a:pPr lvl="2"/>
            <a:r>
              <a:rPr lang="en-US" dirty="0"/>
              <a:t>Cascading tool misuse and privilege escalation</a:t>
            </a:r>
          </a:p>
          <a:p>
            <a:pPr lvl="1"/>
            <a:r>
              <a:rPr lang="en-US" dirty="0"/>
              <a:t>Prevention and Mitigation Guidelines</a:t>
            </a:r>
          </a:p>
          <a:p>
            <a:pPr lvl="2"/>
            <a:r>
              <a:rPr lang="en-US" dirty="0"/>
              <a:t>Zero trust model</a:t>
            </a:r>
          </a:p>
          <a:p>
            <a:pPr lvl="2"/>
            <a:r>
              <a:rPr lang="en-US" dirty="0"/>
              <a:t>Isolation and trust boundaries  - Sandbox agents, least privilege, network segmentation, scoped APIs, and mutual auth. to contain failure propagation.</a:t>
            </a:r>
          </a:p>
          <a:p>
            <a:pPr lvl="2"/>
            <a:r>
              <a:rPr lang="en-US" dirty="0"/>
              <a:t>Separate planning and execution via an external policy engine to prevent corrupt planning from triggering harmful actions</a:t>
            </a:r>
          </a:p>
          <a:p>
            <a:pPr lvl="2"/>
            <a:endParaRPr lang="en-US" b="1" dirty="0"/>
          </a:p>
          <a:p>
            <a:pPr lvl="2"/>
            <a:endParaRPr lang="en-US" b="1" dirty="0"/>
          </a:p>
        </p:txBody>
      </p:sp>
    </p:spTree>
    <p:extLst>
      <p:ext uri="{BB962C8B-B14F-4D97-AF65-F5344CB8AC3E}">
        <p14:creationId xmlns:p14="http://schemas.microsoft.com/office/powerpoint/2010/main" val="920804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FB216-3952-C284-6D40-C2FBCCEEB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40071-6F50-6F2D-E0A5-25B32ED2CFA2}"/>
              </a:ext>
            </a:extLst>
          </p:cNvPr>
          <p:cNvSpPr>
            <a:spLocks noGrp="1"/>
          </p:cNvSpPr>
          <p:nvPr>
            <p:ph type="title"/>
          </p:nvPr>
        </p:nvSpPr>
        <p:spPr/>
        <p:txBody>
          <a:bodyPr>
            <a:normAutofit/>
          </a:bodyPr>
          <a:lstStyle/>
          <a:p>
            <a:r>
              <a:rPr lang="en-US" dirty="0"/>
              <a:t>ASI09: Human Agent Trust Exploitation</a:t>
            </a:r>
            <a:br>
              <a:rPr lang="en-US" dirty="0"/>
            </a:br>
            <a:endParaRPr lang="en-US" dirty="0"/>
          </a:p>
        </p:txBody>
      </p:sp>
      <p:sp>
        <p:nvSpPr>
          <p:cNvPr id="3" name="Content Placeholder 2">
            <a:extLst>
              <a:ext uri="{FF2B5EF4-FFF2-40B4-BE49-F238E27FC236}">
                <a16:creationId xmlns:a16="http://schemas.microsoft.com/office/drawing/2014/main" id="{D8542C6B-00E8-FDD7-66CE-49F9CD20F40D}"/>
              </a:ext>
            </a:extLst>
          </p:cNvPr>
          <p:cNvSpPr>
            <a:spLocks noGrp="1"/>
          </p:cNvSpPr>
          <p:nvPr>
            <p:ph idx="1"/>
          </p:nvPr>
        </p:nvSpPr>
        <p:spPr>
          <a:xfrm>
            <a:off x="838200" y="1333041"/>
            <a:ext cx="10515600" cy="4843922"/>
          </a:xfrm>
        </p:spPr>
        <p:txBody>
          <a:bodyPr>
            <a:normAutofit/>
          </a:bodyPr>
          <a:lstStyle/>
          <a:p>
            <a:pPr lvl="1" algn="just"/>
            <a:r>
              <a:rPr lang="en-US" b="1" dirty="0"/>
              <a:t>What: </a:t>
            </a:r>
            <a:r>
              <a:rPr lang="en-US" dirty="0"/>
              <a:t>humans over-rely on autonomous recommendations or unverifiable rationales, approving actions without independent validation.</a:t>
            </a:r>
          </a:p>
          <a:p>
            <a:pPr lvl="1" algn="just"/>
            <a:r>
              <a:rPr lang="en-US" b="1" dirty="0"/>
              <a:t>Cause: </a:t>
            </a:r>
            <a:r>
              <a:rPr lang="en-US" dirty="0"/>
              <a:t>Adversaries or misaligned designs may exploit the trust</a:t>
            </a:r>
          </a:p>
          <a:p>
            <a:pPr lvl="1" algn="just"/>
            <a:r>
              <a:rPr lang="en-US" b="1" dirty="0"/>
              <a:t>How: </a:t>
            </a:r>
            <a:r>
              <a:rPr lang="en-US" dirty="0"/>
              <a:t>natural language fluency, emotional intelligence, and perceived expertise, known as anthropomorphism; Leveraging Authority bias(Missing confirmation), persuasive or fake explainability (opaque reasoning) and emotional trust( exploited) make abuse look legitimate and hard to spot. </a:t>
            </a:r>
          </a:p>
          <a:p>
            <a:pPr lvl="1" algn="just"/>
            <a:r>
              <a:rPr lang="en-US" b="1" dirty="0"/>
              <a:t>Result: </a:t>
            </a:r>
            <a:r>
              <a:rPr lang="en-US" dirty="0"/>
              <a:t>Influence user decisions, extract sensitive information, or steer outcomes for malicious purposes.</a:t>
            </a:r>
          </a:p>
          <a:p>
            <a:pPr lvl="1" algn="just"/>
            <a:r>
              <a:rPr lang="en-US" b="1" dirty="0"/>
              <a:t>OWASP Agentic AI Threats and Mitigation Guide</a:t>
            </a:r>
          </a:p>
          <a:p>
            <a:pPr lvl="2" algn="just"/>
            <a:r>
              <a:rPr lang="en-US" dirty="0"/>
              <a:t>(T7) Misaligned &amp; Deceptive, (T8) Repudiation &amp; Untrace ability, (T10) Overwhelming the Human in the Loop.</a:t>
            </a:r>
          </a:p>
          <a:p>
            <a:pPr lvl="2" algn="just"/>
            <a:endParaRPr lang="en-US" b="1" dirty="0"/>
          </a:p>
          <a:p>
            <a:pPr lvl="1" algn="just"/>
            <a:endParaRPr lang="en-US" dirty="0"/>
          </a:p>
          <a:p>
            <a:pPr lvl="1" algn="just"/>
            <a:endParaRPr lang="en-US" dirty="0"/>
          </a:p>
          <a:p>
            <a:pPr lvl="1" algn="just"/>
            <a:endParaRPr lang="en-US" dirty="0"/>
          </a:p>
        </p:txBody>
      </p:sp>
    </p:spTree>
    <p:extLst>
      <p:ext uri="{BB962C8B-B14F-4D97-AF65-F5344CB8AC3E}">
        <p14:creationId xmlns:p14="http://schemas.microsoft.com/office/powerpoint/2010/main" val="4162909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59F94-1837-FFE0-1F21-FBB1C36F5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7EECD-4953-8C24-DC16-F635F3B57402}"/>
              </a:ext>
            </a:extLst>
          </p:cNvPr>
          <p:cNvSpPr>
            <a:spLocks noGrp="1"/>
          </p:cNvSpPr>
          <p:nvPr>
            <p:ph type="title"/>
          </p:nvPr>
        </p:nvSpPr>
        <p:spPr/>
        <p:txBody>
          <a:bodyPr>
            <a:normAutofit/>
          </a:bodyPr>
          <a:lstStyle/>
          <a:p>
            <a:r>
              <a:rPr lang="en-US" dirty="0"/>
              <a:t>ASI09: Human Agent Trust Exploitation</a:t>
            </a:r>
            <a:br>
              <a:rPr lang="en-US" dirty="0"/>
            </a:br>
            <a:endParaRPr lang="en-US" dirty="0"/>
          </a:p>
        </p:txBody>
      </p:sp>
      <p:sp>
        <p:nvSpPr>
          <p:cNvPr id="3" name="Content Placeholder 2">
            <a:extLst>
              <a:ext uri="{FF2B5EF4-FFF2-40B4-BE49-F238E27FC236}">
                <a16:creationId xmlns:a16="http://schemas.microsoft.com/office/drawing/2014/main" id="{8658DA92-D75B-E0A5-8722-B77B25BE9524}"/>
              </a:ext>
            </a:extLst>
          </p:cNvPr>
          <p:cNvSpPr>
            <a:spLocks noGrp="1"/>
          </p:cNvSpPr>
          <p:nvPr>
            <p:ph idx="1"/>
          </p:nvPr>
        </p:nvSpPr>
        <p:spPr>
          <a:xfrm>
            <a:off x="838200" y="1333041"/>
            <a:ext cx="10515600" cy="4843922"/>
          </a:xfrm>
        </p:spPr>
        <p:txBody>
          <a:bodyPr>
            <a:normAutofit/>
          </a:bodyPr>
          <a:lstStyle/>
          <a:p>
            <a:pPr lvl="1"/>
            <a:r>
              <a:rPr lang="en-US" dirty="0"/>
              <a:t>Example Vulnerability</a:t>
            </a:r>
          </a:p>
          <a:p>
            <a:pPr lvl="2"/>
            <a:r>
              <a:rPr lang="en-US" dirty="0"/>
              <a:t>Insufficient explainability</a:t>
            </a:r>
          </a:p>
          <a:p>
            <a:pPr lvl="2"/>
            <a:r>
              <a:rPr lang="en-US" dirty="0"/>
              <a:t>Lack of a final verification step converts user trust into immediate execution. </a:t>
            </a:r>
          </a:p>
          <a:p>
            <a:pPr lvl="2"/>
            <a:r>
              <a:rPr lang="en-US" dirty="0"/>
              <a:t>Fabricated convincing rationales</a:t>
            </a:r>
          </a:p>
          <a:p>
            <a:pPr lvl="1"/>
            <a:r>
              <a:rPr lang="en-US" dirty="0"/>
              <a:t>Prevention and Mitigation Guidelines</a:t>
            </a:r>
          </a:p>
          <a:p>
            <a:pPr lvl="2"/>
            <a:r>
              <a:rPr lang="en-US" dirty="0"/>
              <a:t>Continuously adjust the level of agent autonomy and required human oversight based on contextual risk scoring.</a:t>
            </a:r>
          </a:p>
          <a:p>
            <a:pPr lvl="2"/>
            <a:r>
              <a:rPr lang="en-US" dirty="0"/>
              <a:t>Attach verifiable metadata-source identifiers, timestamps, and integrity hashes-to all recommendations and external data.</a:t>
            </a:r>
          </a:p>
          <a:p>
            <a:pPr lvl="2"/>
            <a:r>
              <a:rPr lang="en-US" dirty="0"/>
              <a:t>Digital signature validation and Run time policy checks </a:t>
            </a:r>
          </a:p>
          <a:p>
            <a:pPr lvl="2"/>
            <a:endParaRPr lang="en-US" b="1" dirty="0"/>
          </a:p>
        </p:txBody>
      </p:sp>
    </p:spTree>
    <p:extLst>
      <p:ext uri="{BB962C8B-B14F-4D97-AF65-F5344CB8AC3E}">
        <p14:creationId xmlns:p14="http://schemas.microsoft.com/office/powerpoint/2010/main" val="2882513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1AD5A-9A6C-CB38-876E-629347C8E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D3F8F-2D11-0BBB-52DD-66CEA8FD42F7}"/>
              </a:ext>
            </a:extLst>
          </p:cNvPr>
          <p:cNvSpPr>
            <a:spLocks noGrp="1"/>
          </p:cNvSpPr>
          <p:nvPr>
            <p:ph type="title"/>
          </p:nvPr>
        </p:nvSpPr>
        <p:spPr/>
        <p:txBody>
          <a:bodyPr>
            <a:normAutofit/>
          </a:bodyPr>
          <a:lstStyle/>
          <a:p>
            <a:r>
              <a:rPr lang="en-US" dirty="0"/>
              <a:t>ASI10: Rogue Agents</a:t>
            </a:r>
            <a:br>
              <a:rPr lang="en-US" dirty="0"/>
            </a:br>
            <a:endParaRPr lang="en-US" dirty="0"/>
          </a:p>
        </p:txBody>
      </p:sp>
      <p:sp>
        <p:nvSpPr>
          <p:cNvPr id="3" name="Content Placeholder 2">
            <a:extLst>
              <a:ext uri="{FF2B5EF4-FFF2-40B4-BE49-F238E27FC236}">
                <a16:creationId xmlns:a16="http://schemas.microsoft.com/office/drawing/2014/main" id="{97CEE889-6EC6-8174-EF66-86FAD0E718DF}"/>
              </a:ext>
            </a:extLst>
          </p:cNvPr>
          <p:cNvSpPr>
            <a:spLocks noGrp="1"/>
          </p:cNvSpPr>
          <p:nvPr>
            <p:ph idx="1"/>
          </p:nvPr>
        </p:nvSpPr>
        <p:spPr>
          <a:xfrm>
            <a:off x="705998" y="1384950"/>
            <a:ext cx="10515600" cy="4351338"/>
          </a:xfrm>
        </p:spPr>
        <p:txBody>
          <a:bodyPr>
            <a:normAutofit fontScale="92500" lnSpcReduction="10000"/>
          </a:bodyPr>
          <a:lstStyle/>
          <a:p>
            <a:pPr lvl="1"/>
            <a:r>
              <a:rPr lang="en-US" b="1" dirty="0"/>
              <a:t>What: </a:t>
            </a:r>
            <a:r>
              <a:rPr lang="en-US" dirty="0"/>
              <a:t>Malicious or compromised AI Agents that deviate from their intended function or authorized scope, acting harmfully, deceptively, or parasitically within multi-agent or human-agent ecosystems. Actions may individually appear legitimate, but its emergent behavior becomes harmful</a:t>
            </a:r>
          </a:p>
          <a:p>
            <a:pPr lvl="1"/>
            <a:r>
              <a:rPr lang="en-US" b="1" dirty="0"/>
              <a:t>How: </a:t>
            </a:r>
            <a:r>
              <a:rPr lang="en-US" dirty="0"/>
              <a:t>Prompt injection, Goal Hijacking, Supply chain tampering, share signals in unintended ways; game their assigned reward system, Self replication</a:t>
            </a:r>
          </a:p>
          <a:p>
            <a:pPr lvl="1"/>
            <a:r>
              <a:rPr lang="en-US" b="1" dirty="0"/>
              <a:t>Result: </a:t>
            </a:r>
            <a:r>
              <a:rPr lang="en-US" dirty="0"/>
              <a:t>Loss of behavioral integrity and governance once the drift begins; sensitive information disclosure, misinformation propagation, workflow hijacking, and operational sabotage. Consuming resources</a:t>
            </a:r>
          </a:p>
          <a:p>
            <a:pPr lvl="1"/>
            <a:r>
              <a:rPr lang="en-US" b="1" dirty="0"/>
              <a:t>OWASP Agentic AI Threats and Mitigation Guide</a:t>
            </a:r>
          </a:p>
          <a:p>
            <a:pPr lvl="2"/>
            <a:r>
              <a:rPr lang="en-US" dirty="0"/>
              <a:t>T13 – Rogue Agents in Multi-Agent Systems. </a:t>
            </a:r>
          </a:p>
          <a:p>
            <a:pPr lvl="1"/>
            <a:r>
              <a:rPr lang="en-US" b="1" dirty="0"/>
              <a:t>The OWASP AIVSS framework </a:t>
            </a:r>
          </a:p>
          <a:p>
            <a:pPr lvl="2"/>
            <a:r>
              <a:rPr lang="en-US" dirty="0"/>
              <a:t>Behavioral Integrity (BI), Operational Security (OS), and Compliance Violations (CV), with elevated severity for critical or self-propagating deployments.</a:t>
            </a:r>
          </a:p>
          <a:p>
            <a:pPr lvl="1"/>
            <a:endParaRPr lang="en-US" dirty="0"/>
          </a:p>
          <a:p>
            <a:pPr lvl="1"/>
            <a:endParaRPr lang="en-US" dirty="0"/>
          </a:p>
        </p:txBody>
      </p:sp>
    </p:spTree>
    <p:extLst>
      <p:ext uri="{BB962C8B-B14F-4D97-AF65-F5344CB8AC3E}">
        <p14:creationId xmlns:p14="http://schemas.microsoft.com/office/powerpoint/2010/main" val="3082224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32C1B-1759-4D96-6F25-3419CA01E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83AE5-866D-7A7C-B5FF-EE80ED2F28A9}"/>
              </a:ext>
            </a:extLst>
          </p:cNvPr>
          <p:cNvSpPr>
            <a:spLocks noGrp="1"/>
          </p:cNvSpPr>
          <p:nvPr>
            <p:ph type="title"/>
          </p:nvPr>
        </p:nvSpPr>
        <p:spPr/>
        <p:txBody>
          <a:bodyPr>
            <a:normAutofit/>
          </a:bodyPr>
          <a:lstStyle/>
          <a:p>
            <a:r>
              <a:rPr lang="en-US" dirty="0"/>
              <a:t>ASI10: Rogue Agents</a:t>
            </a:r>
            <a:br>
              <a:rPr lang="en-US" dirty="0"/>
            </a:br>
            <a:endParaRPr lang="en-US" dirty="0"/>
          </a:p>
        </p:txBody>
      </p:sp>
      <p:sp>
        <p:nvSpPr>
          <p:cNvPr id="3" name="Content Placeholder 2">
            <a:extLst>
              <a:ext uri="{FF2B5EF4-FFF2-40B4-BE49-F238E27FC236}">
                <a16:creationId xmlns:a16="http://schemas.microsoft.com/office/drawing/2014/main" id="{29509094-AEBF-4DC6-FED0-B705E9AC4B5F}"/>
              </a:ext>
            </a:extLst>
          </p:cNvPr>
          <p:cNvSpPr>
            <a:spLocks noGrp="1"/>
          </p:cNvSpPr>
          <p:nvPr>
            <p:ph idx="1"/>
          </p:nvPr>
        </p:nvSpPr>
        <p:spPr>
          <a:xfrm>
            <a:off x="705998" y="1384950"/>
            <a:ext cx="10515600" cy="4351338"/>
          </a:xfrm>
        </p:spPr>
        <p:txBody>
          <a:bodyPr>
            <a:normAutofit fontScale="92500" lnSpcReduction="10000"/>
          </a:bodyPr>
          <a:lstStyle/>
          <a:p>
            <a:pPr lvl="1"/>
            <a:r>
              <a:rPr lang="en-US" dirty="0"/>
              <a:t>Example Vulnerability</a:t>
            </a:r>
          </a:p>
          <a:p>
            <a:pPr lvl="2"/>
            <a:r>
              <a:rPr lang="en-US" dirty="0"/>
              <a:t>Indirect prompt injection or conflicting objectives</a:t>
            </a:r>
          </a:p>
          <a:p>
            <a:pPr lvl="2"/>
            <a:r>
              <a:rPr lang="en-US" dirty="0"/>
              <a:t>Exploiting flawed metrics to generate misleading results</a:t>
            </a:r>
          </a:p>
          <a:p>
            <a:pPr lvl="1"/>
            <a:endParaRPr lang="en-US" dirty="0"/>
          </a:p>
          <a:p>
            <a:pPr lvl="1"/>
            <a:r>
              <a:rPr lang="en-US" dirty="0"/>
              <a:t>Prevention and Mitigation Guidelines</a:t>
            </a:r>
          </a:p>
          <a:p>
            <a:pPr lvl="2"/>
            <a:r>
              <a:rPr lang="en-US" dirty="0"/>
              <a:t>Assign Trust Zones with strict inter-zone communication rules and deploy restricted execution environments (e.g., container sandboxes) with API scopes based on least privilege.</a:t>
            </a:r>
          </a:p>
          <a:p>
            <a:pPr lvl="2"/>
            <a:r>
              <a:rPr lang="en-US" dirty="0"/>
              <a:t>Implement rapid mechanisms like kill-switches and credential revocation to instantly disable rogue agents.</a:t>
            </a:r>
          </a:p>
          <a:p>
            <a:pPr lvl="2"/>
            <a:r>
              <a:rPr lang="en-US" dirty="0"/>
              <a:t>Integrate a behavioral verification layer that continuously monitors tasks for deviations from the declared manifest</a:t>
            </a:r>
          </a:p>
          <a:p>
            <a:pPr lvl="2"/>
            <a:r>
              <a:rPr lang="en-US" dirty="0"/>
              <a:t>Establish trusted baselines for restoring quarantined or remediated agents. Require fresh attestation, dependency verification, and human approval before reintegration into production networks.</a:t>
            </a:r>
          </a:p>
          <a:p>
            <a:pPr lvl="2"/>
            <a:endParaRPr lang="en-US" b="1" dirty="0"/>
          </a:p>
        </p:txBody>
      </p:sp>
    </p:spTree>
    <p:extLst>
      <p:ext uri="{BB962C8B-B14F-4D97-AF65-F5344CB8AC3E}">
        <p14:creationId xmlns:p14="http://schemas.microsoft.com/office/powerpoint/2010/main" val="4145050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89996-8A70-91FF-4937-C0ED30190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1DAC8-25AF-E2AB-4AA7-5BBB804232C6}"/>
              </a:ext>
            </a:extLst>
          </p:cNvPr>
          <p:cNvSpPr>
            <a:spLocks noGrp="1"/>
          </p:cNvSpPr>
          <p:nvPr>
            <p:ph type="title"/>
          </p:nvPr>
        </p:nvSpPr>
        <p:spPr/>
        <p:txBody>
          <a:bodyPr>
            <a:normAutofit/>
          </a:bodyPr>
          <a:lstStyle/>
          <a:p>
            <a:r>
              <a:rPr lang="en-US" dirty="0"/>
              <a:t>Comprehensive Logging</a:t>
            </a:r>
            <a:br>
              <a:rPr lang="en-US" dirty="0"/>
            </a:br>
            <a:endParaRPr lang="en-US" dirty="0"/>
          </a:p>
        </p:txBody>
      </p:sp>
      <p:sp>
        <p:nvSpPr>
          <p:cNvPr id="3" name="Content Placeholder 2">
            <a:extLst>
              <a:ext uri="{FF2B5EF4-FFF2-40B4-BE49-F238E27FC236}">
                <a16:creationId xmlns:a16="http://schemas.microsoft.com/office/drawing/2014/main" id="{234138DC-8B63-6A38-BD6A-F55FCB89C924}"/>
              </a:ext>
            </a:extLst>
          </p:cNvPr>
          <p:cNvSpPr>
            <a:spLocks noGrp="1"/>
          </p:cNvSpPr>
          <p:nvPr>
            <p:ph idx="1"/>
          </p:nvPr>
        </p:nvSpPr>
        <p:spPr>
          <a:xfrm>
            <a:off x="705998" y="1384950"/>
            <a:ext cx="10515600" cy="4351338"/>
          </a:xfrm>
        </p:spPr>
        <p:txBody>
          <a:bodyPr>
            <a:normAutofit/>
          </a:bodyPr>
          <a:lstStyle/>
          <a:p>
            <a:pPr lvl="1"/>
            <a:r>
              <a:rPr lang="en-US" dirty="0"/>
              <a:t>Tool invocation </a:t>
            </a:r>
          </a:p>
          <a:p>
            <a:pPr lvl="1"/>
            <a:r>
              <a:rPr lang="en-US" dirty="0"/>
              <a:t>Parameter changes</a:t>
            </a:r>
          </a:p>
          <a:p>
            <a:pPr lvl="1"/>
            <a:r>
              <a:rPr lang="en-US" dirty="0"/>
              <a:t>Inter module telemetry</a:t>
            </a:r>
          </a:p>
          <a:p>
            <a:pPr lvl="1"/>
            <a:r>
              <a:rPr lang="en-US" dirty="0"/>
              <a:t>Lineage </a:t>
            </a:r>
          </a:p>
          <a:p>
            <a:pPr lvl="1"/>
            <a:r>
              <a:rPr lang="en-US" dirty="0"/>
              <a:t>Privilege use </a:t>
            </a:r>
          </a:p>
          <a:p>
            <a:pPr lvl="1"/>
            <a:r>
              <a:rPr lang="en-US" dirty="0"/>
              <a:t>All queries and responses</a:t>
            </a:r>
          </a:p>
          <a:p>
            <a:pPr lvl="1"/>
            <a:r>
              <a:rPr lang="en-US" dirty="0"/>
              <a:t>Traffic pattern  </a:t>
            </a:r>
          </a:p>
          <a:p>
            <a:pPr lvl="1"/>
            <a:endParaRPr lang="en-US" dirty="0"/>
          </a:p>
          <a:p>
            <a:pPr lvl="1"/>
            <a:endParaRPr lang="en-US" dirty="0"/>
          </a:p>
        </p:txBody>
      </p:sp>
    </p:spTree>
    <p:extLst>
      <p:ext uri="{BB962C8B-B14F-4D97-AF65-F5344CB8AC3E}">
        <p14:creationId xmlns:p14="http://schemas.microsoft.com/office/powerpoint/2010/main" val="695556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DB2F9-CEC7-2726-26E7-A2EB52811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329AF-975F-E0DB-F4E3-8D86BCE05258}"/>
              </a:ext>
            </a:extLst>
          </p:cNvPr>
          <p:cNvSpPr>
            <a:spLocks noGrp="1"/>
          </p:cNvSpPr>
          <p:nvPr>
            <p:ph type="title"/>
          </p:nvPr>
        </p:nvSpPr>
        <p:spPr/>
        <p:txBody>
          <a:bodyPr>
            <a:normAutofit/>
          </a:bodyPr>
          <a:lstStyle/>
          <a:p>
            <a:r>
              <a:rPr lang="en-US" dirty="0"/>
              <a:t>Continuous Monitoring</a:t>
            </a:r>
          </a:p>
        </p:txBody>
      </p:sp>
      <p:sp>
        <p:nvSpPr>
          <p:cNvPr id="3" name="Content Placeholder 2">
            <a:extLst>
              <a:ext uri="{FF2B5EF4-FFF2-40B4-BE49-F238E27FC236}">
                <a16:creationId xmlns:a16="http://schemas.microsoft.com/office/drawing/2014/main" id="{7A8FED8F-20F1-9D33-317C-282D0616DFE0}"/>
              </a:ext>
            </a:extLst>
          </p:cNvPr>
          <p:cNvSpPr>
            <a:spLocks noGrp="1"/>
          </p:cNvSpPr>
          <p:nvPr>
            <p:ph idx="1"/>
          </p:nvPr>
        </p:nvSpPr>
        <p:spPr>
          <a:xfrm>
            <a:off x="705998" y="1690688"/>
            <a:ext cx="10515600" cy="4351338"/>
          </a:xfrm>
        </p:spPr>
        <p:txBody>
          <a:bodyPr>
            <a:normAutofit/>
          </a:bodyPr>
          <a:lstStyle/>
          <a:p>
            <a:pPr lvl="1"/>
            <a:r>
              <a:rPr lang="en-US" dirty="0"/>
              <a:t>Unusual tool chaining patterns</a:t>
            </a:r>
          </a:p>
          <a:p>
            <a:pPr lvl="1"/>
            <a:r>
              <a:rPr lang="en-US" dirty="0"/>
              <a:t>Anomalous execution rates</a:t>
            </a:r>
          </a:p>
          <a:p>
            <a:pPr lvl="1"/>
            <a:r>
              <a:rPr lang="en-US" dirty="0"/>
              <a:t>Policy violations</a:t>
            </a:r>
          </a:p>
          <a:p>
            <a:pPr lvl="1"/>
            <a:r>
              <a:rPr lang="en-US" dirty="0"/>
              <a:t>Possible anomaly </a:t>
            </a:r>
          </a:p>
          <a:p>
            <a:pPr lvl="2"/>
            <a:r>
              <a:rPr lang="en-US" dirty="0"/>
              <a:t>agents request new scopes or reuse tokens outside their original, signed intent.</a:t>
            </a:r>
          </a:p>
          <a:p>
            <a:pPr lvl="2"/>
            <a:r>
              <a:rPr lang="en-US" dirty="0"/>
              <a:t>when an agent gains new permissions indirectly through delegation chains.</a:t>
            </a:r>
          </a:p>
          <a:p>
            <a:pPr lvl="2"/>
            <a:r>
              <a:rPr lang="en-US" dirty="0"/>
              <a:t>Inherit or is handed higher privilege scopes during multi agent workflows</a:t>
            </a:r>
          </a:p>
          <a:p>
            <a:pPr lvl="1"/>
            <a:r>
              <a:rPr lang="en-US" dirty="0"/>
              <a:t>Runtime monitoring </a:t>
            </a:r>
          </a:p>
          <a:p>
            <a:pPr lvl="1"/>
            <a:r>
              <a:rPr lang="en-US" dirty="0"/>
              <a:t>Prompt injection pattern </a:t>
            </a:r>
          </a:p>
          <a:p>
            <a:pPr lvl="1"/>
            <a:r>
              <a:rPr lang="en-US" dirty="0"/>
              <a:t>Sensitive data exposure </a:t>
            </a:r>
          </a:p>
          <a:p>
            <a:pPr lvl="2"/>
            <a:endParaRPr lang="en-US" dirty="0"/>
          </a:p>
          <a:p>
            <a:pPr lvl="1"/>
            <a:endParaRPr lang="en-US" dirty="0"/>
          </a:p>
        </p:txBody>
      </p:sp>
    </p:spTree>
    <p:extLst>
      <p:ext uri="{BB962C8B-B14F-4D97-AF65-F5344CB8AC3E}">
        <p14:creationId xmlns:p14="http://schemas.microsoft.com/office/powerpoint/2010/main" val="3645960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1885</TotalTime>
  <Words>3183</Words>
  <Application>Microsoft Macintosh PowerPoint</Application>
  <PresentationFormat>Widescreen</PresentationFormat>
  <Paragraphs>252</Paragraphs>
  <Slides>24</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Helvetica</vt:lpstr>
      <vt:lpstr>Office Theme</vt:lpstr>
      <vt:lpstr>Top 10 Threats in Agentic Application</vt:lpstr>
      <vt:lpstr>OWASP Top 10 for Agentic Application</vt:lpstr>
      <vt:lpstr>ASI01: Agent Goal Hijack </vt:lpstr>
      <vt:lpstr>ASI01: Agent Goal Hijack </vt:lpstr>
      <vt:lpstr>ASI02: Tool Misuse and Exploitation</vt:lpstr>
      <vt:lpstr>ASI02: Tool Misuse and Exploitation</vt:lpstr>
      <vt:lpstr>ASI03: Identity and Privilege Abuse</vt:lpstr>
      <vt:lpstr>ASI03: Identity and Privilege Abuse</vt:lpstr>
      <vt:lpstr>ASI04: Agentic Supply Chain Vulnerabilities </vt:lpstr>
      <vt:lpstr>ASI04: Agentic Supply Chain Vulnerabilities </vt:lpstr>
      <vt:lpstr>ASI05: Unexpected Code Execution </vt:lpstr>
      <vt:lpstr>ASI05: Unexpected Code Execution </vt:lpstr>
      <vt:lpstr>ASI06: Memory and Context Poisoning </vt:lpstr>
      <vt:lpstr>ASI06: Memory and Context Poisoning </vt:lpstr>
      <vt:lpstr>ASI07: Insecure Inter-Agent Communication </vt:lpstr>
      <vt:lpstr>ASI07: Insecure Inter-Agent Communication </vt:lpstr>
      <vt:lpstr>ASI08: Cascading Failures </vt:lpstr>
      <vt:lpstr>ASI08: Cascading Failures </vt:lpstr>
      <vt:lpstr>ASI09: Human Agent Trust Exploitation </vt:lpstr>
      <vt:lpstr>ASI09: Human Agent Trust Exploitation </vt:lpstr>
      <vt:lpstr>ASI10: Rogue Agents </vt:lpstr>
      <vt:lpstr>ASI10: Rogue Agents </vt:lpstr>
      <vt:lpstr>Comprehensive Logging </vt:lpstr>
      <vt:lpstr>Continuous Monitoring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Gurpriya Bhatia</dc:creator>
  <cp:lastModifiedBy>Gurpriya Bhatia</cp:lastModifiedBy>
  <cp:revision>96</cp:revision>
  <dcterms:created xsi:type="dcterms:W3CDTF">2026-04-06T18:17:12Z</dcterms:created>
  <dcterms:modified xsi:type="dcterms:W3CDTF">2026-04-08T16:11:33Z</dcterms:modified>
</cp:coreProperties>
</file>