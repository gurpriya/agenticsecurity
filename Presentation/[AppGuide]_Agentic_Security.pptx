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6"/>
  </p:notesMasterIdLst>
  <p:sldIdLst>
    <p:sldId id="283" r:id="rId2"/>
    <p:sldId id="258" r:id="rId3"/>
    <p:sldId id="284" r:id="rId4"/>
    <p:sldId id="291" r:id="rId5"/>
    <p:sldId id="285" r:id="rId6"/>
    <p:sldId id="310" r:id="rId7"/>
    <p:sldId id="286" r:id="rId8"/>
    <p:sldId id="311" r:id="rId9"/>
    <p:sldId id="287" r:id="rId10"/>
    <p:sldId id="312" r:id="rId11"/>
    <p:sldId id="288" r:id="rId12"/>
    <p:sldId id="313" r:id="rId13"/>
    <p:sldId id="289" r:id="rId14"/>
    <p:sldId id="314" r:id="rId15"/>
    <p:sldId id="290" r:id="rId16"/>
    <p:sldId id="315" r:id="rId17"/>
    <p:sldId id="293" r:id="rId18"/>
    <p:sldId id="317" r:id="rId19"/>
    <p:sldId id="318" r:id="rId20"/>
    <p:sldId id="319" r:id="rId21"/>
    <p:sldId id="320" r:id="rId22"/>
    <p:sldId id="321" r:id="rId23"/>
    <p:sldId id="322" r:id="rId24"/>
    <p:sldId id="323" r:id="rId25"/>
    <p:sldId id="316" r:id="rId26"/>
    <p:sldId id="324" r:id="rId27"/>
    <p:sldId id="325" r:id="rId28"/>
    <p:sldId id="326" r:id="rId29"/>
    <p:sldId id="327" r:id="rId30"/>
    <p:sldId id="328" r:id="rId31"/>
    <p:sldId id="329" r:id="rId32"/>
    <p:sldId id="330" r:id="rId33"/>
    <p:sldId id="345" r:id="rId34"/>
    <p:sldId id="331" r:id="rId35"/>
    <p:sldId id="332" r:id="rId36"/>
    <p:sldId id="333" r:id="rId37"/>
    <p:sldId id="334" r:id="rId38"/>
    <p:sldId id="335" r:id="rId39"/>
    <p:sldId id="336" r:id="rId40"/>
    <p:sldId id="337" r:id="rId41"/>
    <p:sldId id="338" r:id="rId42"/>
    <p:sldId id="346" r:id="rId43"/>
    <p:sldId id="339" r:id="rId44"/>
    <p:sldId id="340" r:id="rId45"/>
    <p:sldId id="341" r:id="rId46"/>
    <p:sldId id="342" r:id="rId47"/>
    <p:sldId id="343" r:id="rId48"/>
    <p:sldId id="344" r:id="rId49"/>
    <p:sldId id="294" r:id="rId50"/>
    <p:sldId id="347" r:id="rId51"/>
    <p:sldId id="348" r:id="rId52"/>
    <p:sldId id="349" r:id="rId53"/>
    <p:sldId id="350" r:id="rId54"/>
    <p:sldId id="351" r:id="rId55"/>
    <p:sldId id="353" r:id="rId56"/>
    <p:sldId id="354" r:id="rId57"/>
    <p:sldId id="355" r:id="rId58"/>
    <p:sldId id="356" r:id="rId59"/>
    <p:sldId id="357" r:id="rId60"/>
    <p:sldId id="352" r:id="rId61"/>
    <p:sldId id="358" r:id="rId62"/>
    <p:sldId id="359" r:id="rId63"/>
    <p:sldId id="360" r:id="rId64"/>
    <p:sldId id="361" r:id="rId65"/>
    <p:sldId id="295" r:id="rId66"/>
    <p:sldId id="362" r:id="rId67"/>
    <p:sldId id="364" r:id="rId68"/>
    <p:sldId id="363" r:id="rId69"/>
    <p:sldId id="365" r:id="rId70"/>
    <p:sldId id="366" r:id="rId71"/>
    <p:sldId id="367" r:id="rId72"/>
    <p:sldId id="296" r:id="rId73"/>
    <p:sldId id="307" r:id="rId74"/>
    <p:sldId id="308" r:id="rId75"/>
    <p:sldId id="309" r:id="rId76"/>
    <p:sldId id="298" r:id="rId77"/>
    <p:sldId id="306" r:id="rId78"/>
    <p:sldId id="299" r:id="rId79"/>
    <p:sldId id="300" r:id="rId80"/>
    <p:sldId id="301" r:id="rId81"/>
    <p:sldId id="302" r:id="rId82"/>
    <p:sldId id="303" r:id="rId83"/>
    <p:sldId id="304" r:id="rId84"/>
    <p:sldId id="305"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09"/>
    <p:restoredTop sz="86145"/>
  </p:normalViewPr>
  <p:slideViewPr>
    <p:cSldViewPr snapToGrid="0">
      <p:cViewPr varScale="1">
        <p:scale>
          <a:sx n="108" d="100"/>
          <a:sy n="108" d="100"/>
        </p:scale>
        <p:origin x="6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F4E76-F4B2-2E42-8DA4-BB2A62184F96}"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CD895-FA11-734B-8E8D-8DADB5A0EBD1}" type="slidenum">
              <a:rPr lang="en-US" smtClean="0"/>
              <a:t>‹#›</a:t>
            </a:fld>
            <a:endParaRPr lang="en-US"/>
          </a:p>
        </p:txBody>
      </p:sp>
    </p:spTree>
    <p:extLst>
      <p:ext uri="{BB962C8B-B14F-4D97-AF65-F5344CB8AC3E}">
        <p14:creationId xmlns:p14="http://schemas.microsoft.com/office/powerpoint/2010/main" val="410345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2</a:t>
            </a:fld>
            <a:endParaRPr lang="en-US"/>
          </a:p>
        </p:txBody>
      </p:sp>
    </p:spTree>
    <p:extLst>
      <p:ext uri="{BB962C8B-B14F-4D97-AF65-F5344CB8AC3E}">
        <p14:creationId xmlns:p14="http://schemas.microsoft.com/office/powerpoint/2010/main" val="2385783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D1EFA-7BBB-D8C2-05FD-13252298C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0791C-F7A4-587F-259D-CE9A3E35A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DE78E-8708-5A4F-BF25-439244A6F3FC}"/>
              </a:ext>
            </a:extLst>
          </p:cNvPr>
          <p:cNvSpPr>
            <a:spLocks noGrp="1"/>
          </p:cNvSpPr>
          <p:nvPr>
            <p:ph type="body" idx="1"/>
          </p:nvPr>
        </p:nvSpPr>
        <p:spPr/>
        <p:txBody>
          <a:bodyPr/>
          <a:lstStyle/>
          <a:p>
            <a:r>
              <a:rPr lang="en-US" dirty="0"/>
              <a:t>Out of scope – governance framework –Managing agentic risk guide </a:t>
            </a:r>
          </a:p>
          <a:p>
            <a:endParaRPr lang="en-US" dirty="0"/>
          </a:p>
          <a:p>
            <a:endParaRPr lang="en-US" dirty="0"/>
          </a:p>
        </p:txBody>
      </p:sp>
      <p:sp>
        <p:nvSpPr>
          <p:cNvPr id="4" name="Slide Number Placeholder 3">
            <a:extLst>
              <a:ext uri="{FF2B5EF4-FFF2-40B4-BE49-F238E27FC236}">
                <a16:creationId xmlns:a16="http://schemas.microsoft.com/office/drawing/2014/main" id="{5D496942-1656-C48F-3E9E-0F5D83BDE1F5}"/>
              </a:ext>
            </a:extLst>
          </p:cNvPr>
          <p:cNvSpPr>
            <a:spLocks noGrp="1"/>
          </p:cNvSpPr>
          <p:nvPr>
            <p:ph type="sldNum" sz="quarter" idx="5"/>
          </p:nvPr>
        </p:nvSpPr>
        <p:spPr/>
        <p:txBody>
          <a:bodyPr/>
          <a:lstStyle/>
          <a:p>
            <a:fld id="{A9BCD895-FA11-734B-8E8D-8DADB5A0EBD1}" type="slidenum">
              <a:rPr lang="en-US" smtClean="0"/>
              <a:t>3</a:t>
            </a:fld>
            <a:endParaRPr lang="en-US"/>
          </a:p>
        </p:txBody>
      </p:sp>
    </p:spTree>
    <p:extLst>
      <p:ext uri="{BB962C8B-B14F-4D97-AF65-F5344CB8AC3E}">
        <p14:creationId xmlns:p14="http://schemas.microsoft.com/office/powerpoint/2010/main" val="615504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62C3B-1FE1-069C-D7AD-CEE63C89D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071AE-5B84-3D6A-F503-66D611968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E74EE-D7BF-8960-D829-D6B63597D9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7543EA-3772-A83B-7729-4C88727FC21C}"/>
              </a:ext>
            </a:extLst>
          </p:cNvPr>
          <p:cNvSpPr>
            <a:spLocks noGrp="1"/>
          </p:cNvSpPr>
          <p:nvPr>
            <p:ph type="sldNum" sz="quarter" idx="5"/>
          </p:nvPr>
        </p:nvSpPr>
        <p:spPr/>
        <p:txBody>
          <a:bodyPr/>
          <a:lstStyle/>
          <a:p>
            <a:fld id="{A9BCD895-FA11-734B-8E8D-8DADB5A0EBD1}" type="slidenum">
              <a:rPr lang="en-US" smtClean="0"/>
              <a:t>5</a:t>
            </a:fld>
            <a:endParaRPr lang="en-US"/>
          </a:p>
        </p:txBody>
      </p:sp>
    </p:spTree>
    <p:extLst>
      <p:ext uri="{BB962C8B-B14F-4D97-AF65-F5344CB8AC3E}">
        <p14:creationId xmlns:p14="http://schemas.microsoft.com/office/powerpoint/2010/main" val="3986494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FA7A-15B8-855D-00D0-03144016E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A1625-C0D9-B61A-E394-C61DC2C49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498A9-272A-DCBA-6D84-249C135F7A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89CD1E-5499-B32E-E3FC-72CF625180E6}"/>
              </a:ext>
            </a:extLst>
          </p:cNvPr>
          <p:cNvSpPr>
            <a:spLocks noGrp="1"/>
          </p:cNvSpPr>
          <p:nvPr>
            <p:ph type="sldNum" sz="quarter" idx="5"/>
          </p:nvPr>
        </p:nvSpPr>
        <p:spPr/>
        <p:txBody>
          <a:bodyPr/>
          <a:lstStyle/>
          <a:p>
            <a:fld id="{A9BCD895-FA11-734B-8E8D-8DADB5A0EBD1}" type="slidenum">
              <a:rPr lang="en-US" smtClean="0"/>
              <a:t>6</a:t>
            </a:fld>
            <a:endParaRPr lang="en-US"/>
          </a:p>
        </p:txBody>
      </p:sp>
    </p:spTree>
    <p:extLst>
      <p:ext uri="{BB962C8B-B14F-4D97-AF65-F5344CB8AC3E}">
        <p14:creationId xmlns:p14="http://schemas.microsoft.com/office/powerpoint/2010/main" val="3277106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0197F-25A1-765E-40D6-93EEFA4BA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CDBB9-3283-890F-4170-BF9025387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BBB6C-B147-577C-DF2B-B84A7E27A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DD0A8-D9E5-1A1A-8CBC-17A7AC2DDACD}"/>
              </a:ext>
            </a:extLst>
          </p:cNvPr>
          <p:cNvSpPr>
            <a:spLocks noGrp="1"/>
          </p:cNvSpPr>
          <p:nvPr>
            <p:ph type="sldNum" sz="quarter" idx="5"/>
          </p:nvPr>
        </p:nvSpPr>
        <p:spPr/>
        <p:txBody>
          <a:bodyPr/>
          <a:lstStyle/>
          <a:p>
            <a:fld id="{A9BCD895-FA11-734B-8E8D-8DADB5A0EBD1}" type="slidenum">
              <a:rPr lang="en-US" smtClean="0"/>
              <a:t>7</a:t>
            </a:fld>
            <a:endParaRPr lang="en-US"/>
          </a:p>
        </p:txBody>
      </p:sp>
    </p:spTree>
    <p:extLst>
      <p:ext uri="{BB962C8B-B14F-4D97-AF65-F5344CB8AC3E}">
        <p14:creationId xmlns:p14="http://schemas.microsoft.com/office/powerpoint/2010/main" val="1657733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5A20F-0BFD-3078-A54B-60352CA5B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39273-C2C8-8B29-56BA-50192ADE4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94FEBB-C90C-1221-E1F1-3C0F75DD84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7B4526-B4B5-A7FB-879B-229079DE3F7E}"/>
              </a:ext>
            </a:extLst>
          </p:cNvPr>
          <p:cNvSpPr>
            <a:spLocks noGrp="1"/>
          </p:cNvSpPr>
          <p:nvPr>
            <p:ph type="sldNum" sz="quarter" idx="5"/>
          </p:nvPr>
        </p:nvSpPr>
        <p:spPr/>
        <p:txBody>
          <a:bodyPr/>
          <a:lstStyle/>
          <a:p>
            <a:fld id="{A9BCD895-FA11-734B-8E8D-8DADB5A0EBD1}" type="slidenum">
              <a:rPr lang="en-US" smtClean="0"/>
              <a:t>8</a:t>
            </a:fld>
            <a:endParaRPr lang="en-US"/>
          </a:p>
        </p:txBody>
      </p:sp>
    </p:spTree>
    <p:extLst>
      <p:ext uri="{BB962C8B-B14F-4D97-AF65-F5344CB8AC3E}">
        <p14:creationId xmlns:p14="http://schemas.microsoft.com/office/powerpoint/2010/main" val="3932013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F4DAB-2212-0C16-7882-DEC56D3D7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AD694-BC29-4D17-8793-2469B62A6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7B8C2-A6DE-0D37-06A7-21B5B1861B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E25D21-D8E1-0342-A8B1-6EAE0483A47C}"/>
              </a:ext>
            </a:extLst>
          </p:cNvPr>
          <p:cNvSpPr>
            <a:spLocks noGrp="1"/>
          </p:cNvSpPr>
          <p:nvPr>
            <p:ph type="sldNum" sz="quarter" idx="5"/>
          </p:nvPr>
        </p:nvSpPr>
        <p:spPr/>
        <p:txBody>
          <a:bodyPr/>
          <a:lstStyle/>
          <a:p>
            <a:fld id="{A9BCD895-FA11-734B-8E8D-8DADB5A0EBD1}" type="slidenum">
              <a:rPr lang="en-US" smtClean="0"/>
              <a:t>9</a:t>
            </a:fld>
            <a:endParaRPr lang="en-US"/>
          </a:p>
        </p:txBody>
      </p:sp>
    </p:spTree>
    <p:extLst>
      <p:ext uri="{BB962C8B-B14F-4D97-AF65-F5344CB8AC3E}">
        <p14:creationId xmlns:p14="http://schemas.microsoft.com/office/powerpoint/2010/main" val="2671223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F0F72-F3FD-91B1-7A1E-9D5F616C5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DC624-8D01-54FE-4343-31455018B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197E9-2A33-C2AA-EE94-5A3A1441CB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E6E59E-EBB5-C562-A06F-29C84B318CA8}"/>
              </a:ext>
            </a:extLst>
          </p:cNvPr>
          <p:cNvSpPr>
            <a:spLocks noGrp="1"/>
          </p:cNvSpPr>
          <p:nvPr>
            <p:ph type="sldNum" sz="quarter" idx="5"/>
          </p:nvPr>
        </p:nvSpPr>
        <p:spPr/>
        <p:txBody>
          <a:bodyPr/>
          <a:lstStyle/>
          <a:p>
            <a:fld id="{A9BCD895-FA11-734B-8E8D-8DADB5A0EBD1}" type="slidenum">
              <a:rPr lang="en-US" smtClean="0"/>
              <a:t>10</a:t>
            </a:fld>
            <a:endParaRPr lang="en-US"/>
          </a:p>
        </p:txBody>
      </p:sp>
    </p:spTree>
    <p:extLst>
      <p:ext uri="{BB962C8B-B14F-4D97-AF65-F5344CB8AC3E}">
        <p14:creationId xmlns:p14="http://schemas.microsoft.com/office/powerpoint/2010/main" val="2279084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30B7-80CF-901F-AEEF-359B99710D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5E41B-363A-7432-B013-4CF26A29B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F67E96-55FE-0B90-A3A4-A7E8CB9A77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376583-7367-EDED-B89C-83CD141A181A}"/>
              </a:ext>
            </a:extLst>
          </p:cNvPr>
          <p:cNvSpPr>
            <a:spLocks noGrp="1"/>
          </p:cNvSpPr>
          <p:nvPr>
            <p:ph type="sldNum" sz="quarter" idx="5"/>
          </p:nvPr>
        </p:nvSpPr>
        <p:spPr/>
        <p:txBody>
          <a:bodyPr/>
          <a:lstStyle/>
          <a:p>
            <a:fld id="{A9BCD895-FA11-734B-8E8D-8DADB5A0EBD1}" type="slidenum">
              <a:rPr lang="en-US" smtClean="0"/>
              <a:t>11</a:t>
            </a:fld>
            <a:endParaRPr lang="en-US"/>
          </a:p>
        </p:txBody>
      </p:sp>
    </p:spTree>
    <p:extLst>
      <p:ext uri="{BB962C8B-B14F-4D97-AF65-F5344CB8AC3E}">
        <p14:creationId xmlns:p14="http://schemas.microsoft.com/office/powerpoint/2010/main" val="12546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01A1-C24C-E655-C1DB-A4458FAFF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C9EB0-B20B-0E86-417F-E2E14098B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E3F19-208D-7B95-E225-624B71E34B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77A5C1-A6D1-7B92-5658-516210C75F3D}"/>
              </a:ext>
            </a:extLst>
          </p:cNvPr>
          <p:cNvSpPr>
            <a:spLocks noGrp="1"/>
          </p:cNvSpPr>
          <p:nvPr>
            <p:ph type="sldNum" sz="quarter" idx="5"/>
          </p:nvPr>
        </p:nvSpPr>
        <p:spPr/>
        <p:txBody>
          <a:bodyPr/>
          <a:lstStyle/>
          <a:p>
            <a:fld id="{A9BCD895-FA11-734B-8E8D-8DADB5A0EBD1}" type="slidenum">
              <a:rPr lang="en-US" smtClean="0"/>
              <a:t>12</a:t>
            </a:fld>
            <a:endParaRPr lang="en-US"/>
          </a:p>
        </p:txBody>
      </p:sp>
    </p:spTree>
    <p:extLst>
      <p:ext uri="{BB962C8B-B14F-4D97-AF65-F5344CB8AC3E}">
        <p14:creationId xmlns:p14="http://schemas.microsoft.com/office/powerpoint/2010/main" val="3663730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74014-96E1-DB57-3983-8B5A7EF35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F4A73-4F68-9D28-BA5E-CABFD49E3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4A04F-6763-737D-AE91-1B8CA5B392DD}"/>
              </a:ext>
            </a:extLst>
          </p:cNvPr>
          <p:cNvSpPr>
            <a:spLocks noGrp="1"/>
          </p:cNvSpPr>
          <p:nvPr>
            <p:ph type="body" idx="1"/>
          </p:nvPr>
        </p:nvSpPr>
        <p:spPr/>
        <p:txBody>
          <a:bodyPr/>
          <a:lstStyle/>
          <a:p>
            <a:r>
              <a:rPr lang="en-US" dirty="0"/>
              <a:t>Managed </a:t>
            </a:r>
            <a:r>
              <a:rPr lang="en-US" dirty="0" err="1"/>
              <a:t>api</a:t>
            </a:r>
            <a:r>
              <a:rPr lang="en-US" dirty="0"/>
              <a:t> : </a:t>
            </a:r>
            <a:r>
              <a:rPr lang="en-US" i="1" dirty="0">
                <a:effectLst/>
                <a:latin typeface="Helvetica" pitchFamily="2" charset="0"/>
              </a:rPr>
              <a:t>They manage complexities like state and aspects of tool orchestration via API</a:t>
            </a:r>
            <a:endParaRPr lang="en-US" dirty="0">
              <a:effectLst/>
              <a:latin typeface="Helvetica" pitchFamily="2" charset="0"/>
            </a:endParaRPr>
          </a:p>
          <a:p>
            <a:r>
              <a:rPr lang="en-US" i="1" dirty="0">
                <a:effectLst/>
                <a:latin typeface="Helvetica" pitchFamily="2" charset="0"/>
              </a:rPr>
              <a:t>calls, making it easier to build sophisticated, stateful agents compared to using basic SDK features</a:t>
            </a:r>
            <a:endParaRPr lang="en-US" dirty="0">
              <a:effectLst/>
              <a:latin typeface="Helvetica" pitchFamily="2" charset="0"/>
            </a:endParaRPr>
          </a:p>
          <a:p>
            <a:r>
              <a:rPr lang="en-US" i="1" dirty="0">
                <a:effectLst/>
                <a:latin typeface="Helvetica" pitchFamily="2" charset="0"/>
              </a:rPr>
              <a:t>alone.</a:t>
            </a:r>
            <a:endParaRPr lang="en-US" dirty="0">
              <a:effectLst/>
              <a:latin typeface="Helvetica" pitchFamily="2" charset="0"/>
            </a:endParaRPr>
          </a:p>
          <a:p>
            <a:endParaRPr lang="en-US" dirty="0"/>
          </a:p>
        </p:txBody>
      </p:sp>
      <p:sp>
        <p:nvSpPr>
          <p:cNvPr id="4" name="Slide Number Placeholder 3">
            <a:extLst>
              <a:ext uri="{FF2B5EF4-FFF2-40B4-BE49-F238E27FC236}">
                <a16:creationId xmlns:a16="http://schemas.microsoft.com/office/drawing/2014/main" id="{7F8823C0-36FE-4ACF-6D95-66F622F73FBD}"/>
              </a:ext>
            </a:extLst>
          </p:cNvPr>
          <p:cNvSpPr>
            <a:spLocks noGrp="1"/>
          </p:cNvSpPr>
          <p:nvPr>
            <p:ph type="sldNum" sz="quarter" idx="5"/>
          </p:nvPr>
        </p:nvSpPr>
        <p:spPr/>
        <p:txBody>
          <a:bodyPr/>
          <a:lstStyle/>
          <a:p>
            <a:fld id="{A9BCD895-FA11-734B-8E8D-8DADB5A0EBD1}" type="slidenum">
              <a:rPr lang="en-US" smtClean="0"/>
              <a:t>13</a:t>
            </a:fld>
            <a:endParaRPr lang="en-US"/>
          </a:p>
        </p:txBody>
      </p:sp>
    </p:spTree>
    <p:extLst>
      <p:ext uri="{BB962C8B-B14F-4D97-AF65-F5344CB8AC3E}">
        <p14:creationId xmlns:p14="http://schemas.microsoft.com/office/powerpoint/2010/main" val="11300083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006F-BEA5-5FE5-3CF0-5CAAF7488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DF5CC-4D51-A6A2-6332-7C6B6CF406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AFDEB7-856E-17B2-3210-716A4A18B6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39B26-16A0-70AA-27BC-775B5217DD56}"/>
              </a:ext>
            </a:extLst>
          </p:cNvPr>
          <p:cNvSpPr>
            <a:spLocks noGrp="1"/>
          </p:cNvSpPr>
          <p:nvPr>
            <p:ph type="sldNum" sz="quarter" idx="5"/>
          </p:nvPr>
        </p:nvSpPr>
        <p:spPr/>
        <p:txBody>
          <a:bodyPr/>
          <a:lstStyle/>
          <a:p>
            <a:fld id="{A9BCD895-FA11-734B-8E8D-8DADB5A0EBD1}" type="slidenum">
              <a:rPr lang="en-US" smtClean="0"/>
              <a:t>14</a:t>
            </a:fld>
            <a:endParaRPr lang="en-US"/>
          </a:p>
        </p:txBody>
      </p:sp>
    </p:spTree>
    <p:extLst>
      <p:ext uri="{BB962C8B-B14F-4D97-AF65-F5344CB8AC3E}">
        <p14:creationId xmlns:p14="http://schemas.microsoft.com/office/powerpoint/2010/main" val="1690390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10C3A-BE68-A561-ED0A-B3CB4DF5E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F8A1B-004E-A4A7-344F-EB55987E1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DD2ED-5E5E-6888-BA58-CE451775AB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51CB4-7B53-0D97-3E6B-9B4F89E06A3F}"/>
              </a:ext>
            </a:extLst>
          </p:cNvPr>
          <p:cNvSpPr>
            <a:spLocks noGrp="1"/>
          </p:cNvSpPr>
          <p:nvPr>
            <p:ph type="sldNum" sz="quarter" idx="5"/>
          </p:nvPr>
        </p:nvSpPr>
        <p:spPr/>
        <p:txBody>
          <a:bodyPr/>
          <a:lstStyle/>
          <a:p>
            <a:fld id="{A9BCD895-FA11-734B-8E8D-8DADB5A0EBD1}" type="slidenum">
              <a:rPr lang="en-US" smtClean="0"/>
              <a:t>15</a:t>
            </a:fld>
            <a:endParaRPr lang="en-US"/>
          </a:p>
        </p:txBody>
      </p:sp>
    </p:spTree>
    <p:extLst>
      <p:ext uri="{BB962C8B-B14F-4D97-AF65-F5344CB8AC3E}">
        <p14:creationId xmlns:p14="http://schemas.microsoft.com/office/powerpoint/2010/main" val="3166661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629F1-7E76-D0BD-018F-E8A62131A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2BB01-BFE5-CB62-CBCF-19C4B0655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C0D420-D828-3ED6-4F70-F05265BC4B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98BA6D-5EB1-4CDD-5B71-344AF5A82755}"/>
              </a:ext>
            </a:extLst>
          </p:cNvPr>
          <p:cNvSpPr>
            <a:spLocks noGrp="1"/>
          </p:cNvSpPr>
          <p:nvPr>
            <p:ph type="sldNum" sz="quarter" idx="5"/>
          </p:nvPr>
        </p:nvSpPr>
        <p:spPr/>
        <p:txBody>
          <a:bodyPr/>
          <a:lstStyle/>
          <a:p>
            <a:fld id="{A9BCD895-FA11-734B-8E8D-8DADB5A0EBD1}" type="slidenum">
              <a:rPr lang="en-US" smtClean="0"/>
              <a:t>16</a:t>
            </a:fld>
            <a:endParaRPr lang="en-US"/>
          </a:p>
        </p:txBody>
      </p:sp>
    </p:spTree>
    <p:extLst>
      <p:ext uri="{BB962C8B-B14F-4D97-AF65-F5344CB8AC3E}">
        <p14:creationId xmlns:p14="http://schemas.microsoft.com/office/powerpoint/2010/main" val="1178601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pollution when generating parameters for API calls. </a:t>
            </a:r>
          </a:p>
        </p:txBody>
      </p:sp>
      <p:sp>
        <p:nvSpPr>
          <p:cNvPr id="4" name="Slide Number Placeholder 3"/>
          <p:cNvSpPr>
            <a:spLocks noGrp="1"/>
          </p:cNvSpPr>
          <p:nvPr>
            <p:ph type="sldNum" sz="quarter" idx="5"/>
          </p:nvPr>
        </p:nvSpPr>
        <p:spPr/>
        <p:txBody>
          <a:bodyPr/>
          <a:lstStyle/>
          <a:p>
            <a:fld id="{A9BCD895-FA11-734B-8E8D-8DADB5A0EBD1}" type="slidenum">
              <a:rPr lang="en-US" smtClean="0"/>
              <a:t>24</a:t>
            </a:fld>
            <a:endParaRPr lang="en-US"/>
          </a:p>
        </p:txBody>
      </p:sp>
    </p:spTree>
    <p:extLst>
      <p:ext uri="{BB962C8B-B14F-4D97-AF65-F5344CB8AC3E}">
        <p14:creationId xmlns:p14="http://schemas.microsoft.com/office/powerpoint/2010/main" val="3301620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9334-52A2-1F41-200F-BCE224FD8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824BA-60FB-86A5-5300-36F3CA46B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9C135F-E775-1482-672E-415CC4A60C03}"/>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44DEE49A-3A2B-8732-1CA7-CA98ADFE3DE1}"/>
              </a:ext>
            </a:extLst>
          </p:cNvPr>
          <p:cNvSpPr>
            <a:spLocks noGrp="1"/>
          </p:cNvSpPr>
          <p:nvPr>
            <p:ph type="sldNum" sz="quarter" idx="5"/>
          </p:nvPr>
        </p:nvSpPr>
        <p:spPr/>
        <p:txBody>
          <a:bodyPr/>
          <a:lstStyle/>
          <a:p>
            <a:fld id="{A9BCD895-FA11-734B-8E8D-8DADB5A0EBD1}" type="slidenum">
              <a:rPr lang="en-US" smtClean="0"/>
              <a:t>26</a:t>
            </a:fld>
            <a:endParaRPr lang="en-US"/>
          </a:p>
        </p:txBody>
      </p:sp>
    </p:spTree>
    <p:extLst>
      <p:ext uri="{BB962C8B-B14F-4D97-AF65-F5344CB8AC3E}">
        <p14:creationId xmlns:p14="http://schemas.microsoft.com/office/powerpoint/2010/main" val="583367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EC686-30A8-6F9C-13FA-2524AE75C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8C0D9-E663-2F57-BDD8-07A4B898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C6F73D-6A05-053F-557D-99F445C330DC}"/>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97110778-E751-56BA-3FD4-E82C323A1CC3}"/>
              </a:ext>
            </a:extLst>
          </p:cNvPr>
          <p:cNvSpPr>
            <a:spLocks noGrp="1"/>
          </p:cNvSpPr>
          <p:nvPr>
            <p:ph type="sldNum" sz="quarter" idx="5"/>
          </p:nvPr>
        </p:nvSpPr>
        <p:spPr/>
        <p:txBody>
          <a:bodyPr/>
          <a:lstStyle/>
          <a:p>
            <a:fld id="{A9BCD895-FA11-734B-8E8D-8DADB5A0EBD1}" type="slidenum">
              <a:rPr lang="en-US" smtClean="0"/>
              <a:t>27</a:t>
            </a:fld>
            <a:endParaRPr lang="en-US"/>
          </a:p>
        </p:txBody>
      </p:sp>
    </p:spTree>
    <p:extLst>
      <p:ext uri="{BB962C8B-B14F-4D97-AF65-F5344CB8AC3E}">
        <p14:creationId xmlns:p14="http://schemas.microsoft.com/office/powerpoint/2010/main" val="3893577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BD3B-9F9C-9C1D-5F51-E1DD7DF1E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8F192-3031-43BB-AB42-9103396B8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48F6EE-DF45-7D5A-FCD0-479EDEC29012}"/>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A5DFB97B-030C-5018-4E5A-9CDF890A8F41}"/>
              </a:ext>
            </a:extLst>
          </p:cNvPr>
          <p:cNvSpPr>
            <a:spLocks noGrp="1"/>
          </p:cNvSpPr>
          <p:nvPr>
            <p:ph type="sldNum" sz="quarter" idx="5"/>
          </p:nvPr>
        </p:nvSpPr>
        <p:spPr/>
        <p:txBody>
          <a:bodyPr/>
          <a:lstStyle/>
          <a:p>
            <a:fld id="{A9BCD895-FA11-734B-8E8D-8DADB5A0EBD1}" type="slidenum">
              <a:rPr lang="en-US" smtClean="0"/>
              <a:t>28</a:t>
            </a:fld>
            <a:endParaRPr lang="en-US"/>
          </a:p>
        </p:txBody>
      </p:sp>
    </p:spTree>
    <p:extLst>
      <p:ext uri="{BB962C8B-B14F-4D97-AF65-F5344CB8AC3E}">
        <p14:creationId xmlns:p14="http://schemas.microsoft.com/office/powerpoint/2010/main" val="4113327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01968-6D06-97FF-145A-37CFF9F0C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2F25C-5727-268E-06BB-C2C0CD403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EBA675-A9C9-91CE-FE2D-1B3E0CAE1762}"/>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31AFAD70-84A3-F91B-7DA5-4E6375C0F5F3}"/>
              </a:ext>
            </a:extLst>
          </p:cNvPr>
          <p:cNvSpPr>
            <a:spLocks noGrp="1"/>
          </p:cNvSpPr>
          <p:nvPr>
            <p:ph type="sldNum" sz="quarter" idx="5"/>
          </p:nvPr>
        </p:nvSpPr>
        <p:spPr/>
        <p:txBody>
          <a:bodyPr/>
          <a:lstStyle/>
          <a:p>
            <a:fld id="{A9BCD895-FA11-734B-8E8D-8DADB5A0EBD1}" type="slidenum">
              <a:rPr lang="en-US" smtClean="0"/>
              <a:t>29</a:t>
            </a:fld>
            <a:endParaRPr lang="en-US"/>
          </a:p>
        </p:txBody>
      </p:sp>
    </p:spTree>
    <p:extLst>
      <p:ext uri="{BB962C8B-B14F-4D97-AF65-F5344CB8AC3E}">
        <p14:creationId xmlns:p14="http://schemas.microsoft.com/office/powerpoint/2010/main" val="17534892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59746-41CD-E5EC-8B85-6BA435177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50503-DBA5-8A3E-1C21-3818CB759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6E6B8-4FF7-8295-0C4F-4F396D62BF79}"/>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82254F85-2A21-E843-C452-9BB8C81C6B56}"/>
              </a:ext>
            </a:extLst>
          </p:cNvPr>
          <p:cNvSpPr>
            <a:spLocks noGrp="1"/>
          </p:cNvSpPr>
          <p:nvPr>
            <p:ph type="sldNum" sz="quarter" idx="5"/>
          </p:nvPr>
        </p:nvSpPr>
        <p:spPr/>
        <p:txBody>
          <a:bodyPr/>
          <a:lstStyle/>
          <a:p>
            <a:fld id="{A9BCD895-FA11-734B-8E8D-8DADB5A0EBD1}" type="slidenum">
              <a:rPr lang="en-US" smtClean="0"/>
              <a:t>30</a:t>
            </a:fld>
            <a:endParaRPr lang="en-US"/>
          </a:p>
        </p:txBody>
      </p:sp>
    </p:spTree>
    <p:extLst>
      <p:ext uri="{BB962C8B-B14F-4D97-AF65-F5344CB8AC3E}">
        <p14:creationId xmlns:p14="http://schemas.microsoft.com/office/powerpoint/2010/main" val="1631864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8D570-D9CF-8256-6CFE-216866DE0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19AAB-2CFB-3300-FBE8-EAD2BFA6E6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F25C39-6F3B-424C-D6A6-5EED233C4F52}"/>
              </a:ext>
            </a:extLst>
          </p:cNvPr>
          <p:cNvSpPr>
            <a:spLocks noGrp="1"/>
          </p:cNvSpPr>
          <p:nvPr>
            <p:ph type="body" idx="1"/>
          </p:nvPr>
        </p:nvSpPr>
        <p:spPr/>
        <p:txBody>
          <a:bodyPr/>
          <a:lstStyle/>
          <a:p>
            <a:r>
              <a:rPr lang="en-US" dirty="0"/>
              <a:t>Parameter pollution when generating parameters for API calls. </a:t>
            </a:r>
          </a:p>
          <a:p>
            <a:endParaRPr lang="en-US" dirty="0"/>
          </a:p>
          <a:p>
            <a:endParaRPr lang="en-US" dirty="0"/>
          </a:p>
          <a:p>
            <a:r>
              <a:rPr lang="en-US" i="1" dirty="0">
                <a:effectLst/>
                <a:latin typeface="Helvetica" pitchFamily="2" charset="0"/>
              </a:rPr>
              <a:t>Plan how to neutralize potentially malicious content (e.g.,</a:t>
            </a:r>
            <a:endParaRPr lang="en-US" dirty="0">
              <a:effectLst/>
              <a:latin typeface="Helvetica" pitchFamily="2" charset="0"/>
            </a:endParaRPr>
          </a:p>
          <a:p>
            <a:r>
              <a:rPr lang="en-US" i="1" dirty="0">
                <a:effectLst/>
                <a:latin typeface="Helvetica" pitchFamily="2" charset="0"/>
              </a:rPr>
              <a:t>scripts, HTML) in LLM outputs before rendering or passing to other systems. Consider</a:t>
            </a:r>
            <a:endParaRPr lang="en-US" dirty="0">
              <a:effectLst/>
              <a:latin typeface="Helvetica" pitchFamily="2" charset="0"/>
            </a:endParaRPr>
          </a:p>
          <a:p>
            <a:r>
              <a:rPr lang="en-US" i="1" dirty="0">
                <a:effectLst/>
                <a:latin typeface="Helvetica" pitchFamily="2" charset="0"/>
              </a:rPr>
              <a:t>context (e.g., rendering in a browser vs. saving to a database), dropping outputs with</a:t>
            </a:r>
            <a:endParaRPr lang="en-US" dirty="0">
              <a:effectLst/>
              <a:latin typeface="Helvetica" pitchFamily="2" charset="0"/>
            </a:endParaRPr>
          </a:p>
          <a:p>
            <a:r>
              <a:rPr lang="en-US" i="1" dirty="0">
                <a:effectLst/>
                <a:latin typeface="Helvetica" pitchFamily="2" charset="0"/>
              </a:rPr>
              <a:t>suspicious content, blocking payloads that do not match expected structure, and</a:t>
            </a:r>
            <a:endParaRPr lang="en-US" dirty="0">
              <a:effectLst/>
              <a:latin typeface="Helvetica" pitchFamily="2" charset="0"/>
            </a:endParaRPr>
          </a:p>
          <a:p>
            <a:r>
              <a:rPr lang="en-US" i="1" dirty="0">
                <a:effectLst/>
                <a:latin typeface="Helvetica" pitchFamily="2" charset="0"/>
              </a:rPr>
              <a:t>disallowing further propagation of injected payloads (i.e., ensuring the malicious input does</a:t>
            </a:r>
            <a:endParaRPr lang="en-US" dirty="0">
              <a:effectLst/>
              <a:latin typeface="Helvetica" pitchFamily="2" charset="0"/>
            </a:endParaRPr>
          </a:p>
          <a:p>
            <a:r>
              <a:rPr lang="en-US" i="1" dirty="0">
                <a:effectLst/>
                <a:latin typeface="Helvetica" pitchFamily="2" charset="0"/>
              </a:rPr>
              <a:t>not spread or get reused by the Agent or its environment. Use WAFs where possible.</a:t>
            </a:r>
            <a:endParaRPr lang="en-US" dirty="0">
              <a:effectLst/>
              <a:latin typeface="Helvetica" pitchFamily="2" charset="0"/>
            </a:endParaRPr>
          </a:p>
          <a:p>
            <a:r>
              <a:rPr lang="en-US" i="1" dirty="0">
                <a:effectLst/>
                <a:latin typeface="Helvetica" pitchFamily="2" charset="0"/>
              </a:rPr>
              <a:t>■ Examples: JSON schema; custom filters that enforce allowed fields/types/values</a:t>
            </a:r>
            <a:endParaRPr lang="en-US" dirty="0">
              <a:effectLst/>
              <a:latin typeface="Helvetica" pitchFamily="2" charset="0"/>
            </a:endParaRPr>
          </a:p>
          <a:p>
            <a:r>
              <a:rPr lang="en-US" i="1" dirty="0">
                <a:effectLst/>
                <a:latin typeface="Helvetica" pitchFamily="2" charset="0"/>
              </a:rPr>
              <a:t>(depending on the use case and without being too restrictive).</a:t>
            </a:r>
            <a:endParaRPr lang="en-US" dirty="0">
              <a:effectLst/>
              <a:latin typeface="Helvetica" pitchFamily="2" charset="0"/>
            </a:endParaRPr>
          </a:p>
          <a:p>
            <a:endParaRPr lang="en-US" dirty="0"/>
          </a:p>
        </p:txBody>
      </p:sp>
      <p:sp>
        <p:nvSpPr>
          <p:cNvPr id="4" name="Slide Number Placeholder 3">
            <a:extLst>
              <a:ext uri="{FF2B5EF4-FFF2-40B4-BE49-F238E27FC236}">
                <a16:creationId xmlns:a16="http://schemas.microsoft.com/office/drawing/2014/main" id="{D65C85F4-7154-1679-26C5-AB57A7B2D98C}"/>
              </a:ext>
            </a:extLst>
          </p:cNvPr>
          <p:cNvSpPr>
            <a:spLocks noGrp="1"/>
          </p:cNvSpPr>
          <p:nvPr>
            <p:ph type="sldNum" sz="quarter" idx="5"/>
          </p:nvPr>
        </p:nvSpPr>
        <p:spPr/>
        <p:txBody>
          <a:bodyPr/>
          <a:lstStyle/>
          <a:p>
            <a:fld id="{A9BCD895-FA11-734B-8E8D-8DADB5A0EBD1}" type="slidenum">
              <a:rPr lang="en-US" smtClean="0"/>
              <a:t>31</a:t>
            </a:fld>
            <a:endParaRPr lang="en-US"/>
          </a:p>
        </p:txBody>
      </p:sp>
    </p:spTree>
    <p:extLst>
      <p:ext uri="{BB962C8B-B14F-4D97-AF65-F5344CB8AC3E}">
        <p14:creationId xmlns:p14="http://schemas.microsoft.com/office/powerpoint/2010/main" val="721927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30A2A-4E40-E0B9-CB0F-290131836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64BBB-D069-333A-8FA5-B44938C383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7F9CC-7932-591F-0E0B-29E9C4AEFD1E}"/>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7072212-138A-93CE-0D7E-CF5FB917CA8E}"/>
              </a:ext>
            </a:extLst>
          </p:cNvPr>
          <p:cNvSpPr>
            <a:spLocks noGrp="1"/>
          </p:cNvSpPr>
          <p:nvPr>
            <p:ph type="sldNum" sz="quarter" idx="5"/>
          </p:nvPr>
        </p:nvSpPr>
        <p:spPr/>
        <p:txBody>
          <a:bodyPr/>
          <a:lstStyle/>
          <a:p>
            <a:fld id="{A9BCD895-FA11-734B-8E8D-8DADB5A0EBD1}" type="slidenum">
              <a:rPr lang="en-US" smtClean="0"/>
              <a:t>32</a:t>
            </a:fld>
            <a:endParaRPr lang="en-US"/>
          </a:p>
        </p:txBody>
      </p:sp>
    </p:spTree>
    <p:extLst>
      <p:ext uri="{BB962C8B-B14F-4D97-AF65-F5344CB8AC3E}">
        <p14:creationId xmlns:p14="http://schemas.microsoft.com/office/powerpoint/2010/main" val="652092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39A3E-14D8-814D-352D-9362E16D72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45DC1-8BE2-DA02-0EC8-42262EB80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DAE5D-30A3-EC3A-A67D-AD547580C09E}"/>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110356CA-D9C1-143A-012C-4786702F8422}"/>
              </a:ext>
            </a:extLst>
          </p:cNvPr>
          <p:cNvSpPr>
            <a:spLocks noGrp="1"/>
          </p:cNvSpPr>
          <p:nvPr>
            <p:ph type="sldNum" sz="quarter" idx="5"/>
          </p:nvPr>
        </p:nvSpPr>
        <p:spPr/>
        <p:txBody>
          <a:bodyPr/>
          <a:lstStyle/>
          <a:p>
            <a:fld id="{A9BCD895-FA11-734B-8E8D-8DADB5A0EBD1}" type="slidenum">
              <a:rPr lang="en-US" smtClean="0"/>
              <a:t>34</a:t>
            </a:fld>
            <a:endParaRPr lang="en-US"/>
          </a:p>
        </p:txBody>
      </p:sp>
    </p:spTree>
    <p:extLst>
      <p:ext uri="{BB962C8B-B14F-4D97-AF65-F5344CB8AC3E}">
        <p14:creationId xmlns:p14="http://schemas.microsoft.com/office/powerpoint/2010/main" val="38726728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7AB9-F96C-6C86-441F-79FF9422FE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A02DC-9F1A-D3FE-246E-114C0F6EE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93722-C944-76C0-D005-29760C31F415}"/>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826C210-D597-18CD-5F90-63127E791C79}"/>
              </a:ext>
            </a:extLst>
          </p:cNvPr>
          <p:cNvSpPr>
            <a:spLocks noGrp="1"/>
          </p:cNvSpPr>
          <p:nvPr>
            <p:ph type="sldNum" sz="quarter" idx="5"/>
          </p:nvPr>
        </p:nvSpPr>
        <p:spPr/>
        <p:txBody>
          <a:bodyPr/>
          <a:lstStyle/>
          <a:p>
            <a:fld id="{A9BCD895-FA11-734B-8E8D-8DADB5A0EBD1}" type="slidenum">
              <a:rPr lang="en-US" smtClean="0"/>
              <a:t>35</a:t>
            </a:fld>
            <a:endParaRPr lang="en-US"/>
          </a:p>
        </p:txBody>
      </p:sp>
    </p:spTree>
    <p:extLst>
      <p:ext uri="{BB962C8B-B14F-4D97-AF65-F5344CB8AC3E}">
        <p14:creationId xmlns:p14="http://schemas.microsoft.com/office/powerpoint/2010/main" val="3508521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393D4-4CBE-0935-3CAA-28FECA2EB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989CC-5BA8-CDE2-5150-C65E947FF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312367-415B-B8FE-4748-FA661C80D33C}"/>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97C311F7-E7B4-D6F5-28B5-07027DEA2BCC}"/>
              </a:ext>
            </a:extLst>
          </p:cNvPr>
          <p:cNvSpPr>
            <a:spLocks noGrp="1"/>
          </p:cNvSpPr>
          <p:nvPr>
            <p:ph type="sldNum" sz="quarter" idx="5"/>
          </p:nvPr>
        </p:nvSpPr>
        <p:spPr/>
        <p:txBody>
          <a:bodyPr/>
          <a:lstStyle/>
          <a:p>
            <a:fld id="{A9BCD895-FA11-734B-8E8D-8DADB5A0EBD1}" type="slidenum">
              <a:rPr lang="en-US" smtClean="0"/>
              <a:t>36</a:t>
            </a:fld>
            <a:endParaRPr lang="en-US"/>
          </a:p>
        </p:txBody>
      </p:sp>
    </p:spTree>
    <p:extLst>
      <p:ext uri="{BB962C8B-B14F-4D97-AF65-F5344CB8AC3E}">
        <p14:creationId xmlns:p14="http://schemas.microsoft.com/office/powerpoint/2010/main" val="36905221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6F05E-754F-0AD0-7860-12A5F24321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F99CF-0692-BFA3-AB10-45F905C39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B6716-AA15-34C0-2169-949820E225A0}"/>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0F267824-D50D-59AA-0ECB-1E6AE4EBCAB2}"/>
              </a:ext>
            </a:extLst>
          </p:cNvPr>
          <p:cNvSpPr>
            <a:spLocks noGrp="1"/>
          </p:cNvSpPr>
          <p:nvPr>
            <p:ph type="sldNum" sz="quarter" idx="5"/>
          </p:nvPr>
        </p:nvSpPr>
        <p:spPr/>
        <p:txBody>
          <a:bodyPr/>
          <a:lstStyle/>
          <a:p>
            <a:fld id="{A9BCD895-FA11-734B-8E8D-8DADB5A0EBD1}" type="slidenum">
              <a:rPr lang="en-US" smtClean="0"/>
              <a:t>37</a:t>
            </a:fld>
            <a:endParaRPr lang="en-US"/>
          </a:p>
        </p:txBody>
      </p:sp>
    </p:spTree>
    <p:extLst>
      <p:ext uri="{BB962C8B-B14F-4D97-AF65-F5344CB8AC3E}">
        <p14:creationId xmlns:p14="http://schemas.microsoft.com/office/powerpoint/2010/main" val="946036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60C6B-7D14-FC25-4849-D7B8B595D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64331-D2DE-A565-C526-95246D9482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B7319-4430-30A7-BA1D-CB94201DCAB8}"/>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BDA56974-AF3F-F732-5ECF-7496EBC8CF6D}"/>
              </a:ext>
            </a:extLst>
          </p:cNvPr>
          <p:cNvSpPr>
            <a:spLocks noGrp="1"/>
          </p:cNvSpPr>
          <p:nvPr>
            <p:ph type="sldNum" sz="quarter" idx="5"/>
          </p:nvPr>
        </p:nvSpPr>
        <p:spPr/>
        <p:txBody>
          <a:bodyPr/>
          <a:lstStyle/>
          <a:p>
            <a:fld id="{A9BCD895-FA11-734B-8E8D-8DADB5A0EBD1}" type="slidenum">
              <a:rPr lang="en-US" smtClean="0"/>
              <a:t>38</a:t>
            </a:fld>
            <a:endParaRPr lang="en-US"/>
          </a:p>
        </p:txBody>
      </p:sp>
    </p:spTree>
    <p:extLst>
      <p:ext uri="{BB962C8B-B14F-4D97-AF65-F5344CB8AC3E}">
        <p14:creationId xmlns:p14="http://schemas.microsoft.com/office/powerpoint/2010/main" val="813471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3BAE-99B6-1237-CE52-572BACA1E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D9BD8-83F3-8DA6-BA3A-DE43B3213D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8C938-4898-2591-1581-D789A1B042B8}"/>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E51AD6A9-3C62-25E6-CC58-470FD0DE0D11}"/>
              </a:ext>
            </a:extLst>
          </p:cNvPr>
          <p:cNvSpPr>
            <a:spLocks noGrp="1"/>
          </p:cNvSpPr>
          <p:nvPr>
            <p:ph type="sldNum" sz="quarter" idx="5"/>
          </p:nvPr>
        </p:nvSpPr>
        <p:spPr/>
        <p:txBody>
          <a:bodyPr/>
          <a:lstStyle/>
          <a:p>
            <a:fld id="{A9BCD895-FA11-734B-8E8D-8DADB5A0EBD1}" type="slidenum">
              <a:rPr lang="en-US" smtClean="0"/>
              <a:t>39</a:t>
            </a:fld>
            <a:endParaRPr lang="en-US"/>
          </a:p>
        </p:txBody>
      </p:sp>
    </p:spTree>
    <p:extLst>
      <p:ext uri="{BB962C8B-B14F-4D97-AF65-F5344CB8AC3E}">
        <p14:creationId xmlns:p14="http://schemas.microsoft.com/office/powerpoint/2010/main" val="2532193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71BF5-9141-1E7D-C0BF-FE1E2792E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4C369-7D40-0809-9697-271084916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58F15-7E07-C083-4ABF-9752F02A4FE8}"/>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9559ED48-DB37-8D07-2F46-947924E3E524}"/>
              </a:ext>
            </a:extLst>
          </p:cNvPr>
          <p:cNvSpPr>
            <a:spLocks noGrp="1"/>
          </p:cNvSpPr>
          <p:nvPr>
            <p:ph type="sldNum" sz="quarter" idx="5"/>
          </p:nvPr>
        </p:nvSpPr>
        <p:spPr/>
        <p:txBody>
          <a:bodyPr/>
          <a:lstStyle/>
          <a:p>
            <a:fld id="{A9BCD895-FA11-734B-8E8D-8DADB5A0EBD1}" type="slidenum">
              <a:rPr lang="en-US" smtClean="0"/>
              <a:t>40</a:t>
            </a:fld>
            <a:endParaRPr lang="en-US"/>
          </a:p>
        </p:txBody>
      </p:sp>
    </p:spTree>
    <p:extLst>
      <p:ext uri="{BB962C8B-B14F-4D97-AF65-F5344CB8AC3E}">
        <p14:creationId xmlns:p14="http://schemas.microsoft.com/office/powerpoint/2010/main" val="2249781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A2219-25EA-ADE5-511F-1D036515A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33184-B12C-5AB3-DEDC-F2B640565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09F2D6-F1B1-B59D-CB34-172DB5A6FDD5}"/>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134E7CCD-944A-2DFF-C9C7-1D4BC921312D}"/>
              </a:ext>
            </a:extLst>
          </p:cNvPr>
          <p:cNvSpPr>
            <a:spLocks noGrp="1"/>
          </p:cNvSpPr>
          <p:nvPr>
            <p:ph type="sldNum" sz="quarter" idx="5"/>
          </p:nvPr>
        </p:nvSpPr>
        <p:spPr/>
        <p:txBody>
          <a:bodyPr/>
          <a:lstStyle/>
          <a:p>
            <a:fld id="{A9BCD895-FA11-734B-8E8D-8DADB5A0EBD1}" type="slidenum">
              <a:rPr lang="en-US" smtClean="0"/>
              <a:t>41</a:t>
            </a:fld>
            <a:endParaRPr lang="en-US"/>
          </a:p>
        </p:txBody>
      </p:sp>
    </p:spTree>
    <p:extLst>
      <p:ext uri="{BB962C8B-B14F-4D97-AF65-F5344CB8AC3E}">
        <p14:creationId xmlns:p14="http://schemas.microsoft.com/office/powerpoint/2010/main" val="18145373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agentic systems require continuous behavioral monitoring that extends far beyond performance metrics. </a:t>
            </a:r>
            <a:r>
              <a:rPr lang="en-US" b="1" dirty="0"/>
              <a:t>Runtime observability </a:t>
            </a:r>
            <a:r>
              <a:rPr lang="en-US" dirty="0"/>
              <a:t>must capture decisions, plan evolution, memory access patterns, and agent tool interactions. </a:t>
            </a:r>
            <a:r>
              <a:rPr lang="en-US" b="1" dirty="0"/>
              <a:t>Behavioral drift—</a:t>
            </a:r>
            <a:r>
              <a:rPr lang="en-US" dirty="0"/>
              <a:t>such as deviation from expected plans or misuse of tools—must trigger alerts or invoke safeguards. Agents should log timestamped reasoning traces for post-incident analysis, and operators must retain real-time override capabilities. Monitoring should create trust through full visibility into agent behavior, particularly around memory usage, planning shifts, and inter-agent communication.</a:t>
            </a:r>
          </a:p>
          <a:p>
            <a:endParaRPr lang="en-US" dirty="0"/>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42</a:t>
            </a:fld>
            <a:endParaRPr lang="en-US"/>
          </a:p>
        </p:txBody>
      </p:sp>
    </p:spTree>
    <p:extLst>
      <p:ext uri="{BB962C8B-B14F-4D97-AF65-F5344CB8AC3E}">
        <p14:creationId xmlns:p14="http://schemas.microsoft.com/office/powerpoint/2010/main" val="2567074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EB78D-A8B5-15D5-4A8A-765709164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8DB62-3CA8-0867-559F-F3046325C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D26B8-93B6-E65C-7304-C44A17489672}"/>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59CDE75C-5148-C1A1-E1CC-27978663B4AD}"/>
              </a:ext>
            </a:extLst>
          </p:cNvPr>
          <p:cNvSpPr>
            <a:spLocks noGrp="1"/>
          </p:cNvSpPr>
          <p:nvPr>
            <p:ph type="sldNum" sz="quarter" idx="5"/>
          </p:nvPr>
        </p:nvSpPr>
        <p:spPr/>
        <p:txBody>
          <a:bodyPr/>
          <a:lstStyle/>
          <a:p>
            <a:fld id="{A9BCD895-FA11-734B-8E8D-8DADB5A0EBD1}" type="slidenum">
              <a:rPr lang="en-US" smtClean="0"/>
              <a:t>43</a:t>
            </a:fld>
            <a:endParaRPr lang="en-US"/>
          </a:p>
        </p:txBody>
      </p:sp>
    </p:spTree>
    <p:extLst>
      <p:ext uri="{BB962C8B-B14F-4D97-AF65-F5344CB8AC3E}">
        <p14:creationId xmlns:p14="http://schemas.microsoft.com/office/powerpoint/2010/main" val="14592496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EF691-38A7-BFBE-AD45-77F610A7E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E98E1B-50CD-2BE4-37BC-04C3F80D8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782017-5686-4749-BC70-E9CE59936DEE}"/>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1A092EFE-2B62-6A96-738B-5DE4DF93A7B6}"/>
              </a:ext>
            </a:extLst>
          </p:cNvPr>
          <p:cNvSpPr>
            <a:spLocks noGrp="1"/>
          </p:cNvSpPr>
          <p:nvPr>
            <p:ph type="sldNum" sz="quarter" idx="5"/>
          </p:nvPr>
        </p:nvSpPr>
        <p:spPr/>
        <p:txBody>
          <a:bodyPr/>
          <a:lstStyle/>
          <a:p>
            <a:fld id="{A9BCD895-FA11-734B-8E8D-8DADB5A0EBD1}" type="slidenum">
              <a:rPr lang="en-US" smtClean="0"/>
              <a:t>44</a:t>
            </a:fld>
            <a:endParaRPr lang="en-US"/>
          </a:p>
        </p:txBody>
      </p:sp>
    </p:spTree>
    <p:extLst>
      <p:ext uri="{BB962C8B-B14F-4D97-AF65-F5344CB8AC3E}">
        <p14:creationId xmlns:p14="http://schemas.microsoft.com/office/powerpoint/2010/main" val="8001671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9984B-DA7B-F783-DD7D-FC5F23FA0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77466-8AFE-6DCF-545A-90F31C9F9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038D8-3361-4A0A-56EB-BDBA310438A7}"/>
              </a:ext>
            </a:extLst>
          </p:cNvPr>
          <p:cNvSpPr>
            <a:spLocks noGrp="1"/>
          </p:cNvSpPr>
          <p:nvPr>
            <p:ph type="body" idx="1"/>
          </p:nvPr>
        </p:nvSpPr>
        <p:spPr/>
        <p:txBody>
          <a:bodyPr/>
          <a:lstStyle/>
          <a:p>
            <a:r>
              <a:rPr lang="en-US" dirty="0"/>
              <a:t>Structured Logging : Use formats like JSON for easier automated parsing and analysis </a:t>
            </a:r>
          </a:p>
          <a:p>
            <a:endParaRPr lang="en-US" dirty="0"/>
          </a:p>
          <a:p>
            <a:r>
              <a:rPr lang="en-US" dirty="0"/>
              <a:t>Never log sensitive information: the agent should not record the following directly in the logs, but instead should remove, mask, sanitize, hash, or encrypt: ■ Application source code ■ Session identification values (consider replacing with a hashed value if needed to track session specific events) ■ Access tokens ■ Sensitive personal data and some forms of personally identifiable information (PII) e.g. health, government identifiers, vulnerable people ■ Authentication passwords ■ Database connection strings ■ Encryption keys and other primary secrets ■ Bank account or payment card holder data ■ Data of a higher security classification than the logging system is allowed to store ■ Commercially-sensitive information ■ Information it is illegal to collect in the relevant jurisdictions ■ Information a user has opted out of collection, or not consented to e.g. use of do not track, or where consent to collect has expired</a:t>
            </a:r>
          </a:p>
        </p:txBody>
      </p:sp>
      <p:sp>
        <p:nvSpPr>
          <p:cNvPr id="4" name="Slide Number Placeholder 3">
            <a:extLst>
              <a:ext uri="{FF2B5EF4-FFF2-40B4-BE49-F238E27FC236}">
                <a16:creationId xmlns:a16="http://schemas.microsoft.com/office/drawing/2014/main" id="{5FC3F3BB-B5AC-883B-ED2D-8E585358DF09}"/>
              </a:ext>
            </a:extLst>
          </p:cNvPr>
          <p:cNvSpPr>
            <a:spLocks noGrp="1"/>
          </p:cNvSpPr>
          <p:nvPr>
            <p:ph type="sldNum" sz="quarter" idx="5"/>
          </p:nvPr>
        </p:nvSpPr>
        <p:spPr/>
        <p:txBody>
          <a:bodyPr/>
          <a:lstStyle/>
          <a:p>
            <a:fld id="{A9BCD895-FA11-734B-8E8D-8DADB5A0EBD1}" type="slidenum">
              <a:rPr lang="en-US" smtClean="0"/>
              <a:t>45</a:t>
            </a:fld>
            <a:endParaRPr lang="en-US"/>
          </a:p>
        </p:txBody>
      </p:sp>
    </p:spTree>
    <p:extLst>
      <p:ext uri="{BB962C8B-B14F-4D97-AF65-F5344CB8AC3E}">
        <p14:creationId xmlns:p14="http://schemas.microsoft.com/office/powerpoint/2010/main" val="31523669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901C-AFAA-5C55-444C-D6AF78061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4875C-2149-E9E7-CE50-489AC0D15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7CAA3-11D3-C2AB-F2E5-664403E6DBEB}"/>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86CAC53D-C2D3-7E9A-6491-87A840BF2C9F}"/>
              </a:ext>
            </a:extLst>
          </p:cNvPr>
          <p:cNvSpPr>
            <a:spLocks noGrp="1"/>
          </p:cNvSpPr>
          <p:nvPr>
            <p:ph type="sldNum" sz="quarter" idx="5"/>
          </p:nvPr>
        </p:nvSpPr>
        <p:spPr/>
        <p:txBody>
          <a:bodyPr/>
          <a:lstStyle/>
          <a:p>
            <a:fld id="{A9BCD895-FA11-734B-8E8D-8DADB5A0EBD1}" type="slidenum">
              <a:rPr lang="en-US" smtClean="0"/>
              <a:t>46</a:t>
            </a:fld>
            <a:endParaRPr lang="en-US"/>
          </a:p>
        </p:txBody>
      </p:sp>
    </p:spTree>
    <p:extLst>
      <p:ext uri="{BB962C8B-B14F-4D97-AF65-F5344CB8AC3E}">
        <p14:creationId xmlns:p14="http://schemas.microsoft.com/office/powerpoint/2010/main" val="36849872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F57E3-28E4-DF94-185A-80F25761B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27789-9300-A4F2-B2DA-10380F132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09BA0-E2F2-1AF8-8D0E-DF1FE6025FC2}"/>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3F32289B-BF34-A139-61C8-7752453A6031}"/>
              </a:ext>
            </a:extLst>
          </p:cNvPr>
          <p:cNvSpPr>
            <a:spLocks noGrp="1"/>
          </p:cNvSpPr>
          <p:nvPr>
            <p:ph type="sldNum" sz="quarter" idx="5"/>
          </p:nvPr>
        </p:nvSpPr>
        <p:spPr/>
        <p:txBody>
          <a:bodyPr/>
          <a:lstStyle/>
          <a:p>
            <a:fld id="{A9BCD895-FA11-734B-8E8D-8DADB5A0EBD1}" type="slidenum">
              <a:rPr lang="en-US" smtClean="0"/>
              <a:t>47</a:t>
            </a:fld>
            <a:endParaRPr lang="en-US"/>
          </a:p>
        </p:txBody>
      </p:sp>
    </p:spTree>
    <p:extLst>
      <p:ext uri="{BB962C8B-B14F-4D97-AF65-F5344CB8AC3E}">
        <p14:creationId xmlns:p14="http://schemas.microsoft.com/office/powerpoint/2010/main" val="42421860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E898B-123E-FC2B-39CD-00BFE9E46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D99D8-9EE9-2C79-54E4-7048E7AF3F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5AA2B-6E5A-7D4E-1DAD-E4AFD47B45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C8C6E0-8F78-08FF-F155-29F667E0EDC4}"/>
              </a:ext>
            </a:extLst>
          </p:cNvPr>
          <p:cNvSpPr>
            <a:spLocks noGrp="1"/>
          </p:cNvSpPr>
          <p:nvPr>
            <p:ph type="sldNum" sz="quarter" idx="5"/>
          </p:nvPr>
        </p:nvSpPr>
        <p:spPr/>
        <p:txBody>
          <a:bodyPr/>
          <a:lstStyle/>
          <a:p>
            <a:fld id="{A9BCD895-FA11-734B-8E8D-8DADB5A0EBD1}" type="slidenum">
              <a:rPr lang="en-US" smtClean="0"/>
              <a:t>48</a:t>
            </a:fld>
            <a:endParaRPr lang="en-US"/>
          </a:p>
        </p:txBody>
      </p:sp>
    </p:spTree>
    <p:extLst>
      <p:ext uri="{BB962C8B-B14F-4D97-AF65-F5344CB8AC3E}">
        <p14:creationId xmlns:p14="http://schemas.microsoft.com/office/powerpoint/2010/main" val="12625321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16DF1-5028-712E-1529-9965058D5F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799EE2-1316-007B-0CD8-A3AE28BC4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1A06B-35BC-035B-0096-D4D8405CF10A}"/>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41A7A655-5A78-1668-DA1F-390F162A1E96}"/>
              </a:ext>
            </a:extLst>
          </p:cNvPr>
          <p:cNvSpPr>
            <a:spLocks noGrp="1"/>
          </p:cNvSpPr>
          <p:nvPr>
            <p:ph type="sldNum" sz="quarter" idx="5"/>
          </p:nvPr>
        </p:nvSpPr>
        <p:spPr/>
        <p:txBody>
          <a:bodyPr/>
          <a:lstStyle/>
          <a:p>
            <a:fld id="{A9BCD895-FA11-734B-8E8D-8DADB5A0EBD1}" type="slidenum">
              <a:rPr lang="en-US" smtClean="0"/>
              <a:t>50</a:t>
            </a:fld>
            <a:endParaRPr lang="en-US"/>
          </a:p>
        </p:txBody>
      </p:sp>
    </p:spTree>
    <p:extLst>
      <p:ext uri="{BB962C8B-B14F-4D97-AF65-F5344CB8AC3E}">
        <p14:creationId xmlns:p14="http://schemas.microsoft.com/office/powerpoint/2010/main" val="10373596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F1E4-8A9E-5B57-3077-C0C807C6E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09812-B8BD-480B-52C6-9B28449A1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CBADA2-AAA0-5CBC-04FB-29BD9992B795}"/>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3B41EA3D-5C5D-2519-A315-2D465059050C}"/>
              </a:ext>
            </a:extLst>
          </p:cNvPr>
          <p:cNvSpPr>
            <a:spLocks noGrp="1"/>
          </p:cNvSpPr>
          <p:nvPr>
            <p:ph type="sldNum" sz="quarter" idx="5"/>
          </p:nvPr>
        </p:nvSpPr>
        <p:spPr/>
        <p:txBody>
          <a:bodyPr/>
          <a:lstStyle/>
          <a:p>
            <a:fld id="{A9BCD895-FA11-734B-8E8D-8DADB5A0EBD1}" type="slidenum">
              <a:rPr lang="en-US" smtClean="0"/>
              <a:t>51</a:t>
            </a:fld>
            <a:endParaRPr lang="en-US"/>
          </a:p>
        </p:txBody>
      </p:sp>
    </p:spTree>
    <p:extLst>
      <p:ext uri="{BB962C8B-B14F-4D97-AF65-F5344CB8AC3E}">
        <p14:creationId xmlns:p14="http://schemas.microsoft.com/office/powerpoint/2010/main" val="41185213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B3ECC-344D-797C-A0E8-66957A183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C728E-1DFB-CD73-103F-17DC7852C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7B575-6185-3CAF-8862-2160F92C3EAF}"/>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D425FDA1-3FDC-5C98-110A-D43CAA4B0532}"/>
              </a:ext>
            </a:extLst>
          </p:cNvPr>
          <p:cNvSpPr>
            <a:spLocks noGrp="1"/>
          </p:cNvSpPr>
          <p:nvPr>
            <p:ph type="sldNum" sz="quarter" idx="5"/>
          </p:nvPr>
        </p:nvSpPr>
        <p:spPr/>
        <p:txBody>
          <a:bodyPr/>
          <a:lstStyle/>
          <a:p>
            <a:fld id="{A9BCD895-FA11-734B-8E8D-8DADB5A0EBD1}" type="slidenum">
              <a:rPr lang="en-US" smtClean="0"/>
              <a:t>52</a:t>
            </a:fld>
            <a:endParaRPr lang="en-US"/>
          </a:p>
        </p:txBody>
      </p:sp>
    </p:spTree>
    <p:extLst>
      <p:ext uri="{BB962C8B-B14F-4D97-AF65-F5344CB8AC3E}">
        <p14:creationId xmlns:p14="http://schemas.microsoft.com/office/powerpoint/2010/main" val="39714566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FF0D-7401-7BCB-8D75-F64DAF144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ABD93-6148-F74E-D286-319E4E19C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31AF0-012F-7E59-C52F-82F5DC8C243C}"/>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64932A5F-1487-665D-A3C3-747039D0378A}"/>
              </a:ext>
            </a:extLst>
          </p:cNvPr>
          <p:cNvSpPr>
            <a:spLocks noGrp="1"/>
          </p:cNvSpPr>
          <p:nvPr>
            <p:ph type="sldNum" sz="quarter" idx="5"/>
          </p:nvPr>
        </p:nvSpPr>
        <p:spPr/>
        <p:txBody>
          <a:bodyPr/>
          <a:lstStyle/>
          <a:p>
            <a:fld id="{A9BCD895-FA11-734B-8E8D-8DADB5A0EBD1}" type="slidenum">
              <a:rPr lang="en-US" smtClean="0"/>
              <a:t>53</a:t>
            </a:fld>
            <a:endParaRPr lang="en-US"/>
          </a:p>
        </p:txBody>
      </p:sp>
    </p:spTree>
    <p:extLst>
      <p:ext uri="{BB962C8B-B14F-4D97-AF65-F5344CB8AC3E}">
        <p14:creationId xmlns:p14="http://schemas.microsoft.com/office/powerpoint/2010/main" val="327293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22390-37AA-A2C3-43AE-C34E4FF45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673BD-1086-B8B9-8C14-F641424ED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A53A1-1DB6-4879-5942-74D8BD56D0AF}"/>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955367A-76D6-043E-3D35-DFEA24A60564}"/>
              </a:ext>
            </a:extLst>
          </p:cNvPr>
          <p:cNvSpPr>
            <a:spLocks noGrp="1"/>
          </p:cNvSpPr>
          <p:nvPr>
            <p:ph type="sldNum" sz="quarter" idx="5"/>
          </p:nvPr>
        </p:nvSpPr>
        <p:spPr/>
        <p:txBody>
          <a:bodyPr/>
          <a:lstStyle/>
          <a:p>
            <a:fld id="{A9BCD895-FA11-734B-8E8D-8DADB5A0EBD1}" type="slidenum">
              <a:rPr lang="en-US" smtClean="0"/>
              <a:t>54</a:t>
            </a:fld>
            <a:endParaRPr lang="en-US"/>
          </a:p>
        </p:txBody>
      </p:sp>
    </p:spTree>
    <p:extLst>
      <p:ext uri="{BB962C8B-B14F-4D97-AF65-F5344CB8AC3E}">
        <p14:creationId xmlns:p14="http://schemas.microsoft.com/office/powerpoint/2010/main" val="1260883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08D8-8DF5-2D29-5C40-3BA77EA35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AB340-16F2-16E3-935B-E19B7567C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D7AF8-7E7D-BAC9-72BD-C6A0C96E633A}"/>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6FB2BC71-03E7-F92C-49BF-D08DE29E59D3}"/>
              </a:ext>
            </a:extLst>
          </p:cNvPr>
          <p:cNvSpPr>
            <a:spLocks noGrp="1"/>
          </p:cNvSpPr>
          <p:nvPr>
            <p:ph type="sldNum" sz="quarter" idx="5"/>
          </p:nvPr>
        </p:nvSpPr>
        <p:spPr/>
        <p:txBody>
          <a:bodyPr/>
          <a:lstStyle/>
          <a:p>
            <a:fld id="{A9BCD895-FA11-734B-8E8D-8DADB5A0EBD1}" type="slidenum">
              <a:rPr lang="en-US" smtClean="0"/>
              <a:t>56</a:t>
            </a:fld>
            <a:endParaRPr lang="en-US"/>
          </a:p>
        </p:txBody>
      </p:sp>
    </p:spTree>
    <p:extLst>
      <p:ext uri="{BB962C8B-B14F-4D97-AF65-F5344CB8AC3E}">
        <p14:creationId xmlns:p14="http://schemas.microsoft.com/office/powerpoint/2010/main" val="3556653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4631-696E-524B-5BF7-ACD985FF2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C3958-D600-80C4-AE8F-13E08E4B8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56146-42B4-20E6-9897-27A0444DA4F9}"/>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464A720-2C81-C5CC-2AD0-2109C59D8BBF}"/>
              </a:ext>
            </a:extLst>
          </p:cNvPr>
          <p:cNvSpPr>
            <a:spLocks noGrp="1"/>
          </p:cNvSpPr>
          <p:nvPr>
            <p:ph type="sldNum" sz="quarter" idx="5"/>
          </p:nvPr>
        </p:nvSpPr>
        <p:spPr/>
        <p:txBody>
          <a:bodyPr/>
          <a:lstStyle/>
          <a:p>
            <a:fld id="{A9BCD895-FA11-734B-8E8D-8DADB5A0EBD1}" type="slidenum">
              <a:rPr lang="en-US" smtClean="0"/>
              <a:t>57</a:t>
            </a:fld>
            <a:endParaRPr lang="en-US"/>
          </a:p>
        </p:txBody>
      </p:sp>
    </p:spTree>
    <p:extLst>
      <p:ext uri="{BB962C8B-B14F-4D97-AF65-F5344CB8AC3E}">
        <p14:creationId xmlns:p14="http://schemas.microsoft.com/office/powerpoint/2010/main" val="38559313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2BBD4-84E6-D978-AA34-D94A204188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5F03C-34B2-4F6C-93DF-A56BFD6E4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5A462-F941-369F-2FF6-F816AC054E9B}"/>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5F56A29F-A77E-2439-3FA2-E114E3D82CDA}"/>
              </a:ext>
            </a:extLst>
          </p:cNvPr>
          <p:cNvSpPr>
            <a:spLocks noGrp="1"/>
          </p:cNvSpPr>
          <p:nvPr>
            <p:ph type="sldNum" sz="quarter" idx="5"/>
          </p:nvPr>
        </p:nvSpPr>
        <p:spPr/>
        <p:txBody>
          <a:bodyPr/>
          <a:lstStyle/>
          <a:p>
            <a:fld id="{A9BCD895-FA11-734B-8E8D-8DADB5A0EBD1}" type="slidenum">
              <a:rPr lang="en-US" smtClean="0"/>
              <a:t>58</a:t>
            </a:fld>
            <a:endParaRPr lang="en-US"/>
          </a:p>
        </p:txBody>
      </p:sp>
    </p:spTree>
    <p:extLst>
      <p:ext uri="{BB962C8B-B14F-4D97-AF65-F5344CB8AC3E}">
        <p14:creationId xmlns:p14="http://schemas.microsoft.com/office/powerpoint/2010/main" val="32079684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F5B44-A2AE-B9F5-5EA7-D22A6FD78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6C252-7B2F-80AD-33FD-9383B591A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B660E-8D82-EE21-CA79-9DB565A53260}"/>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AA5AA243-25B0-8B96-C70F-2DBF359E0BD5}"/>
              </a:ext>
            </a:extLst>
          </p:cNvPr>
          <p:cNvSpPr>
            <a:spLocks noGrp="1"/>
          </p:cNvSpPr>
          <p:nvPr>
            <p:ph type="sldNum" sz="quarter" idx="5"/>
          </p:nvPr>
        </p:nvSpPr>
        <p:spPr/>
        <p:txBody>
          <a:bodyPr/>
          <a:lstStyle/>
          <a:p>
            <a:fld id="{A9BCD895-FA11-734B-8E8D-8DADB5A0EBD1}" type="slidenum">
              <a:rPr lang="en-US" smtClean="0"/>
              <a:t>59</a:t>
            </a:fld>
            <a:endParaRPr lang="en-US"/>
          </a:p>
        </p:txBody>
      </p:sp>
    </p:spTree>
    <p:extLst>
      <p:ext uri="{BB962C8B-B14F-4D97-AF65-F5344CB8AC3E}">
        <p14:creationId xmlns:p14="http://schemas.microsoft.com/office/powerpoint/2010/main" val="39488961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F7674-60EE-F1EB-8EA5-02B70D049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4093B-40DE-A99A-9272-1758B39EA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D406C-8BD0-BE4E-8165-0559D6447FC6}"/>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2485147-CEC0-8BDD-D11C-439747B41EDC}"/>
              </a:ext>
            </a:extLst>
          </p:cNvPr>
          <p:cNvSpPr>
            <a:spLocks noGrp="1"/>
          </p:cNvSpPr>
          <p:nvPr>
            <p:ph type="sldNum" sz="quarter" idx="5"/>
          </p:nvPr>
        </p:nvSpPr>
        <p:spPr/>
        <p:txBody>
          <a:bodyPr/>
          <a:lstStyle/>
          <a:p>
            <a:fld id="{A9BCD895-FA11-734B-8E8D-8DADB5A0EBD1}" type="slidenum">
              <a:rPr lang="en-US" smtClean="0"/>
              <a:t>61</a:t>
            </a:fld>
            <a:endParaRPr lang="en-US"/>
          </a:p>
        </p:txBody>
      </p:sp>
    </p:spTree>
    <p:extLst>
      <p:ext uri="{BB962C8B-B14F-4D97-AF65-F5344CB8AC3E}">
        <p14:creationId xmlns:p14="http://schemas.microsoft.com/office/powerpoint/2010/main" val="19146628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DA60F-753B-2389-CFEC-A6C6BED9C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63C89-6F28-9E5D-A104-7D1B43356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B1E371-9AF3-F4B7-5DA6-90A7D9387DC2}"/>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341B4F9B-C7F3-80CE-333B-BEFEE098A8D7}"/>
              </a:ext>
            </a:extLst>
          </p:cNvPr>
          <p:cNvSpPr>
            <a:spLocks noGrp="1"/>
          </p:cNvSpPr>
          <p:nvPr>
            <p:ph type="sldNum" sz="quarter" idx="5"/>
          </p:nvPr>
        </p:nvSpPr>
        <p:spPr/>
        <p:txBody>
          <a:bodyPr/>
          <a:lstStyle/>
          <a:p>
            <a:fld id="{A9BCD895-FA11-734B-8E8D-8DADB5A0EBD1}" type="slidenum">
              <a:rPr lang="en-US" smtClean="0"/>
              <a:t>62</a:t>
            </a:fld>
            <a:endParaRPr lang="en-US"/>
          </a:p>
        </p:txBody>
      </p:sp>
    </p:spTree>
    <p:extLst>
      <p:ext uri="{BB962C8B-B14F-4D97-AF65-F5344CB8AC3E}">
        <p14:creationId xmlns:p14="http://schemas.microsoft.com/office/powerpoint/2010/main" val="2465831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F5D83-6C98-61FE-0D2E-01CD83454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5AE52-E347-7A76-9B35-0274F4DB12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4263-C972-BC50-0BBF-CCE1CEF3B917}"/>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B8642C6A-5EB9-0E89-B195-0B5127F86CA1}"/>
              </a:ext>
            </a:extLst>
          </p:cNvPr>
          <p:cNvSpPr>
            <a:spLocks noGrp="1"/>
          </p:cNvSpPr>
          <p:nvPr>
            <p:ph type="sldNum" sz="quarter" idx="5"/>
          </p:nvPr>
        </p:nvSpPr>
        <p:spPr/>
        <p:txBody>
          <a:bodyPr/>
          <a:lstStyle/>
          <a:p>
            <a:fld id="{A9BCD895-FA11-734B-8E8D-8DADB5A0EBD1}" type="slidenum">
              <a:rPr lang="en-US" smtClean="0"/>
              <a:t>63</a:t>
            </a:fld>
            <a:endParaRPr lang="en-US"/>
          </a:p>
        </p:txBody>
      </p:sp>
    </p:spTree>
    <p:extLst>
      <p:ext uri="{BB962C8B-B14F-4D97-AF65-F5344CB8AC3E}">
        <p14:creationId xmlns:p14="http://schemas.microsoft.com/office/powerpoint/2010/main" val="34368414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778A3-9EB8-1BE0-9E9D-514EA48CD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34855-A30B-5B67-25E4-3857FD106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3C6F9-8EE9-AAC7-922C-695561F9C53D}"/>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277D3DA6-3F90-E717-99AD-16844176AA6E}"/>
              </a:ext>
            </a:extLst>
          </p:cNvPr>
          <p:cNvSpPr>
            <a:spLocks noGrp="1"/>
          </p:cNvSpPr>
          <p:nvPr>
            <p:ph type="sldNum" sz="quarter" idx="5"/>
          </p:nvPr>
        </p:nvSpPr>
        <p:spPr/>
        <p:txBody>
          <a:bodyPr/>
          <a:lstStyle/>
          <a:p>
            <a:fld id="{A9BCD895-FA11-734B-8E8D-8DADB5A0EBD1}" type="slidenum">
              <a:rPr lang="en-US" smtClean="0"/>
              <a:t>64</a:t>
            </a:fld>
            <a:endParaRPr lang="en-US"/>
          </a:p>
        </p:txBody>
      </p:sp>
    </p:spTree>
    <p:extLst>
      <p:ext uri="{BB962C8B-B14F-4D97-AF65-F5344CB8AC3E}">
        <p14:creationId xmlns:p14="http://schemas.microsoft.com/office/powerpoint/2010/main" val="22365016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40024-5BE0-FEDB-41FD-7E990C8D2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3AD0A-0504-FAF2-7B72-90D67D770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D40E71-1005-BC38-1131-F36849847E95}"/>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FABB0817-38A0-FD58-9010-FD7B05B671CA}"/>
              </a:ext>
            </a:extLst>
          </p:cNvPr>
          <p:cNvSpPr>
            <a:spLocks noGrp="1"/>
          </p:cNvSpPr>
          <p:nvPr>
            <p:ph type="sldNum" sz="quarter" idx="5"/>
          </p:nvPr>
        </p:nvSpPr>
        <p:spPr/>
        <p:txBody>
          <a:bodyPr/>
          <a:lstStyle/>
          <a:p>
            <a:fld id="{A9BCD895-FA11-734B-8E8D-8DADB5A0EBD1}" type="slidenum">
              <a:rPr lang="en-US" smtClean="0"/>
              <a:t>66</a:t>
            </a:fld>
            <a:endParaRPr lang="en-US"/>
          </a:p>
        </p:txBody>
      </p:sp>
    </p:spTree>
    <p:extLst>
      <p:ext uri="{BB962C8B-B14F-4D97-AF65-F5344CB8AC3E}">
        <p14:creationId xmlns:p14="http://schemas.microsoft.com/office/powerpoint/2010/main" val="1784533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F1D7F-3650-AEC4-3AE2-BB6569AB7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437A20-15BD-6612-ADA5-760CC9B69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922DA-4E46-598B-25CC-31D4469F923A}"/>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75F792F7-7F8D-EEB3-57C0-6C69B23AE20F}"/>
              </a:ext>
            </a:extLst>
          </p:cNvPr>
          <p:cNvSpPr>
            <a:spLocks noGrp="1"/>
          </p:cNvSpPr>
          <p:nvPr>
            <p:ph type="sldNum" sz="quarter" idx="5"/>
          </p:nvPr>
        </p:nvSpPr>
        <p:spPr/>
        <p:txBody>
          <a:bodyPr/>
          <a:lstStyle/>
          <a:p>
            <a:fld id="{A9BCD895-FA11-734B-8E8D-8DADB5A0EBD1}" type="slidenum">
              <a:rPr lang="en-US" smtClean="0"/>
              <a:t>67</a:t>
            </a:fld>
            <a:endParaRPr lang="en-US"/>
          </a:p>
        </p:txBody>
      </p:sp>
    </p:spTree>
    <p:extLst>
      <p:ext uri="{BB962C8B-B14F-4D97-AF65-F5344CB8AC3E}">
        <p14:creationId xmlns:p14="http://schemas.microsoft.com/office/powerpoint/2010/main" val="8197008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068A6-9DDD-FD2A-A990-32A25B224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D64A3-FA5F-457B-3374-8F6542B1F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D9D22-FE2A-B38E-B44D-2B02569CF58B}"/>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D9F22FFF-278B-29B2-62ED-D35C14F331E9}"/>
              </a:ext>
            </a:extLst>
          </p:cNvPr>
          <p:cNvSpPr>
            <a:spLocks noGrp="1"/>
          </p:cNvSpPr>
          <p:nvPr>
            <p:ph type="sldNum" sz="quarter" idx="5"/>
          </p:nvPr>
        </p:nvSpPr>
        <p:spPr/>
        <p:txBody>
          <a:bodyPr/>
          <a:lstStyle/>
          <a:p>
            <a:fld id="{A9BCD895-FA11-734B-8E8D-8DADB5A0EBD1}" type="slidenum">
              <a:rPr lang="en-US" smtClean="0"/>
              <a:t>68</a:t>
            </a:fld>
            <a:endParaRPr lang="en-US"/>
          </a:p>
        </p:txBody>
      </p:sp>
    </p:spTree>
    <p:extLst>
      <p:ext uri="{BB962C8B-B14F-4D97-AF65-F5344CB8AC3E}">
        <p14:creationId xmlns:p14="http://schemas.microsoft.com/office/powerpoint/2010/main" val="38161297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20F18-AF9F-8FE8-731B-01EEDB214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10D2C-7B29-4D4E-F9CC-2DCB3A76F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5B1A6-E17A-3801-6E1D-F0C1793E6FEE}"/>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59CEC49E-0271-9FE6-3E8A-7C0D55731CC4}"/>
              </a:ext>
            </a:extLst>
          </p:cNvPr>
          <p:cNvSpPr>
            <a:spLocks noGrp="1"/>
          </p:cNvSpPr>
          <p:nvPr>
            <p:ph type="sldNum" sz="quarter" idx="5"/>
          </p:nvPr>
        </p:nvSpPr>
        <p:spPr/>
        <p:txBody>
          <a:bodyPr/>
          <a:lstStyle/>
          <a:p>
            <a:fld id="{A9BCD895-FA11-734B-8E8D-8DADB5A0EBD1}" type="slidenum">
              <a:rPr lang="en-US" smtClean="0"/>
              <a:t>69</a:t>
            </a:fld>
            <a:endParaRPr lang="en-US"/>
          </a:p>
        </p:txBody>
      </p:sp>
    </p:spTree>
    <p:extLst>
      <p:ext uri="{BB962C8B-B14F-4D97-AF65-F5344CB8AC3E}">
        <p14:creationId xmlns:p14="http://schemas.microsoft.com/office/powerpoint/2010/main" val="33580916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2E100-7EF0-DC5B-04EA-16311075E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A2773-A2F2-08D5-9EE4-3208B15F1E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51649-402E-7117-25CA-F8FCC5C13413}"/>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565B9A40-257C-7268-4773-085108218EE4}"/>
              </a:ext>
            </a:extLst>
          </p:cNvPr>
          <p:cNvSpPr>
            <a:spLocks noGrp="1"/>
          </p:cNvSpPr>
          <p:nvPr>
            <p:ph type="sldNum" sz="quarter" idx="5"/>
          </p:nvPr>
        </p:nvSpPr>
        <p:spPr/>
        <p:txBody>
          <a:bodyPr/>
          <a:lstStyle/>
          <a:p>
            <a:fld id="{A9BCD895-FA11-734B-8E8D-8DADB5A0EBD1}" type="slidenum">
              <a:rPr lang="en-US" smtClean="0"/>
              <a:t>70</a:t>
            </a:fld>
            <a:endParaRPr lang="en-US"/>
          </a:p>
        </p:txBody>
      </p:sp>
    </p:spTree>
    <p:extLst>
      <p:ext uri="{BB962C8B-B14F-4D97-AF65-F5344CB8AC3E}">
        <p14:creationId xmlns:p14="http://schemas.microsoft.com/office/powerpoint/2010/main" val="30976639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0CEC-C59F-3626-E909-FAC3E717B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737DD-FC70-40D1-AEB9-870904A0A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7ECE6-65AF-BD08-EE6B-577028A2F54E}"/>
              </a:ext>
            </a:extLst>
          </p:cNvPr>
          <p:cNvSpPr>
            <a:spLocks noGrp="1"/>
          </p:cNvSpPr>
          <p:nvPr>
            <p:ph type="body" idx="1"/>
          </p:nvPr>
        </p:nvSpPr>
        <p:spPr/>
        <p:txBody>
          <a:bodyPr/>
          <a:lstStyle/>
          <a:p>
            <a:r>
              <a:rPr lang="en-US" dirty="0"/>
              <a:t>Parameter pollution when generating parameters for API calls. </a:t>
            </a:r>
          </a:p>
        </p:txBody>
      </p:sp>
      <p:sp>
        <p:nvSpPr>
          <p:cNvPr id="4" name="Slide Number Placeholder 3">
            <a:extLst>
              <a:ext uri="{FF2B5EF4-FFF2-40B4-BE49-F238E27FC236}">
                <a16:creationId xmlns:a16="http://schemas.microsoft.com/office/drawing/2014/main" id="{9A318575-B664-B79B-4645-A06B6DA2255F}"/>
              </a:ext>
            </a:extLst>
          </p:cNvPr>
          <p:cNvSpPr>
            <a:spLocks noGrp="1"/>
          </p:cNvSpPr>
          <p:nvPr>
            <p:ph type="sldNum" sz="quarter" idx="5"/>
          </p:nvPr>
        </p:nvSpPr>
        <p:spPr/>
        <p:txBody>
          <a:bodyPr/>
          <a:lstStyle/>
          <a:p>
            <a:fld id="{A9BCD895-FA11-734B-8E8D-8DADB5A0EBD1}" type="slidenum">
              <a:rPr lang="en-US" smtClean="0"/>
              <a:t>71</a:t>
            </a:fld>
            <a:endParaRPr lang="en-US"/>
          </a:p>
        </p:txBody>
      </p:sp>
    </p:spTree>
    <p:extLst>
      <p:ext uri="{BB962C8B-B14F-4D97-AF65-F5344CB8AC3E}">
        <p14:creationId xmlns:p14="http://schemas.microsoft.com/office/powerpoint/2010/main" val="17523483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lot depends on the application and risk profiles </a:t>
            </a:r>
          </a:p>
          <a:p>
            <a:endParaRPr lang="en-US" dirty="0"/>
          </a:p>
        </p:txBody>
      </p:sp>
      <p:sp>
        <p:nvSpPr>
          <p:cNvPr id="4" name="Slide Number Placeholder 3"/>
          <p:cNvSpPr>
            <a:spLocks noGrp="1"/>
          </p:cNvSpPr>
          <p:nvPr>
            <p:ph type="sldNum" sz="quarter" idx="5"/>
          </p:nvPr>
        </p:nvSpPr>
        <p:spPr/>
        <p:txBody>
          <a:bodyPr/>
          <a:lstStyle/>
          <a:p>
            <a:fld id="{A9BCD895-FA11-734B-8E8D-8DADB5A0EBD1}" type="slidenum">
              <a:rPr lang="en-US" smtClean="0"/>
              <a:t>77</a:t>
            </a:fld>
            <a:endParaRPr lang="en-US"/>
          </a:p>
        </p:txBody>
      </p:sp>
    </p:spTree>
    <p:extLst>
      <p:ext uri="{BB962C8B-B14F-4D97-AF65-F5344CB8AC3E}">
        <p14:creationId xmlns:p14="http://schemas.microsoft.com/office/powerpoint/2010/main" val="91946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4624-E128-B993-5655-9FEA6613E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1A124F-41C5-9D79-E6C9-8C73EBD110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19C1E0-31F0-D16D-A239-78121B286075}"/>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DB8038D8-F836-1A06-89DA-8F77B83BA1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C4A83-CD8B-3DA9-A0EA-DB5BDB9CE3F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149922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3104-3544-9F21-4872-8D287D4C53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0D31DC-C074-0188-668C-3AB6C33F4C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25399-F514-0F34-D3D6-24E7AA40937B}"/>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FA2CDF10-1CB9-5EFC-FA7C-A05A26466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59248-F593-657F-624D-2DAB519C22B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885032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EE7C-A1FB-C452-EA48-6F40529178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233F62-2418-5EC0-11EB-42C68E10CB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9A8EEE-7F5E-070C-0EAE-FECACF25B03B}"/>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417F928A-2921-0D26-1B52-85AC795B97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C5CD1-1362-8EB4-C848-031D9F4FA5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556578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505E-DD4F-BEF0-5238-C29EA3F6AD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1148F-C31E-319A-9635-8D8044DFBE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D8E80B-D77A-4650-A908-97313DAE24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0C9CA7-3334-32B1-EFC3-97A7813E4FD8}"/>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47396C99-1F90-1333-797F-4FC30D2A66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976121-14BC-E0A5-4618-6E2737C00262}"/>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401950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291D-5D94-298C-C99C-1288DA2398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8888B1-1504-C6A0-5204-A067F3D1E1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A6CB14-D03C-7133-EFD7-8E9B958CAC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0ACC56-6D88-F4A3-588A-EE294DA230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683236-5353-60BE-B14A-83FB03F13A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F699AA-8B05-9ABE-8EC0-2861DD7F6B61}"/>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8" name="Footer Placeholder 7">
            <a:extLst>
              <a:ext uri="{FF2B5EF4-FFF2-40B4-BE49-F238E27FC236}">
                <a16:creationId xmlns:a16="http://schemas.microsoft.com/office/drawing/2014/main" id="{93DF3894-AEA3-B01D-EDB4-0B1F4EE87C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713D0B-60E9-E123-F103-C09A9707BB7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1993920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3B56-6725-A253-EE07-2A8428BC76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A43DB8-F4AD-D81D-2E31-53288E4A10BF}"/>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4" name="Footer Placeholder 3">
            <a:extLst>
              <a:ext uri="{FF2B5EF4-FFF2-40B4-BE49-F238E27FC236}">
                <a16:creationId xmlns:a16="http://schemas.microsoft.com/office/drawing/2014/main" id="{00C27065-A421-1E27-259E-C18128E2F0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E416CE-952C-7649-01DC-AD1B8B27603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58777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60BFF7-C473-D5C7-1AD5-777D2F8660DD}"/>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3" name="Footer Placeholder 2">
            <a:extLst>
              <a:ext uri="{FF2B5EF4-FFF2-40B4-BE49-F238E27FC236}">
                <a16:creationId xmlns:a16="http://schemas.microsoft.com/office/drawing/2014/main" id="{D4241819-BCC1-70BF-4148-23AD5D8887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73128B-DF08-9EC0-FA4E-9145D2A49CD3}"/>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715511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56D2-0352-FC66-A5DA-870E043CD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AE67D7-7CB9-7D4B-5508-23E899BE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40EE18-7815-2F6B-FA98-6BD533ED5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C84E64-712C-8603-B8DF-E657186D06B5}"/>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F30206A6-D26C-F166-3AC9-12AB9C1A0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766F8B-FC78-351D-9F10-B5D7CAF6D84B}"/>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2207510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7ADC-3CCB-0E2A-DF21-F0970E9C8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6965FA-B475-9FA7-82F4-9C75939CD8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8DD853-CCC8-37CF-5C85-D61F0D02D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01D5A0-2842-F467-9342-91C6C3993E5D}"/>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6" name="Footer Placeholder 5">
            <a:extLst>
              <a:ext uri="{FF2B5EF4-FFF2-40B4-BE49-F238E27FC236}">
                <a16:creationId xmlns:a16="http://schemas.microsoft.com/office/drawing/2014/main" id="{40B9A963-8B11-6DA0-382F-18D892F90A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35D6C-478C-7F00-2F87-49C44203CB28}"/>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15899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752D-0596-5056-C4C7-2B65EF6911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D73EE7-D671-3C70-EA34-F83377587D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1C03A-2F98-798B-5417-78F21F51846F}"/>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C30F8DCE-5D09-BBD4-9A03-6E38DEDE6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0853E2-B201-8EA7-75E4-B0A2A94CDA16}"/>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891103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434A0-D6C7-38F4-79D1-7747588FC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BE24AE-EA82-2D4B-ADF9-27EAC47F7C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11146-DAEF-3E53-8FB7-FEA019B9F8AC}"/>
              </a:ext>
            </a:extLst>
          </p:cNvPr>
          <p:cNvSpPr>
            <a:spLocks noGrp="1"/>
          </p:cNvSpPr>
          <p:nvPr>
            <p:ph type="dt" sz="half" idx="10"/>
          </p:nvPr>
        </p:nvSpPr>
        <p:spPr/>
        <p:txBody>
          <a:body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FB957A1A-4568-AD78-DD81-456E5347F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D830F1-82C5-8161-F608-A11AEEAA8D4C}"/>
              </a:ext>
            </a:extLst>
          </p:cNvPr>
          <p:cNvSpPr>
            <a:spLocks noGrp="1"/>
          </p:cNvSpPr>
          <p:nvPr>
            <p:ph type="sldNum" sz="quarter" idx="12"/>
          </p:nvPr>
        </p:nvSpPr>
        <p:spPr/>
        <p:txBody>
          <a:bodyPr/>
          <a:lstStyle/>
          <a:p>
            <a:fld id="{3D2D384C-419C-674E-8E55-1D52BF195C1D}" type="slidenum">
              <a:rPr lang="en-US" smtClean="0"/>
              <a:t>‹#›</a:t>
            </a:fld>
            <a:endParaRPr lang="en-US"/>
          </a:p>
        </p:txBody>
      </p:sp>
    </p:spTree>
    <p:extLst>
      <p:ext uri="{BB962C8B-B14F-4D97-AF65-F5344CB8AC3E}">
        <p14:creationId xmlns:p14="http://schemas.microsoft.com/office/powerpoint/2010/main" val="3702018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32C704-E326-77FA-48C8-8C7988303F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009431-3518-5ABF-1F70-0A5CEA412D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CB33AA-5B91-2DBC-8393-994CBCCE2C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7731E9-F510-FB4F-AB8C-15110A3CAFB7}" type="datetimeFigureOut">
              <a:rPr lang="en-US" smtClean="0"/>
              <a:t>4/8/26</a:t>
            </a:fld>
            <a:endParaRPr lang="en-US"/>
          </a:p>
        </p:txBody>
      </p:sp>
      <p:sp>
        <p:nvSpPr>
          <p:cNvPr id="5" name="Footer Placeholder 4">
            <a:extLst>
              <a:ext uri="{FF2B5EF4-FFF2-40B4-BE49-F238E27FC236}">
                <a16:creationId xmlns:a16="http://schemas.microsoft.com/office/drawing/2014/main" id="{81A7C657-5F1E-72CF-BDC7-06D06F1E1B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420E17-3986-7D02-5872-0B402107DB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2D384C-419C-674E-8E55-1D52BF195C1D}" type="slidenum">
              <a:rPr lang="en-US" smtClean="0"/>
              <a:t>‹#›</a:t>
            </a:fld>
            <a:endParaRPr lang="en-US"/>
          </a:p>
        </p:txBody>
      </p:sp>
    </p:spTree>
    <p:extLst>
      <p:ext uri="{BB962C8B-B14F-4D97-AF65-F5344CB8AC3E}">
        <p14:creationId xmlns:p14="http://schemas.microsoft.com/office/powerpoint/2010/main" val="354264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enai.owasp.org/resource/securing-agentic-applications-guide-1-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58FE2-BD43-356F-284A-09AA8CFAA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2760A-CECD-438D-5CDF-95D6121C027D}"/>
              </a:ext>
            </a:extLst>
          </p:cNvPr>
          <p:cNvSpPr>
            <a:spLocks noGrp="1"/>
          </p:cNvSpPr>
          <p:nvPr>
            <p:ph type="ctrTitle"/>
          </p:nvPr>
        </p:nvSpPr>
        <p:spPr/>
        <p:txBody>
          <a:bodyPr>
            <a:normAutofit/>
          </a:bodyPr>
          <a:lstStyle/>
          <a:p>
            <a:r>
              <a:rPr lang="en-US" dirty="0"/>
              <a:t>Securing Agentic Application Guide V1.0</a:t>
            </a:r>
          </a:p>
        </p:txBody>
      </p:sp>
      <p:sp>
        <p:nvSpPr>
          <p:cNvPr id="3" name="Subtitle 2">
            <a:extLst>
              <a:ext uri="{FF2B5EF4-FFF2-40B4-BE49-F238E27FC236}">
                <a16:creationId xmlns:a16="http://schemas.microsoft.com/office/drawing/2014/main" id="{C7232EE9-440E-9711-DA73-3CF297127202}"/>
              </a:ext>
            </a:extLst>
          </p:cNvPr>
          <p:cNvSpPr>
            <a:spLocks noGrp="1"/>
          </p:cNvSpPr>
          <p:nvPr>
            <p:ph type="subTitle" idx="1"/>
          </p:nvPr>
        </p:nvSpPr>
        <p:spPr/>
        <p:txBody>
          <a:bodyPr>
            <a:normAutofit lnSpcReduction="10000"/>
          </a:bodyPr>
          <a:lstStyle/>
          <a:p>
            <a:r>
              <a:rPr lang="en-US" dirty="0"/>
              <a:t>OWASP Edition – Notes</a:t>
            </a:r>
          </a:p>
          <a:p>
            <a:r>
              <a:rPr lang="en-US" dirty="0"/>
              <a:t>Link: </a:t>
            </a:r>
            <a:r>
              <a:rPr lang="en-US" dirty="0">
                <a:hlinkClick r:id="rId2"/>
              </a:rPr>
              <a:t>https://genai.owasp.org/resource/securing-agentic-applications-guide-1-0/</a:t>
            </a:r>
            <a:endParaRPr lang="en-US" dirty="0"/>
          </a:p>
          <a:p>
            <a:r>
              <a:rPr lang="en-US" dirty="0"/>
              <a:t>Release Date: July 28, 2025</a:t>
            </a:r>
          </a:p>
          <a:p>
            <a:endParaRPr lang="en-US" dirty="0"/>
          </a:p>
        </p:txBody>
      </p:sp>
    </p:spTree>
    <p:extLst>
      <p:ext uri="{BB962C8B-B14F-4D97-AF65-F5344CB8AC3E}">
        <p14:creationId xmlns:p14="http://schemas.microsoft.com/office/powerpoint/2010/main" val="1367332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A8D0-8A51-1A44-399A-3F6AB8381D6C}"/>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E4F0DD09-8F15-1329-A154-58D5EECC1212}"/>
              </a:ext>
            </a:extLst>
          </p:cNvPr>
          <p:cNvSpPr>
            <a:spLocks noGrp="1"/>
          </p:cNvSpPr>
          <p:nvPr>
            <p:ph idx="1"/>
          </p:nvPr>
        </p:nvSpPr>
        <p:spPr/>
        <p:txBody>
          <a:bodyPr/>
          <a:lstStyle/>
          <a:p>
            <a:r>
              <a:rPr lang="en-US" dirty="0"/>
              <a:t>Practical and actionable guidance for </a:t>
            </a:r>
            <a:r>
              <a:rPr lang="en-US" b="1" dirty="0"/>
              <a:t>designing</a:t>
            </a:r>
            <a:r>
              <a:rPr lang="en-US" dirty="0"/>
              <a:t>, </a:t>
            </a:r>
            <a:r>
              <a:rPr lang="en-US" b="1" dirty="0"/>
              <a:t>developing</a:t>
            </a:r>
            <a:r>
              <a:rPr lang="en-US" dirty="0"/>
              <a:t> and </a:t>
            </a:r>
            <a:r>
              <a:rPr lang="en-US" b="1" dirty="0"/>
              <a:t>deploying</a:t>
            </a:r>
            <a:r>
              <a:rPr lang="en-US" dirty="0"/>
              <a:t> secure agentic application powered by LLM </a:t>
            </a:r>
          </a:p>
          <a:p>
            <a:r>
              <a:rPr lang="en-US" dirty="0"/>
              <a:t>Audience: This guide is primarily intended for software developers, AI/ML engineers, security architects, security engineers, and technical leads</a:t>
            </a:r>
          </a:p>
          <a:p>
            <a:endParaRPr lang="en-US" dirty="0"/>
          </a:p>
        </p:txBody>
      </p:sp>
    </p:spTree>
    <p:extLst>
      <p:ext uri="{BB962C8B-B14F-4D97-AF65-F5344CB8AC3E}">
        <p14:creationId xmlns:p14="http://schemas.microsoft.com/office/powerpoint/2010/main" val="1117787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8280-AECA-1543-8F86-CDFAD96EB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51F22-B777-6471-A0E2-E9D2160A764F}"/>
              </a:ext>
            </a:extLst>
          </p:cNvPr>
          <p:cNvSpPr>
            <a:spLocks noGrp="1"/>
          </p:cNvSpPr>
          <p:nvPr>
            <p:ph type="title"/>
          </p:nvPr>
        </p:nvSpPr>
        <p:spPr/>
        <p:txBody>
          <a:bodyPr/>
          <a:lstStyle/>
          <a:p>
            <a:r>
              <a:rPr lang="en-US" dirty="0"/>
              <a:t>Scope</a:t>
            </a:r>
          </a:p>
        </p:txBody>
      </p:sp>
      <p:sp>
        <p:nvSpPr>
          <p:cNvPr id="5" name="Content Placeholder 4">
            <a:extLst>
              <a:ext uri="{FF2B5EF4-FFF2-40B4-BE49-F238E27FC236}">
                <a16:creationId xmlns:a16="http://schemas.microsoft.com/office/drawing/2014/main" id="{7EC6111B-C82C-37E3-C502-47E8DE931F66}"/>
              </a:ext>
            </a:extLst>
          </p:cNvPr>
          <p:cNvSpPr>
            <a:spLocks noGrp="1"/>
          </p:cNvSpPr>
          <p:nvPr>
            <p:ph idx="1"/>
          </p:nvPr>
        </p:nvSpPr>
        <p:spPr/>
        <p:txBody>
          <a:bodyPr/>
          <a:lstStyle/>
          <a:p>
            <a:r>
              <a:rPr lang="en-US" dirty="0"/>
              <a:t>Technical security controls and best practices</a:t>
            </a:r>
          </a:p>
          <a:p>
            <a:r>
              <a:rPr lang="en-US" dirty="0"/>
              <a:t>Secure architectural patters (Actionable)</a:t>
            </a:r>
          </a:p>
          <a:p>
            <a:r>
              <a:rPr lang="en-US" dirty="0"/>
              <a:t>Mitigation strategies</a:t>
            </a:r>
          </a:p>
          <a:p>
            <a:r>
              <a:rPr lang="en-US" dirty="0"/>
              <a:t>Guidance across the development lifecycle – design, build, deploy, operate</a:t>
            </a:r>
          </a:p>
          <a:p>
            <a:pPr marL="0" indent="0">
              <a:buNone/>
            </a:pPr>
            <a:endParaRPr lang="en-US" dirty="0"/>
          </a:p>
          <a:p>
            <a:endParaRPr lang="en-US" dirty="0"/>
          </a:p>
        </p:txBody>
      </p:sp>
    </p:spTree>
    <p:extLst>
      <p:ext uri="{BB962C8B-B14F-4D97-AF65-F5344CB8AC3E}">
        <p14:creationId xmlns:p14="http://schemas.microsoft.com/office/powerpoint/2010/main" val="63308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2FDF-3E31-A563-0890-2F2FFD3D381E}"/>
              </a:ext>
            </a:extLst>
          </p:cNvPr>
          <p:cNvSpPr>
            <a:spLocks noGrp="1"/>
          </p:cNvSpPr>
          <p:nvPr>
            <p:ph type="ctrTitle"/>
          </p:nvPr>
        </p:nvSpPr>
        <p:spPr/>
        <p:txBody>
          <a:bodyPr>
            <a:normAutofit fontScale="90000"/>
          </a:bodyPr>
          <a:lstStyle/>
          <a:p>
            <a:r>
              <a:rPr lang="en-US" dirty="0"/>
              <a:t>Key Components of Secure Agentic Architecture and Attack Surface</a:t>
            </a:r>
          </a:p>
        </p:txBody>
      </p:sp>
      <p:sp>
        <p:nvSpPr>
          <p:cNvPr id="3" name="Subtitle 2">
            <a:extLst>
              <a:ext uri="{FF2B5EF4-FFF2-40B4-BE49-F238E27FC236}">
                <a16:creationId xmlns:a16="http://schemas.microsoft.com/office/drawing/2014/main" id="{02171209-B605-7E45-2223-463638CC4B3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5033894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F18C9-3160-5EF6-669A-93EA2CF55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92AE2-22B5-5EEA-0A99-4156C17EB18C}"/>
              </a:ext>
            </a:extLst>
          </p:cNvPr>
          <p:cNvSpPr>
            <a:spLocks noGrp="1"/>
          </p:cNvSpPr>
          <p:nvPr>
            <p:ph type="title"/>
          </p:nvPr>
        </p:nvSpPr>
        <p:spPr>
          <a:xfrm>
            <a:off x="838199" y="365125"/>
            <a:ext cx="11001499" cy="1325563"/>
          </a:xfrm>
        </p:spPr>
        <p:txBody>
          <a:bodyPr/>
          <a:lstStyle/>
          <a:p>
            <a:r>
              <a:rPr lang="en-US" dirty="0"/>
              <a:t>Generative Language Model</a:t>
            </a:r>
          </a:p>
        </p:txBody>
      </p:sp>
      <p:sp>
        <p:nvSpPr>
          <p:cNvPr id="5" name="Content Placeholder 4">
            <a:extLst>
              <a:ext uri="{FF2B5EF4-FFF2-40B4-BE49-F238E27FC236}">
                <a16:creationId xmlns:a16="http://schemas.microsoft.com/office/drawing/2014/main" id="{BE4A13E7-BA05-94DB-D64E-AD306BCB65D6}"/>
              </a:ext>
            </a:extLst>
          </p:cNvPr>
          <p:cNvSpPr>
            <a:spLocks noGrp="1"/>
          </p:cNvSpPr>
          <p:nvPr>
            <p:ph idx="1"/>
          </p:nvPr>
        </p:nvSpPr>
        <p:spPr/>
        <p:txBody>
          <a:bodyPr/>
          <a:lstStyle/>
          <a:p>
            <a:pPr marL="0" indent="0">
              <a:buNone/>
            </a:pPr>
            <a:r>
              <a:rPr lang="en-US" dirty="0"/>
              <a:t>The brain of the agent responsible for understanding, reasoning, planning and generating responses. Often built on pre-trained foundation model – can be specialized using techniques like prompt engineering or fine-tuning</a:t>
            </a:r>
          </a:p>
          <a:p>
            <a:pPr marL="971550" lvl="1" indent="-514350">
              <a:buFont typeface="+mj-lt"/>
              <a:buAutoNum type="arabicPeriod"/>
            </a:pPr>
            <a:r>
              <a:rPr lang="en-US" dirty="0"/>
              <a:t>Large language models (LLMs)</a:t>
            </a:r>
          </a:p>
          <a:p>
            <a:pPr marL="971550" lvl="1" indent="-514350">
              <a:buFont typeface="+mj-lt"/>
              <a:buAutoNum type="arabicPeriod"/>
            </a:pPr>
            <a:r>
              <a:rPr lang="en-US" dirty="0"/>
              <a:t>Multimodal LLMs (MLLMs)</a:t>
            </a:r>
          </a:p>
          <a:p>
            <a:pPr marL="971550" lvl="1" indent="-514350">
              <a:buFont typeface="+mj-lt"/>
              <a:buAutoNum type="arabicPeriod"/>
            </a:pPr>
            <a:r>
              <a:rPr lang="en-US" dirty="0"/>
              <a:t>Small Language Models (SLMs)</a:t>
            </a:r>
          </a:p>
          <a:p>
            <a:pPr marL="971550" lvl="1" indent="-514350">
              <a:buFont typeface="+mj-lt"/>
              <a:buAutoNum type="arabicPeriod"/>
            </a:pPr>
            <a:r>
              <a:rPr lang="en-US" dirty="0"/>
              <a:t>Fine Tuned Models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886235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556CB-8BEA-B98C-CE3C-578A2206D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BC4BB-E82F-1A7E-9951-39FBEE3D8470}"/>
              </a:ext>
            </a:extLst>
          </p:cNvPr>
          <p:cNvSpPr>
            <a:spLocks noGrp="1"/>
          </p:cNvSpPr>
          <p:nvPr>
            <p:ph type="title"/>
          </p:nvPr>
        </p:nvSpPr>
        <p:spPr>
          <a:xfrm>
            <a:off x="838199" y="365125"/>
            <a:ext cx="11001499" cy="1325563"/>
          </a:xfrm>
        </p:spPr>
        <p:txBody>
          <a:bodyPr/>
          <a:lstStyle/>
          <a:p>
            <a:r>
              <a:rPr lang="en-US" dirty="0"/>
              <a:t>Generative Language Model – Attack Surface</a:t>
            </a:r>
          </a:p>
        </p:txBody>
      </p:sp>
      <p:sp>
        <p:nvSpPr>
          <p:cNvPr id="5" name="Content Placeholder 4">
            <a:extLst>
              <a:ext uri="{FF2B5EF4-FFF2-40B4-BE49-F238E27FC236}">
                <a16:creationId xmlns:a16="http://schemas.microsoft.com/office/drawing/2014/main" id="{7E9C99A7-6166-F2EC-07F0-994AA9D50741}"/>
              </a:ext>
            </a:extLst>
          </p:cNvPr>
          <p:cNvSpPr>
            <a:spLocks noGrp="1"/>
          </p:cNvSpPr>
          <p:nvPr>
            <p:ph idx="1"/>
          </p:nvPr>
        </p:nvSpPr>
        <p:spPr/>
        <p:txBody>
          <a:bodyPr>
            <a:normAutofit lnSpcReduction="10000"/>
          </a:bodyPr>
          <a:lstStyle/>
          <a:p>
            <a:pPr marL="0" indent="0">
              <a:buNone/>
            </a:pPr>
            <a:r>
              <a:rPr lang="en-US" dirty="0"/>
              <a:t>Core vulnerabilities in the brain of the agent </a:t>
            </a:r>
          </a:p>
          <a:p>
            <a:r>
              <a:rPr lang="en-US" dirty="0"/>
              <a:t>T5 (Cascading Hallucination): Foundation models generate incorrect information that propagates </a:t>
            </a:r>
          </a:p>
          <a:p>
            <a:r>
              <a:rPr lang="en-US" dirty="0"/>
              <a:t>T6 (Intent Breaking): Attacks target the core decision-making capabilities  </a:t>
            </a:r>
          </a:p>
          <a:p>
            <a:r>
              <a:rPr lang="en-US" dirty="0"/>
              <a:t>T7 (Misaligned Behaviors): Model alignment issues lead to unintended behaviors impacting users, organizations, or the broader population  </a:t>
            </a:r>
          </a:p>
          <a:p>
            <a:r>
              <a:rPr lang="en-US" dirty="0"/>
              <a:t>T15 (Human Manipulation): Models exploit human trust to manipulate users</a:t>
            </a:r>
          </a:p>
        </p:txBody>
      </p:sp>
    </p:spTree>
    <p:extLst>
      <p:ext uri="{BB962C8B-B14F-4D97-AF65-F5344CB8AC3E}">
        <p14:creationId xmlns:p14="http://schemas.microsoft.com/office/powerpoint/2010/main" val="345654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28135-4DB7-C1F3-9BF4-FA2CF606B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4CCFC-0887-B4F6-C22B-40D18EDE7802}"/>
              </a:ext>
            </a:extLst>
          </p:cNvPr>
          <p:cNvSpPr>
            <a:spLocks noGrp="1"/>
          </p:cNvSpPr>
          <p:nvPr>
            <p:ph type="title"/>
          </p:nvPr>
        </p:nvSpPr>
        <p:spPr>
          <a:xfrm>
            <a:off x="838199" y="365125"/>
            <a:ext cx="11001499" cy="1325563"/>
          </a:xfrm>
        </p:spPr>
        <p:txBody>
          <a:bodyPr/>
          <a:lstStyle/>
          <a:p>
            <a:r>
              <a:rPr lang="en-US" dirty="0"/>
              <a:t>Orchestrator </a:t>
            </a:r>
          </a:p>
        </p:txBody>
      </p:sp>
      <p:sp>
        <p:nvSpPr>
          <p:cNvPr id="5" name="Content Placeholder 4">
            <a:extLst>
              <a:ext uri="{FF2B5EF4-FFF2-40B4-BE49-F238E27FC236}">
                <a16:creationId xmlns:a16="http://schemas.microsoft.com/office/drawing/2014/main" id="{9096043F-31A0-7902-0213-B870A4780438}"/>
              </a:ext>
            </a:extLst>
          </p:cNvPr>
          <p:cNvSpPr>
            <a:spLocks noGrp="1"/>
          </p:cNvSpPr>
          <p:nvPr>
            <p:ph idx="1"/>
          </p:nvPr>
        </p:nvSpPr>
        <p:spPr/>
        <p:txBody>
          <a:bodyPr>
            <a:normAutofit fontScale="92500" lnSpcReduction="20000"/>
          </a:bodyPr>
          <a:lstStyle/>
          <a:p>
            <a:pPr marL="0" indent="0">
              <a:buNone/>
            </a:pPr>
            <a:r>
              <a:rPr lang="en-US" dirty="0"/>
              <a:t>Control Flow Mechanism. Dictate the agent's overall behavior, information flow, and decision-making processes.</a:t>
            </a:r>
          </a:p>
          <a:p>
            <a:pPr lvl="1"/>
            <a:r>
              <a:rPr lang="en-US" dirty="0"/>
              <a:t>Sequential” for layered architectures, “dynamic” for blackboard architectures, or “coordinated” for multi-agent systems</a:t>
            </a:r>
          </a:p>
          <a:p>
            <a:r>
              <a:rPr lang="en-US" dirty="0"/>
              <a:t>Workflows: A structured, pre-defined sequence of tasks or steps that agents follow to achieve a goal.</a:t>
            </a:r>
          </a:p>
          <a:p>
            <a:r>
              <a:rPr lang="en-US" dirty="0"/>
              <a:t>Hierarchical Planning : Multiple agents collaborating via an orchestrator (router), responsible for the following :</a:t>
            </a:r>
          </a:p>
          <a:p>
            <a:pPr lvl="1"/>
            <a:r>
              <a:rPr lang="en-US" dirty="0"/>
              <a:t>Understanding the task, Decomposing the task, Routing to specialized agents, Orchestrator monitors agent performance, identifies inefficiencies, and autonomously adjusts workflow. </a:t>
            </a:r>
          </a:p>
          <a:p>
            <a:r>
              <a:rPr lang="en-US" dirty="0"/>
              <a:t>Multi Agent collaboration: multiple agents working together to achieve a common goal where agents have diverse skills</a:t>
            </a:r>
          </a:p>
          <a:p>
            <a:pPr lvl="1"/>
            <a:endParaRPr lang="en-US" dirty="0"/>
          </a:p>
          <a:p>
            <a:pPr lvl="1"/>
            <a:endParaRPr lang="en-US" dirty="0"/>
          </a:p>
          <a:p>
            <a:pPr marL="514350" indent="-514350">
              <a:buFont typeface="+mj-lt"/>
              <a:buAutoNum type="arabicPeriod" startAt="2"/>
            </a:pPr>
            <a:endParaRPr lang="en-US" dirty="0"/>
          </a:p>
          <a:p>
            <a:pPr marL="514350" indent="-514350">
              <a:buFont typeface="+mj-lt"/>
              <a:buAutoNum type="arabicPeriod" startAt="2"/>
            </a:pPr>
            <a:endParaRPr lang="en-US" dirty="0"/>
          </a:p>
        </p:txBody>
      </p:sp>
    </p:spTree>
    <p:extLst>
      <p:ext uri="{BB962C8B-B14F-4D97-AF65-F5344CB8AC3E}">
        <p14:creationId xmlns:p14="http://schemas.microsoft.com/office/powerpoint/2010/main" val="2166153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AA210-5758-F7BB-93FA-376678A75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F042E-3B15-9138-C7AA-1B165CE52F4B}"/>
              </a:ext>
            </a:extLst>
          </p:cNvPr>
          <p:cNvSpPr>
            <a:spLocks noGrp="1"/>
          </p:cNvSpPr>
          <p:nvPr>
            <p:ph type="title"/>
          </p:nvPr>
        </p:nvSpPr>
        <p:spPr>
          <a:xfrm>
            <a:off x="838199" y="365125"/>
            <a:ext cx="11001499" cy="1325563"/>
          </a:xfrm>
        </p:spPr>
        <p:txBody>
          <a:bodyPr/>
          <a:lstStyle/>
          <a:p>
            <a:r>
              <a:rPr lang="en-US" dirty="0"/>
              <a:t>Orchestrator – Attack Surface </a:t>
            </a:r>
          </a:p>
        </p:txBody>
      </p:sp>
      <p:sp>
        <p:nvSpPr>
          <p:cNvPr id="5" name="Content Placeholder 4">
            <a:extLst>
              <a:ext uri="{FF2B5EF4-FFF2-40B4-BE49-F238E27FC236}">
                <a16:creationId xmlns:a16="http://schemas.microsoft.com/office/drawing/2014/main" id="{09617E86-9445-3676-D123-8D175BD3419E}"/>
              </a:ext>
            </a:extLst>
          </p:cNvPr>
          <p:cNvSpPr>
            <a:spLocks noGrp="1"/>
          </p:cNvSpPr>
          <p:nvPr>
            <p:ph idx="1"/>
          </p:nvPr>
        </p:nvSpPr>
        <p:spPr>
          <a:xfrm>
            <a:off x="838200" y="1690688"/>
            <a:ext cx="10515600" cy="4486275"/>
          </a:xfrm>
        </p:spPr>
        <p:txBody>
          <a:bodyPr>
            <a:normAutofit fontScale="85000" lnSpcReduction="20000"/>
          </a:bodyPr>
          <a:lstStyle/>
          <a:p>
            <a:pPr marL="0" indent="0">
              <a:buNone/>
            </a:pPr>
            <a:r>
              <a:rPr lang="en-US" dirty="0"/>
              <a:t>Vulnerabilities in workflow </a:t>
            </a:r>
          </a:p>
          <a:p>
            <a:r>
              <a:rPr lang="en-US" dirty="0"/>
              <a:t>T6 (Intent Breaking): Manipulates control flow to achieve unauthorized goals </a:t>
            </a:r>
          </a:p>
          <a:p>
            <a:r>
              <a:rPr lang="en-US" dirty="0"/>
              <a:t>T8 (Repudiation): Makes agent actions difficult to trace through workflow </a:t>
            </a:r>
          </a:p>
          <a:p>
            <a:r>
              <a:rPr lang="en-US" dirty="0"/>
              <a:t>T9 (Identity Spoofing): Especially problematic in multi-agent systems (KC2.2, KC2.3) </a:t>
            </a:r>
          </a:p>
          <a:p>
            <a:r>
              <a:rPr lang="en-US" dirty="0"/>
              <a:t>T10 (Overwhelming HITL): Overwhelms human oversight in workflows</a:t>
            </a:r>
          </a:p>
          <a:p>
            <a:r>
              <a:rPr lang="en-US" dirty="0"/>
              <a:t>T12 (Communication Poisoning): Corrupts inter-agent messaging in multi-agent systems </a:t>
            </a:r>
          </a:p>
          <a:p>
            <a:r>
              <a:rPr lang="en-US" dirty="0"/>
              <a:t>T13 (Rogue Agents): Compromises agent orchestration in multi-agent systems </a:t>
            </a:r>
          </a:p>
          <a:p>
            <a:r>
              <a:rPr lang="en-US" dirty="0"/>
              <a:t>T14 (Human Attacks): Exploits trust relationships between agents and workflows</a:t>
            </a:r>
          </a:p>
        </p:txBody>
      </p:sp>
    </p:spTree>
    <p:extLst>
      <p:ext uri="{BB962C8B-B14F-4D97-AF65-F5344CB8AC3E}">
        <p14:creationId xmlns:p14="http://schemas.microsoft.com/office/powerpoint/2010/main" val="200582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B604-3300-9DC7-C3EC-89F040FCE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84F0A-D4AB-AC9F-D8DC-3ABFBA23D487}"/>
              </a:ext>
            </a:extLst>
          </p:cNvPr>
          <p:cNvSpPr>
            <a:spLocks noGrp="1"/>
          </p:cNvSpPr>
          <p:nvPr>
            <p:ph type="title"/>
          </p:nvPr>
        </p:nvSpPr>
        <p:spPr>
          <a:xfrm>
            <a:off x="838199" y="365125"/>
            <a:ext cx="11001499" cy="1325563"/>
          </a:xfrm>
        </p:spPr>
        <p:txBody>
          <a:bodyPr>
            <a:normAutofit/>
          </a:bodyPr>
          <a:lstStyle/>
          <a:p>
            <a:r>
              <a:rPr lang="en-US" dirty="0"/>
              <a:t>Reasoning/Planning Paradigm</a:t>
            </a:r>
            <a:br>
              <a:rPr lang="en-US" dirty="0"/>
            </a:br>
            <a:endParaRPr lang="en-US" dirty="0"/>
          </a:p>
        </p:txBody>
      </p:sp>
      <p:sp>
        <p:nvSpPr>
          <p:cNvPr id="5" name="Content Placeholder 4">
            <a:extLst>
              <a:ext uri="{FF2B5EF4-FFF2-40B4-BE49-F238E27FC236}">
                <a16:creationId xmlns:a16="http://schemas.microsoft.com/office/drawing/2014/main" id="{443FE805-D0C7-B515-B66F-812F921C7BE4}"/>
              </a:ext>
            </a:extLst>
          </p:cNvPr>
          <p:cNvSpPr>
            <a:spLocks noGrp="1"/>
          </p:cNvSpPr>
          <p:nvPr>
            <p:ph idx="1"/>
          </p:nvPr>
        </p:nvSpPr>
        <p:spPr/>
        <p:txBody>
          <a:bodyPr/>
          <a:lstStyle/>
          <a:p>
            <a:pPr marL="457200" lvl="1" indent="0">
              <a:buNone/>
            </a:pPr>
            <a:r>
              <a:rPr lang="en-US" dirty="0"/>
              <a:t>Agents utilize LLMs to solve complex tasks by breaking down high level tasks into smaller tasks each with a different sub-goal</a:t>
            </a:r>
          </a:p>
          <a:p>
            <a:pPr lvl="1"/>
            <a:r>
              <a:rPr lang="en-US" dirty="0"/>
              <a:t>Structured planning/execution</a:t>
            </a:r>
          </a:p>
          <a:p>
            <a:pPr lvl="1"/>
            <a:r>
              <a:rPr lang="en-US" dirty="0" err="1"/>
              <a:t>ReAct</a:t>
            </a:r>
            <a:r>
              <a:rPr lang="en-US" dirty="0"/>
              <a:t> = Reason + Act : dynamic </a:t>
            </a:r>
          </a:p>
          <a:p>
            <a:pPr lvl="1"/>
            <a:r>
              <a:rPr lang="en-US" dirty="0"/>
              <a:t>Chain of Thought (</a:t>
            </a:r>
            <a:r>
              <a:rPr lang="en-US" dirty="0" err="1"/>
              <a:t>CoT</a:t>
            </a:r>
            <a:r>
              <a:rPr lang="en-US" dirty="0"/>
              <a:t>): Step by step thinking </a:t>
            </a:r>
          </a:p>
          <a:p>
            <a:pPr lvl="1"/>
            <a:r>
              <a:rPr lang="en-US" dirty="0"/>
              <a:t>Tree of Thoughts (</a:t>
            </a:r>
            <a:r>
              <a:rPr lang="en-US" dirty="0" err="1"/>
              <a:t>ToT</a:t>
            </a:r>
            <a:r>
              <a:rPr lang="en-US" dirty="0"/>
              <a:t>): Explore multiple reasoning paths and plan in parallel with lookahead, backtracking and self evaluation</a:t>
            </a:r>
          </a:p>
          <a:p>
            <a:pPr lvl="1"/>
            <a:endParaRPr lang="en-US" dirty="0"/>
          </a:p>
        </p:txBody>
      </p:sp>
    </p:spTree>
    <p:extLst>
      <p:ext uri="{BB962C8B-B14F-4D97-AF65-F5344CB8AC3E}">
        <p14:creationId xmlns:p14="http://schemas.microsoft.com/office/powerpoint/2010/main" val="1611396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A9AF8-F251-D7B0-90A7-1058DBF2A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EA5D7-C21A-520B-5ED4-139AB56DCF65}"/>
              </a:ext>
            </a:extLst>
          </p:cNvPr>
          <p:cNvSpPr>
            <a:spLocks noGrp="1"/>
          </p:cNvSpPr>
          <p:nvPr>
            <p:ph type="title"/>
          </p:nvPr>
        </p:nvSpPr>
        <p:spPr>
          <a:xfrm>
            <a:off x="838199" y="365125"/>
            <a:ext cx="11001499" cy="1325563"/>
          </a:xfrm>
        </p:spPr>
        <p:txBody>
          <a:bodyPr>
            <a:normAutofit/>
          </a:bodyPr>
          <a:lstStyle/>
          <a:p>
            <a:r>
              <a:rPr lang="en-US" dirty="0"/>
              <a:t>Reasoning/Planning Paradigm – Attack Surface</a:t>
            </a:r>
            <a:br>
              <a:rPr lang="en-US" dirty="0"/>
            </a:br>
            <a:endParaRPr lang="en-US" dirty="0"/>
          </a:p>
        </p:txBody>
      </p:sp>
      <p:sp>
        <p:nvSpPr>
          <p:cNvPr id="5" name="Content Placeholder 4">
            <a:extLst>
              <a:ext uri="{FF2B5EF4-FFF2-40B4-BE49-F238E27FC236}">
                <a16:creationId xmlns:a16="http://schemas.microsoft.com/office/drawing/2014/main" id="{68D8B3F1-FD4F-4EBB-6C52-7BC7183FFD64}"/>
              </a:ext>
            </a:extLst>
          </p:cNvPr>
          <p:cNvSpPr>
            <a:spLocks noGrp="1"/>
          </p:cNvSpPr>
          <p:nvPr>
            <p:ph idx="1"/>
          </p:nvPr>
        </p:nvSpPr>
        <p:spPr/>
        <p:txBody>
          <a:bodyPr/>
          <a:lstStyle/>
          <a:p>
            <a:pPr marL="457200" lvl="1" indent="0">
              <a:buNone/>
            </a:pPr>
            <a:r>
              <a:rPr lang="en-US" dirty="0"/>
              <a:t>Weakness in decision processes</a:t>
            </a:r>
          </a:p>
          <a:p>
            <a:pPr lvl="1"/>
            <a:r>
              <a:rPr lang="en-US" dirty="0"/>
              <a:t>T5 (Cascading Hallucination): Affects reasoning quality and propagates through planning steps </a:t>
            </a:r>
          </a:p>
          <a:p>
            <a:pPr lvl="1"/>
            <a:r>
              <a:rPr lang="en-US" dirty="0"/>
              <a:t>T6 (Intent Breaking): Directly attacks the reasoning process to manipulate goals </a:t>
            </a:r>
          </a:p>
          <a:p>
            <a:pPr lvl="1"/>
            <a:r>
              <a:rPr lang="en-US" dirty="0"/>
              <a:t>T7 (Misaligned Behaviors): Creates subtle reasoning misalignments </a:t>
            </a:r>
          </a:p>
          <a:p>
            <a:pPr lvl="1"/>
            <a:r>
              <a:rPr lang="en-US" dirty="0"/>
              <a:t>T8 (Repudiation): Obscures decision trails in reasoning chains </a:t>
            </a:r>
          </a:p>
          <a:p>
            <a:pPr lvl="1"/>
            <a:r>
              <a:rPr lang="en-US" dirty="0"/>
              <a:t>T15 (Human Manipulation): Leverages reasoning to craft manipulative responses</a:t>
            </a:r>
          </a:p>
        </p:txBody>
      </p:sp>
    </p:spTree>
    <p:extLst>
      <p:ext uri="{BB962C8B-B14F-4D97-AF65-F5344CB8AC3E}">
        <p14:creationId xmlns:p14="http://schemas.microsoft.com/office/powerpoint/2010/main" val="2867775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072C2-F2FA-7AE2-255A-0977C9339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2DCEE-4FBE-8E7B-A484-576980E3196E}"/>
              </a:ext>
            </a:extLst>
          </p:cNvPr>
          <p:cNvSpPr>
            <a:spLocks noGrp="1"/>
          </p:cNvSpPr>
          <p:nvPr>
            <p:ph type="title"/>
          </p:nvPr>
        </p:nvSpPr>
        <p:spPr>
          <a:xfrm>
            <a:off x="838199" y="365125"/>
            <a:ext cx="11001499" cy="1325563"/>
          </a:xfrm>
        </p:spPr>
        <p:txBody>
          <a:bodyPr>
            <a:normAutofit/>
          </a:bodyPr>
          <a:lstStyle/>
          <a:p>
            <a:r>
              <a:rPr lang="en-US" dirty="0"/>
              <a:t>Memory Modules</a:t>
            </a:r>
            <a:br>
              <a:rPr lang="en-US" dirty="0"/>
            </a:br>
            <a:endParaRPr lang="en-US" dirty="0"/>
          </a:p>
        </p:txBody>
      </p:sp>
      <p:sp>
        <p:nvSpPr>
          <p:cNvPr id="5" name="Content Placeholder 4">
            <a:extLst>
              <a:ext uri="{FF2B5EF4-FFF2-40B4-BE49-F238E27FC236}">
                <a16:creationId xmlns:a16="http://schemas.microsoft.com/office/drawing/2014/main" id="{3307187B-7488-663A-C0E4-CB36951AE0ED}"/>
              </a:ext>
            </a:extLst>
          </p:cNvPr>
          <p:cNvSpPr>
            <a:spLocks noGrp="1"/>
          </p:cNvSpPr>
          <p:nvPr>
            <p:ph idx="1"/>
          </p:nvPr>
        </p:nvSpPr>
        <p:spPr/>
        <p:txBody>
          <a:bodyPr>
            <a:normAutofit fontScale="92500" lnSpcReduction="20000"/>
          </a:bodyPr>
          <a:lstStyle/>
          <a:p>
            <a:pPr marL="457200" lvl="1" indent="0">
              <a:buNone/>
            </a:pPr>
            <a:r>
              <a:rPr lang="en-US" dirty="0"/>
              <a:t>Enables the agent to retain short-term (immediate context) a long-term information (past interactions, knowledge) for coherent and personalized interactions. Context sensitivity (classification or compartmentalization) is used to reduce the risk of unauthorized information exposure. </a:t>
            </a:r>
          </a:p>
          <a:p>
            <a:pPr marL="457200" lvl="1" indent="0">
              <a:buNone/>
            </a:pPr>
            <a:endParaRPr lang="en-US" dirty="0"/>
          </a:p>
          <a:p>
            <a:pPr lvl="1"/>
            <a:r>
              <a:rPr lang="en-US" dirty="0"/>
              <a:t>In agent session memory: Limited to single session and single agent </a:t>
            </a:r>
          </a:p>
          <a:p>
            <a:pPr lvl="1"/>
            <a:r>
              <a:rPr lang="en-US" dirty="0"/>
              <a:t>Cross agent session memory: Share across multiple agents but limited to a single session. </a:t>
            </a:r>
          </a:p>
          <a:p>
            <a:pPr lvl="1"/>
            <a:r>
              <a:rPr lang="en-US" dirty="0"/>
              <a:t>In agent cross session memory: Limited to single agent but shared across multiple sessions. </a:t>
            </a:r>
          </a:p>
          <a:p>
            <a:pPr lvl="1"/>
            <a:r>
              <a:rPr lang="en-US" dirty="0"/>
              <a:t>Cross agent cross session memory: Shared across multiple agents and sessions.</a:t>
            </a:r>
          </a:p>
          <a:p>
            <a:pPr lvl="1"/>
            <a:r>
              <a:rPr lang="en-US" dirty="0"/>
              <a:t>In agent cross user memory: Limited to single agent but shared across multiple users. </a:t>
            </a:r>
          </a:p>
          <a:p>
            <a:pPr lvl="1"/>
            <a:r>
              <a:rPr lang="en-US" dirty="0"/>
              <a:t>Cross agent cross user: Shared across multiple agents and users.</a:t>
            </a:r>
          </a:p>
          <a:p>
            <a:pPr marL="457200" lvl="1" indent="0">
              <a:buNone/>
            </a:pPr>
            <a:endParaRPr lang="en-US" dirty="0"/>
          </a:p>
          <a:p>
            <a:pPr marL="514350" indent="-514350">
              <a:buFont typeface="+mj-lt"/>
              <a:buAutoNum type="arabicPeriod" startAt="4"/>
            </a:pPr>
            <a:endParaRPr lang="en-US" dirty="0"/>
          </a:p>
          <a:p>
            <a:pPr marL="514350" indent="-514350">
              <a:buFont typeface="+mj-lt"/>
              <a:buAutoNum type="arabicPeriod" startAt="4"/>
            </a:pPr>
            <a:endParaRPr lang="en-US" dirty="0"/>
          </a:p>
        </p:txBody>
      </p:sp>
    </p:spTree>
    <p:extLst>
      <p:ext uri="{BB962C8B-B14F-4D97-AF65-F5344CB8AC3E}">
        <p14:creationId xmlns:p14="http://schemas.microsoft.com/office/powerpoint/2010/main" val="2351364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B7D40-146F-D462-1FC9-0CF561B5A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A4D005-3AC5-CB68-A281-ECD89203E676}"/>
              </a:ext>
            </a:extLst>
          </p:cNvPr>
          <p:cNvSpPr>
            <a:spLocks noGrp="1"/>
          </p:cNvSpPr>
          <p:nvPr>
            <p:ph type="title"/>
          </p:nvPr>
        </p:nvSpPr>
        <p:spPr>
          <a:xfrm>
            <a:off x="838199" y="365125"/>
            <a:ext cx="11001499" cy="1325563"/>
          </a:xfrm>
        </p:spPr>
        <p:txBody>
          <a:bodyPr>
            <a:normAutofit/>
          </a:bodyPr>
          <a:lstStyle/>
          <a:p>
            <a:r>
              <a:rPr lang="en-US" dirty="0"/>
              <a:t>Memory Modules – Attack Surface</a:t>
            </a:r>
            <a:br>
              <a:rPr lang="en-US" dirty="0"/>
            </a:br>
            <a:endParaRPr lang="en-US" dirty="0"/>
          </a:p>
        </p:txBody>
      </p:sp>
      <p:sp>
        <p:nvSpPr>
          <p:cNvPr id="5" name="Content Placeholder 4">
            <a:extLst>
              <a:ext uri="{FF2B5EF4-FFF2-40B4-BE49-F238E27FC236}">
                <a16:creationId xmlns:a16="http://schemas.microsoft.com/office/drawing/2014/main" id="{6B9D8491-F911-935F-2876-4E2478983D90}"/>
              </a:ext>
            </a:extLst>
          </p:cNvPr>
          <p:cNvSpPr>
            <a:spLocks noGrp="1"/>
          </p:cNvSpPr>
          <p:nvPr>
            <p:ph idx="1"/>
          </p:nvPr>
        </p:nvSpPr>
        <p:spPr/>
        <p:txBody>
          <a:bodyPr>
            <a:normAutofit fontScale="85000" lnSpcReduction="20000"/>
          </a:bodyPr>
          <a:lstStyle/>
          <a:p>
            <a:pPr marL="0" indent="0">
              <a:buNone/>
            </a:pPr>
            <a:r>
              <a:rPr lang="en-US" dirty="0"/>
              <a:t>Data integrity issue</a:t>
            </a:r>
          </a:p>
          <a:p>
            <a:r>
              <a:rPr lang="en-US" dirty="0"/>
              <a:t>T1 (Memory Poisoning): Directly targets all memory types (KC4.1-KC4.6) </a:t>
            </a:r>
          </a:p>
          <a:p>
            <a:r>
              <a:rPr lang="en-US" dirty="0"/>
              <a:t>T3 (Privilege Compromise): Breaks information system boundary through context collapse, causing unauthorized data access/leakage (e.g. across tools) </a:t>
            </a:r>
          </a:p>
          <a:p>
            <a:r>
              <a:rPr lang="en-US" dirty="0"/>
              <a:t>T5 (Cascading Hallucination): Stores and amplifies hallucinations across sessions or agents </a:t>
            </a:r>
          </a:p>
          <a:p>
            <a:r>
              <a:rPr lang="en-US" dirty="0"/>
              <a:t>T6 (Intent Breaking &amp; Goal Manipulation): Abuses shared context, breaking integrity, leaking/contamination, or interfering with data records/assets (e.g. within a tool) that should be isolated from one another</a:t>
            </a:r>
          </a:p>
          <a:p>
            <a:r>
              <a:rPr lang="en-US" dirty="0"/>
              <a:t>T8 (Repudiation): Manipulates or erases evidence from memory</a:t>
            </a:r>
          </a:p>
          <a:p>
            <a:r>
              <a:rPr lang="en-US" dirty="0"/>
              <a:t>T12 (Communication Poisoning): Affects shared memory in multi-agent systems</a:t>
            </a:r>
          </a:p>
          <a:p>
            <a:pPr marL="514350" indent="-514350">
              <a:buFont typeface="+mj-lt"/>
              <a:buAutoNum type="arabicPeriod" startAt="4"/>
            </a:pPr>
            <a:endParaRPr lang="en-US" dirty="0"/>
          </a:p>
        </p:txBody>
      </p:sp>
    </p:spTree>
    <p:extLst>
      <p:ext uri="{BB962C8B-B14F-4D97-AF65-F5344CB8AC3E}">
        <p14:creationId xmlns:p14="http://schemas.microsoft.com/office/powerpoint/2010/main" val="4145856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B16D4-ECC4-95EC-AA15-50BBDB8C4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E4190-E432-59EC-B085-CDC3E8168470}"/>
              </a:ext>
            </a:extLst>
          </p:cNvPr>
          <p:cNvSpPr>
            <a:spLocks noGrp="1"/>
          </p:cNvSpPr>
          <p:nvPr>
            <p:ph type="title"/>
          </p:nvPr>
        </p:nvSpPr>
        <p:spPr>
          <a:xfrm>
            <a:off x="838199" y="365125"/>
            <a:ext cx="11001499" cy="1325563"/>
          </a:xfrm>
        </p:spPr>
        <p:txBody>
          <a:bodyPr>
            <a:normAutofit/>
          </a:bodyPr>
          <a:lstStyle/>
          <a:p>
            <a:r>
              <a:rPr lang="en-US" dirty="0"/>
              <a:t>Tool Integration Frameworks</a:t>
            </a:r>
            <a:br>
              <a:rPr lang="en-US" dirty="0"/>
            </a:br>
            <a:endParaRPr lang="en-US" dirty="0"/>
          </a:p>
        </p:txBody>
      </p:sp>
      <p:sp>
        <p:nvSpPr>
          <p:cNvPr id="5" name="Content Placeholder 4">
            <a:extLst>
              <a:ext uri="{FF2B5EF4-FFF2-40B4-BE49-F238E27FC236}">
                <a16:creationId xmlns:a16="http://schemas.microsoft.com/office/drawing/2014/main" id="{4A1B2799-A1EF-29D2-F21E-DE5FDE87AC88}"/>
              </a:ext>
            </a:extLst>
          </p:cNvPr>
          <p:cNvSpPr>
            <a:spLocks noGrp="1"/>
          </p:cNvSpPr>
          <p:nvPr>
            <p:ph idx="1"/>
          </p:nvPr>
        </p:nvSpPr>
        <p:spPr/>
        <p:txBody>
          <a:bodyPr>
            <a:normAutofit fontScale="92500"/>
          </a:bodyPr>
          <a:lstStyle/>
          <a:p>
            <a:pPr marL="0" indent="0">
              <a:buNone/>
            </a:pPr>
            <a:r>
              <a:rPr lang="en-US" dirty="0"/>
              <a:t>Extend the capability of the agent by using external tools (APIs, functions, data stores) to interact with the real world and other systems. </a:t>
            </a:r>
          </a:p>
          <a:p>
            <a:pPr marL="0" indent="0">
              <a:buNone/>
            </a:pPr>
            <a:endParaRPr lang="en-US" dirty="0"/>
          </a:p>
          <a:p>
            <a:r>
              <a:rPr lang="en-US" dirty="0"/>
              <a:t>Flexible Libraries/SDK features: Code level building blocks or specific API capabilities for developers. </a:t>
            </a:r>
          </a:p>
          <a:p>
            <a:r>
              <a:rPr lang="en-US" dirty="0"/>
              <a:t>Managed Platform/Services: Vendor provided solutions that handle infrastructure, simplify setup and manage much of the orchestration for building agents with tools. </a:t>
            </a:r>
          </a:p>
          <a:p>
            <a:r>
              <a:rPr lang="en-US" dirty="0"/>
              <a:t>Managed APIs: API is the main interaction point, vendor hosted services providing higher level abstraction. </a:t>
            </a:r>
          </a:p>
        </p:txBody>
      </p:sp>
    </p:spTree>
    <p:extLst>
      <p:ext uri="{BB962C8B-B14F-4D97-AF65-F5344CB8AC3E}">
        <p14:creationId xmlns:p14="http://schemas.microsoft.com/office/powerpoint/2010/main" val="2694354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8BB0-DEAF-DF2F-8542-8A6A2703A7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6D118-05CF-9CB3-EBFE-75F7C4240D03}"/>
              </a:ext>
            </a:extLst>
          </p:cNvPr>
          <p:cNvSpPr>
            <a:spLocks noGrp="1"/>
          </p:cNvSpPr>
          <p:nvPr>
            <p:ph type="title"/>
          </p:nvPr>
        </p:nvSpPr>
        <p:spPr>
          <a:xfrm>
            <a:off x="838199" y="365125"/>
            <a:ext cx="11001499" cy="1325563"/>
          </a:xfrm>
        </p:spPr>
        <p:txBody>
          <a:bodyPr>
            <a:normAutofit/>
          </a:bodyPr>
          <a:lstStyle/>
          <a:p>
            <a:r>
              <a:rPr lang="en-US" dirty="0"/>
              <a:t>Tool Integration Frameworks – Attack Surface</a:t>
            </a:r>
            <a:br>
              <a:rPr lang="en-US" dirty="0"/>
            </a:br>
            <a:endParaRPr lang="en-US" dirty="0"/>
          </a:p>
        </p:txBody>
      </p:sp>
      <p:sp>
        <p:nvSpPr>
          <p:cNvPr id="5" name="Content Placeholder 4">
            <a:extLst>
              <a:ext uri="{FF2B5EF4-FFF2-40B4-BE49-F238E27FC236}">
                <a16:creationId xmlns:a16="http://schemas.microsoft.com/office/drawing/2014/main" id="{205D53A8-A620-9C59-A92E-4E79C88AE3DF}"/>
              </a:ext>
            </a:extLst>
          </p:cNvPr>
          <p:cNvSpPr>
            <a:spLocks noGrp="1"/>
          </p:cNvSpPr>
          <p:nvPr>
            <p:ph idx="1"/>
          </p:nvPr>
        </p:nvSpPr>
        <p:spPr/>
        <p:txBody>
          <a:bodyPr>
            <a:normAutofit fontScale="92500" lnSpcReduction="20000"/>
          </a:bodyPr>
          <a:lstStyle/>
          <a:p>
            <a:pPr marL="0" indent="0">
              <a:buNone/>
            </a:pPr>
            <a:r>
              <a:rPr lang="en-US" dirty="0"/>
              <a:t>Tool exploitation vulnerabilities </a:t>
            </a:r>
          </a:p>
          <a:p>
            <a:r>
              <a:rPr lang="en-US" dirty="0"/>
              <a:t>T2 (Tool Misuse): Core vulnerability for all tool integration types (via MCP as well). Unverified, untrusted, or compromised tools </a:t>
            </a:r>
          </a:p>
          <a:p>
            <a:r>
              <a:rPr lang="en-US" dirty="0"/>
              <a:t>T3 (Privilege Compromise): Tools often run with specific privileges that can be exploited/excessive agency. </a:t>
            </a:r>
          </a:p>
          <a:p>
            <a:r>
              <a:rPr lang="en-US" dirty="0"/>
              <a:t>T6 (Intent Breaking &amp; Goal Manipulation): Interfering with data records/assets (e.g., within a tool) that should be isolated from one another </a:t>
            </a:r>
          </a:p>
          <a:p>
            <a:r>
              <a:rPr lang="en-US" dirty="0"/>
              <a:t>T7 (Misaligned Behaviors): Creates subtle reasoning misalignments </a:t>
            </a:r>
          </a:p>
          <a:p>
            <a:r>
              <a:rPr lang="en-US" dirty="0"/>
              <a:t>T8 (Repudiation): Tool use may lack proper logging and auditability </a:t>
            </a:r>
          </a:p>
          <a:p>
            <a:r>
              <a:rPr lang="en-US" dirty="0"/>
              <a:t>T11 (Unexpected RCE): Tools might enable unexpected code execution</a:t>
            </a:r>
          </a:p>
        </p:txBody>
      </p:sp>
    </p:spTree>
    <p:extLst>
      <p:ext uri="{BB962C8B-B14F-4D97-AF65-F5344CB8AC3E}">
        <p14:creationId xmlns:p14="http://schemas.microsoft.com/office/powerpoint/2010/main" val="2603306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13BA-480C-B62C-B51B-41B6C7ABE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89AE2-280E-5208-D040-6FB2C1CD5BD7}"/>
              </a:ext>
            </a:extLst>
          </p:cNvPr>
          <p:cNvSpPr>
            <a:spLocks noGrp="1"/>
          </p:cNvSpPr>
          <p:nvPr>
            <p:ph type="title"/>
          </p:nvPr>
        </p:nvSpPr>
        <p:spPr>
          <a:xfrm>
            <a:off x="838199" y="365125"/>
            <a:ext cx="11001499" cy="1325563"/>
          </a:xfrm>
        </p:spPr>
        <p:txBody>
          <a:bodyPr>
            <a:normAutofit/>
          </a:bodyPr>
          <a:lstStyle/>
          <a:p>
            <a:r>
              <a:rPr lang="en-US" dirty="0"/>
              <a:t>Operational Environment (Agencies)</a:t>
            </a:r>
            <a:br>
              <a:rPr lang="en-US" dirty="0"/>
            </a:br>
            <a:endParaRPr lang="en-US" dirty="0"/>
          </a:p>
        </p:txBody>
      </p:sp>
      <p:sp>
        <p:nvSpPr>
          <p:cNvPr id="5" name="Content Placeholder 4">
            <a:extLst>
              <a:ext uri="{FF2B5EF4-FFF2-40B4-BE49-F238E27FC236}">
                <a16:creationId xmlns:a16="http://schemas.microsoft.com/office/drawing/2014/main" id="{6FBA6165-8CBA-DDE4-F5CF-77688BA20486}"/>
              </a:ext>
            </a:extLst>
          </p:cNvPr>
          <p:cNvSpPr>
            <a:spLocks noGrp="1"/>
          </p:cNvSpPr>
          <p:nvPr>
            <p:ph idx="1"/>
          </p:nvPr>
        </p:nvSpPr>
        <p:spPr>
          <a:xfrm>
            <a:off x="748145" y="1436914"/>
            <a:ext cx="11317185" cy="5153891"/>
          </a:xfrm>
        </p:spPr>
        <p:txBody>
          <a:bodyPr>
            <a:normAutofit fontScale="55000" lnSpcReduction="20000"/>
          </a:bodyPr>
          <a:lstStyle/>
          <a:p>
            <a:pPr marL="0" indent="0">
              <a:buNone/>
            </a:pPr>
            <a:r>
              <a:rPr lang="en-US" dirty="0"/>
              <a:t>Utilizing different agencies enables interaction with, gather, and process information from external environments, allowing them to operate effectively within them.</a:t>
            </a:r>
          </a:p>
          <a:p>
            <a:pPr marL="0" indent="0">
              <a:buNone/>
            </a:pPr>
            <a:endParaRPr lang="en-US" dirty="0"/>
          </a:p>
          <a:p>
            <a:r>
              <a:rPr lang="en-US" dirty="0"/>
              <a:t>API Access: </a:t>
            </a:r>
          </a:p>
          <a:p>
            <a:pPr lvl="1"/>
            <a:r>
              <a:rPr lang="en-US" dirty="0"/>
              <a:t>compromised agent might have the ability to launch attacks on the API (see OWASP Top 10 for API), via the parameters generated by the LLM, resulting in a parameter pollution attack</a:t>
            </a:r>
          </a:p>
          <a:p>
            <a:pPr lvl="1"/>
            <a:r>
              <a:rPr lang="en-US" dirty="0"/>
              <a:t>A compromised agent might have the ability to generate unwanted API calls on behalf of the user by utilizing the agent's excessive authorization, and to launch attacks on the API</a:t>
            </a:r>
          </a:p>
          <a:p>
            <a:r>
              <a:rPr lang="en-US" dirty="0"/>
              <a:t>Code Execution: an agent utilizing LLM to generate a parameter used in a predefined Python/PHP/JS function). A compromised agent might have the ability to launch code injection attacks (see OWASP code injection), via the parameters generated by the LLM. A compromised agent might have the ability to run arbitrary code generated by an LLM</a:t>
            </a:r>
          </a:p>
          <a:p>
            <a:r>
              <a:rPr lang="en-US" dirty="0"/>
              <a:t>Database Execution: </a:t>
            </a:r>
          </a:p>
          <a:p>
            <a:pPr lvl="1"/>
            <a:r>
              <a:rPr lang="en-US" dirty="0"/>
              <a:t>A compromised agent might disrupt data in the data source or provide malformed information retrieved from the data source - utilizing an external data source to gain contextual information, or updates records in external sources based on user inputs </a:t>
            </a:r>
          </a:p>
          <a:p>
            <a:pPr lvl="1"/>
            <a:r>
              <a:rPr lang="en-US" dirty="0"/>
              <a:t>A compromised agent might have the ability to alter any record in the database, delete a database/table, or access and leak any information stored within the database – if the agent has capability to generate and run all CRUD operations</a:t>
            </a:r>
          </a:p>
          <a:p>
            <a:r>
              <a:rPr lang="en-US" dirty="0"/>
              <a:t>Web Access capabilities: A compromised agent is likely to form due to exposure to untrusted web content, and it might perform unwanted operations on behalf of the user by utilizing the agent’s excessive authorization (e.g., changing sharing settings or account settings on open user sessions).</a:t>
            </a:r>
          </a:p>
          <a:p>
            <a:r>
              <a:rPr lang="en-US" dirty="0"/>
              <a:t>Controlling PC operations: A compromised agent might perform unwanted operations, expose or leak personal information, and perform malicious operations such as encrypting files.</a:t>
            </a:r>
          </a:p>
          <a:p>
            <a:r>
              <a:rPr lang="en-US" dirty="0"/>
              <a:t>Operating Critical Systems: Unauthorized operations in critical systems can lead to catastrophic failures </a:t>
            </a:r>
          </a:p>
          <a:p>
            <a:r>
              <a:rPr lang="en-US" dirty="0"/>
              <a:t>Access to IoT devices: Unauthorized control over IoT devices</a:t>
            </a:r>
          </a:p>
        </p:txBody>
      </p:sp>
    </p:spTree>
    <p:extLst>
      <p:ext uri="{BB962C8B-B14F-4D97-AF65-F5344CB8AC3E}">
        <p14:creationId xmlns:p14="http://schemas.microsoft.com/office/powerpoint/2010/main" val="2728929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479AF-40C4-8827-0C4F-18FD9AD79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841E5-3C4D-B258-258D-5E199D4B31C1}"/>
              </a:ext>
            </a:extLst>
          </p:cNvPr>
          <p:cNvSpPr>
            <a:spLocks noGrp="1"/>
          </p:cNvSpPr>
          <p:nvPr>
            <p:ph type="title"/>
          </p:nvPr>
        </p:nvSpPr>
        <p:spPr>
          <a:xfrm>
            <a:off x="838199" y="365125"/>
            <a:ext cx="11001499" cy="1325563"/>
          </a:xfrm>
        </p:spPr>
        <p:txBody>
          <a:bodyPr>
            <a:normAutofit/>
          </a:bodyPr>
          <a:lstStyle/>
          <a:p>
            <a:r>
              <a:rPr lang="en-US" dirty="0"/>
              <a:t>Operational Environment – Attack Surface</a:t>
            </a:r>
            <a:br>
              <a:rPr lang="en-US" dirty="0"/>
            </a:br>
            <a:endParaRPr lang="en-US" dirty="0"/>
          </a:p>
        </p:txBody>
      </p:sp>
      <p:sp>
        <p:nvSpPr>
          <p:cNvPr id="5" name="Content Placeholder 4">
            <a:extLst>
              <a:ext uri="{FF2B5EF4-FFF2-40B4-BE49-F238E27FC236}">
                <a16:creationId xmlns:a16="http://schemas.microsoft.com/office/drawing/2014/main" id="{92165E0F-EE51-D5C5-0DD4-DBBE6D61DC8D}"/>
              </a:ext>
            </a:extLst>
          </p:cNvPr>
          <p:cNvSpPr>
            <a:spLocks noGrp="1"/>
          </p:cNvSpPr>
          <p:nvPr>
            <p:ph idx="1"/>
          </p:nvPr>
        </p:nvSpPr>
        <p:spPr>
          <a:xfrm>
            <a:off x="838200" y="1484416"/>
            <a:ext cx="10515600" cy="4692547"/>
          </a:xfrm>
        </p:spPr>
        <p:txBody>
          <a:bodyPr>
            <a:normAutofit fontScale="77500" lnSpcReduction="20000"/>
          </a:bodyPr>
          <a:lstStyle/>
          <a:p>
            <a:pPr marL="0" indent="0">
              <a:buNone/>
            </a:pPr>
            <a:r>
              <a:rPr lang="en-US" dirty="0"/>
              <a:t>Monitoring gaps and external system risks </a:t>
            </a:r>
          </a:p>
          <a:p>
            <a:r>
              <a:rPr lang="en-US" dirty="0"/>
              <a:t>T2 (Tool Misuse): All operational environments can be misused, introducing more untrusted content and opportunity for agent failure, e.g., unauthorized settings changes. </a:t>
            </a:r>
          </a:p>
          <a:p>
            <a:r>
              <a:rPr lang="en-US" dirty="0"/>
              <a:t>T3 (Privilege Compromise): Highest risk in environments with extensive access (KC6.1.2, KC6.2.2, KC6.3.2) </a:t>
            </a:r>
          </a:p>
          <a:p>
            <a:r>
              <a:rPr lang="en-US" dirty="0"/>
              <a:t>T4 (Resource Overload): External services can be overwhelmed </a:t>
            </a:r>
          </a:p>
          <a:p>
            <a:r>
              <a:rPr lang="en-US" dirty="0"/>
              <a:t>T10 (Overwhelming HITL): Creates excessive activity requiring human approval </a:t>
            </a:r>
          </a:p>
          <a:p>
            <a:r>
              <a:rPr lang="en-US" dirty="0"/>
              <a:t>T11 (Unexpected RCE): Direct risk to code execution environments (KC6.2) </a:t>
            </a:r>
          </a:p>
          <a:p>
            <a:r>
              <a:rPr lang="en-US" dirty="0"/>
              <a:t>T12 (Agent communication poisoning): Using external systems for side channel communications and memory persistence </a:t>
            </a:r>
          </a:p>
          <a:p>
            <a:r>
              <a:rPr lang="en-US" dirty="0"/>
              <a:t>T13 (Rogue agents): Compromised AI agent activity outside monitoring limits </a:t>
            </a:r>
          </a:p>
          <a:p>
            <a:r>
              <a:rPr lang="en-US" dirty="0"/>
              <a:t>T15 (Human Manipulation): Leverages operational access to manipulate humans</a:t>
            </a:r>
          </a:p>
        </p:txBody>
      </p:sp>
    </p:spTree>
    <p:extLst>
      <p:ext uri="{BB962C8B-B14F-4D97-AF65-F5344CB8AC3E}">
        <p14:creationId xmlns:p14="http://schemas.microsoft.com/office/powerpoint/2010/main" val="346589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989C9-94C2-D737-26FF-243D768D4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CA1F6-29F3-CEC0-CBF1-4250CABA231E}"/>
              </a:ext>
            </a:extLst>
          </p:cNvPr>
          <p:cNvSpPr>
            <a:spLocks noGrp="1"/>
          </p:cNvSpPr>
          <p:nvPr>
            <p:ph type="ctrTitle"/>
          </p:nvPr>
        </p:nvSpPr>
        <p:spPr/>
        <p:txBody>
          <a:bodyPr/>
          <a:lstStyle/>
          <a:p>
            <a:r>
              <a:rPr lang="en-US" dirty="0"/>
              <a:t>Secure Architecture Patterns</a:t>
            </a:r>
          </a:p>
        </p:txBody>
      </p:sp>
      <p:sp>
        <p:nvSpPr>
          <p:cNvPr id="3" name="Subtitle 2">
            <a:extLst>
              <a:ext uri="{FF2B5EF4-FFF2-40B4-BE49-F238E27FC236}">
                <a16:creationId xmlns:a16="http://schemas.microsoft.com/office/drawing/2014/main" id="{82198278-6EF0-FEEA-4931-2857C2038C96}"/>
              </a:ext>
            </a:extLst>
          </p:cNvPr>
          <p:cNvSpPr>
            <a:spLocks noGrp="1"/>
          </p:cNvSpPr>
          <p:nvPr>
            <p:ph type="subTitle" idx="1"/>
          </p:nvPr>
        </p:nvSpPr>
        <p:spPr/>
        <p:txBody>
          <a:bodyPr/>
          <a:lstStyle/>
          <a:p>
            <a:r>
              <a:rPr lang="en-US" dirty="0"/>
              <a:t>The choice of architecture(Sequential, hierarchical, swarm) significantly influences the attack surface and the effectiveness of different security controls </a:t>
            </a:r>
          </a:p>
        </p:txBody>
      </p:sp>
    </p:spTree>
    <p:extLst>
      <p:ext uri="{BB962C8B-B14F-4D97-AF65-F5344CB8AC3E}">
        <p14:creationId xmlns:p14="http://schemas.microsoft.com/office/powerpoint/2010/main" val="2742336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A9A33-A1DD-225F-6966-9ADB0628AB22}"/>
              </a:ext>
            </a:extLst>
          </p:cNvPr>
          <p:cNvSpPr>
            <a:spLocks noGrp="1"/>
          </p:cNvSpPr>
          <p:nvPr>
            <p:ph type="title"/>
          </p:nvPr>
        </p:nvSpPr>
        <p:spPr/>
        <p:txBody>
          <a:bodyPr/>
          <a:lstStyle/>
          <a:p>
            <a:r>
              <a:rPr lang="en-US" dirty="0"/>
              <a:t>Tool use Pattern Interactions </a:t>
            </a:r>
          </a:p>
        </p:txBody>
      </p:sp>
      <p:pic>
        <p:nvPicPr>
          <p:cNvPr id="4" name="Content Placeholder 3">
            <a:extLst>
              <a:ext uri="{FF2B5EF4-FFF2-40B4-BE49-F238E27FC236}">
                <a16:creationId xmlns:a16="http://schemas.microsoft.com/office/drawing/2014/main" id="{AD62E445-BA12-5BD1-6FE4-C5DFED0C5B65}"/>
              </a:ext>
            </a:extLst>
          </p:cNvPr>
          <p:cNvPicPr>
            <a:picLocks noGrp="1" noChangeAspect="1"/>
          </p:cNvPicPr>
          <p:nvPr>
            <p:ph idx="1"/>
          </p:nvPr>
        </p:nvPicPr>
        <p:blipFill>
          <a:blip r:embed="rId2"/>
          <a:stretch>
            <a:fillRect/>
          </a:stretch>
        </p:blipFill>
        <p:spPr>
          <a:xfrm>
            <a:off x="6096000" y="1607527"/>
            <a:ext cx="5767439" cy="4787534"/>
          </a:xfrm>
          <a:prstGeom prst="rect">
            <a:avLst/>
          </a:prstGeom>
        </p:spPr>
      </p:pic>
      <p:sp>
        <p:nvSpPr>
          <p:cNvPr id="6" name="Content Placeholder 4">
            <a:extLst>
              <a:ext uri="{FF2B5EF4-FFF2-40B4-BE49-F238E27FC236}">
                <a16:creationId xmlns:a16="http://schemas.microsoft.com/office/drawing/2014/main" id="{C100F577-11CC-3E6F-E6E4-7CD5C132C335}"/>
              </a:ext>
            </a:extLst>
          </p:cNvPr>
          <p:cNvSpPr txBox="1">
            <a:spLocks/>
          </p:cNvSpPr>
          <p:nvPr/>
        </p:nvSpPr>
        <p:spPr>
          <a:xfrm>
            <a:off x="838200" y="1825625"/>
            <a:ext cx="4940299"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Concept: Equips agents with the ability to use external tools, APIs, or functions to extend their capabilities beyond internal knowledge or LLM reasoning. The agent delegates tasks such as data retrieval, calculations, or actions to the appropriate tools. </a:t>
            </a:r>
          </a:p>
          <a:p>
            <a:r>
              <a:rPr lang="en-US" dirty="0"/>
              <a:t>Key Components: Requires tool definitions, an agent reasoning loop capable of selecting and invoking tools, and integration mechanisms.</a:t>
            </a:r>
          </a:p>
        </p:txBody>
      </p:sp>
    </p:spTree>
    <p:extLst>
      <p:ext uri="{BB962C8B-B14F-4D97-AF65-F5344CB8AC3E}">
        <p14:creationId xmlns:p14="http://schemas.microsoft.com/office/powerpoint/2010/main" val="3707191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F50F-FC61-7B9E-911E-85E3C0D9F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57B98-91CB-10DB-C8B9-BC9F16BB455E}"/>
              </a:ext>
            </a:extLst>
          </p:cNvPr>
          <p:cNvSpPr>
            <a:spLocks noGrp="1"/>
          </p:cNvSpPr>
          <p:nvPr>
            <p:ph type="title"/>
          </p:nvPr>
        </p:nvSpPr>
        <p:spPr/>
        <p:txBody>
          <a:bodyPr/>
          <a:lstStyle/>
          <a:p>
            <a:r>
              <a:rPr lang="en-US" dirty="0"/>
              <a:t>Reflection Pattern</a:t>
            </a:r>
          </a:p>
        </p:txBody>
      </p:sp>
      <p:sp>
        <p:nvSpPr>
          <p:cNvPr id="5" name="Content Placeholder 4">
            <a:extLst>
              <a:ext uri="{FF2B5EF4-FFF2-40B4-BE49-F238E27FC236}">
                <a16:creationId xmlns:a16="http://schemas.microsoft.com/office/drawing/2014/main" id="{73F2BD1D-44A6-2A6B-D52F-D557E57619AD}"/>
              </a:ext>
            </a:extLst>
          </p:cNvPr>
          <p:cNvSpPr>
            <a:spLocks noGrp="1"/>
          </p:cNvSpPr>
          <p:nvPr>
            <p:ph idx="1"/>
          </p:nvPr>
        </p:nvSpPr>
        <p:spPr>
          <a:xfrm>
            <a:off x="838200" y="1825625"/>
            <a:ext cx="6580239" cy="4351338"/>
          </a:xfrm>
        </p:spPr>
        <p:txBody>
          <a:bodyPr/>
          <a:lstStyle/>
          <a:p>
            <a:r>
              <a:rPr lang="en-US" dirty="0"/>
              <a:t>Concept: Enables agents to introspect, evaluate their past actions, decisions, or outputs against goals or metrics, and use this self-assessment to refine future strategies or correct errors. </a:t>
            </a:r>
          </a:p>
          <a:p>
            <a:r>
              <a:rPr lang="en-US" dirty="0"/>
              <a:t>Key Components: Involves feedback loops, evaluation logic, and mechanisms for the agent to modify its behavior or knowledge.</a:t>
            </a:r>
          </a:p>
        </p:txBody>
      </p:sp>
      <p:pic>
        <p:nvPicPr>
          <p:cNvPr id="6" name="Picture 5">
            <a:extLst>
              <a:ext uri="{FF2B5EF4-FFF2-40B4-BE49-F238E27FC236}">
                <a16:creationId xmlns:a16="http://schemas.microsoft.com/office/drawing/2014/main" id="{B16F3C85-E2FD-DAE7-9F9D-2DA6E4DC2367}"/>
              </a:ext>
            </a:extLst>
          </p:cNvPr>
          <p:cNvPicPr>
            <a:picLocks noChangeAspect="1"/>
          </p:cNvPicPr>
          <p:nvPr/>
        </p:nvPicPr>
        <p:blipFill>
          <a:blip r:embed="rId2"/>
          <a:stretch>
            <a:fillRect/>
          </a:stretch>
        </p:blipFill>
        <p:spPr>
          <a:xfrm>
            <a:off x="8390193" y="478093"/>
            <a:ext cx="2317135" cy="6128212"/>
          </a:xfrm>
          <a:prstGeom prst="rect">
            <a:avLst/>
          </a:prstGeom>
        </p:spPr>
      </p:pic>
    </p:spTree>
    <p:extLst>
      <p:ext uri="{BB962C8B-B14F-4D97-AF65-F5344CB8AC3E}">
        <p14:creationId xmlns:p14="http://schemas.microsoft.com/office/powerpoint/2010/main" val="3941216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81FE6-1F42-C04E-59FE-91F98F556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66ECC-63DD-3CA9-6724-C5309E073030}"/>
              </a:ext>
            </a:extLst>
          </p:cNvPr>
          <p:cNvSpPr>
            <a:spLocks noGrp="1"/>
          </p:cNvSpPr>
          <p:nvPr>
            <p:ph type="title"/>
          </p:nvPr>
        </p:nvSpPr>
        <p:spPr/>
        <p:txBody>
          <a:bodyPr/>
          <a:lstStyle/>
          <a:p>
            <a:r>
              <a:rPr lang="en-US" dirty="0"/>
              <a:t>RAG Pattern</a:t>
            </a:r>
          </a:p>
        </p:txBody>
      </p:sp>
      <p:sp>
        <p:nvSpPr>
          <p:cNvPr id="5" name="Content Placeholder 4">
            <a:extLst>
              <a:ext uri="{FF2B5EF4-FFF2-40B4-BE49-F238E27FC236}">
                <a16:creationId xmlns:a16="http://schemas.microsoft.com/office/drawing/2014/main" id="{B97D32A3-82C8-DA29-4328-20709F513CED}"/>
              </a:ext>
            </a:extLst>
          </p:cNvPr>
          <p:cNvSpPr>
            <a:spLocks noGrp="1"/>
          </p:cNvSpPr>
          <p:nvPr>
            <p:ph idx="1"/>
          </p:nvPr>
        </p:nvSpPr>
        <p:spPr>
          <a:xfrm>
            <a:off x="838200" y="1825625"/>
            <a:ext cx="6580239" cy="4351338"/>
          </a:xfrm>
        </p:spPr>
        <p:txBody>
          <a:bodyPr>
            <a:normAutofit lnSpcReduction="10000"/>
          </a:bodyPr>
          <a:lstStyle/>
          <a:p>
            <a:r>
              <a:rPr lang="en-US" dirty="0"/>
              <a:t>Concept: Enhances LLM-based agents by first retrieving relevant information from an external knowledge base (vector store, database, etc.) based on the user query, and then providing this retrieved context to the LLM along with the original query to generate a more informed and accurate response. </a:t>
            </a:r>
          </a:p>
          <a:p>
            <a:r>
              <a:rPr lang="en-US" dirty="0"/>
              <a:t>Key Components: Requires a retriever module, a knowledge base/vector store, and integration with the LLM prompt.</a:t>
            </a:r>
          </a:p>
        </p:txBody>
      </p:sp>
      <p:pic>
        <p:nvPicPr>
          <p:cNvPr id="3" name="Picture 2">
            <a:extLst>
              <a:ext uri="{FF2B5EF4-FFF2-40B4-BE49-F238E27FC236}">
                <a16:creationId xmlns:a16="http://schemas.microsoft.com/office/drawing/2014/main" id="{FDA3ADBD-530A-94D7-B62E-8F45AFE6DC6B}"/>
              </a:ext>
            </a:extLst>
          </p:cNvPr>
          <p:cNvPicPr>
            <a:picLocks noChangeAspect="1"/>
          </p:cNvPicPr>
          <p:nvPr/>
        </p:nvPicPr>
        <p:blipFill>
          <a:blip r:embed="rId2"/>
          <a:stretch>
            <a:fillRect/>
          </a:stretch>
        </p:blipFill>
        <p:spPr>
          <a:xfrm>
            <a:off x="8411497" y="633368"/>
            <a:ext cx="3210232" cy="5543595"/>
          </a:xfrm>
          <a:prstGeom prst="rect">
            <a:avLst/>
          </a:prstGeom>
        </p:spPr>
      </p:pic>
    </p:spTree>
    <p:extLst>
      <p:ext uri="{BB962C8B-B14F-4D97-AF65-F5344CB8AC3E}">
        <p14:creationId xmlns:p14="http://schemas.microsoft.com/office/powerpoint/2010/main" val="3014028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D8719-82D2-2D06-557A-E412F306F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9329D-49A5-2B3C-ED6C-0A7C35D7122D}"/>
              </a:ext>
            </a:extLst>
          </p:cNvPr>
          <p:cNvSpPr>
            <a:spLocks noGrp="1"/>
          </p:cNvSpPr>
          <p:nvPr>
            <p:ph type="title"/>
          </p:nvPr>
        </p:nvSpPr>
        <p:spPr/>
        <p:txBody>
          <a:bodyPr/>
          <a:lstStyle/>
          <a:p>
            <a:r>
              <a:rPr lang="en-US" dirty="0"/>
              <a:t>User Privilege/Auth Assumption pattern for execution</a:t>
            </a:r>
          </a:p>
        </p:txBody>
      </p:sp>
      <p:sp>
        <p:nvSpPr>
          <p:cNvPr id="5" name="Content Placeholder 4">
            <a:extLst>
              <a:ext uri="{FF2B5EF4-FFF2-40B4-BE49-F238E27FC236}">
                <a16:creationId xmlns:a16="http://schemas.microsoft.com/office/drawing/2014/main" id="{ACE76A83-3F50-05BC-6E87-7CBE8B1C76C6}"/>
              </a:ext>
            </a:extLst>
          </p:cNvPr>
          <p:cNvSpPr>
            <a:spLocks noGrp="1"/>
          </p:cNvSpPr>
          <p:nvPr>
            <p:ph idx="1"/>
          </p:nvPr>
        </p:nvSpPr>
        <p:spPr>
          <a:xfrm>
            <a:off x="838200" y="1825625"/>
            <a:ext cx="6580239" cy="4351338"/>
          </a:xfrm>
        </p:spPr>
        <p:txBody>
          <a:bodyPr>
            <a:normAutofit fontScale="85000" lnSpcReduction="10000"/>
          </a:bodyPr>
          <a:lstStyle/>
          <a:p>
            <a:endParaRPr lang="en-US" dirty="0"/>
          </a:p>
          <a:p>
            <a:r>
              <a:rPr lang="en-US" dirty="0"/>
              <a:t>The agent should only have access to information that the user calling the agent has access. Just-In-Time access and ephemeral access use cases.</a:t>
            </a:r>
          </a:p>
          <a:p>
            <a:r>
              <a:rPr lang="en-US" dirty="0"/>
              <a:t>If the user privileges are not already restricted by a strong “Chinese Wall” model (to prevent information in records from leaking to unrelated records), the agent should track the boundary of the context it is operating on.</a:t>
            </a:r>
          </a:p>
          <a:p>
            <a:r>
              <a:rPr lang="en-US" dirty="0"/>
              <a:t>Key Components: LLM brain (KC1), Execution system for an API (KC6.1, KC6.3, KC6.4), and an authentication/authorization/IAM system.</a:t>
            </a:r>
          </a:p>
        </p:txBody>
      </p:sp>
      <p:pic>
        <p:nvPicPr>
          <p:cNvPr id="4" name="Picture 3">
            <a:extLst>
              <a:ext uri="{FF2B5EF4-FFF2-40B4-BE49-F238E27FC236}">
                <a16:creationId xmlns:a16="http://schemas.microsoft.com/office/drawing/2014/main" id="{57F5C108-7CC1-F0B4-274F-84B89952055C}"/>
              </a:ext>
            </a:extLst>
          </p:cNvPr>
          <p:cNvPicPr>
            <a:picLocks noChangeAspect="1"/>
          </p:cNvPicPr>
          <p:nvPr/>
        </p:nvPicPr>
        <p:blipFill>
          <a:blip r:embed="rId2"/>
          <a:stretch>
            <a:fillRect/>
          </a:stretch>
        </p:blipFill>
        <p:spPr>
          <a:xfrm>
            <a:off x="7733481" y="1553452"/>
            <a:ext cx="3620319" cy="4507790"/>
          </a:xfrm>
          <a:prstGeom prst="rect">
            <a:avLst/>
          </a:prstGeom>
        </p:spPr>
      </p:pic>
    </p:spTree>
    <p:extLst>
      <p:ext uri="{BB962C8B-B14F-4D97-AF65-F5344CB8AC3E}">
        <p14:creationId xmlns:p14="http://schemas.microsoft.com/office/powerpoint/2010/main" val="584442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6C01F-6BBA-1140-53E4-9823174D7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746BE-1774-F168-9784-97A2C9D3FB42}"/>
              </a:ext>
            </a:extLst>
          </p:cNvPr>
          <p:cNvSpPr>
            <a:spLocks noGrp="1"/>
          </p:cNvSpPr>
          <p:nvPr>
            <p:ph type="title"/>
          </p:nvPr>
        </p:nvSpPr>
        <p:spPr/>
        <p:txBody>
          <a:bodyPr/>
          <a:lstStyle/>
          <a:p>
            <a:r>
              <a:rPr lang="en-US" dirty="0"/>
              <a:t>Sequential Agent Architecture</a:t>
            </a:r>
          </a:p>
        </p:txBody>
      </p:sp>
      <p:sp>
        <p:nvSpPr>
          <p:cNvPr id="5" name="Content Placeholder 4">
            <a:extLst>
              <a:ext uri="{FF2B5EF4-FFF2-40B4-BE49-F238E27FC236}">
                <a16:creationId xmlns:a16="http://schemas.microsoft.com/office/drawing/2014/main" id="{32C41F29-029F-FF51-BE7F-E38D161637F6}"/>
              </a:ext>
            </a:extLst>
          </p:cNvPr>
          <p:cNvSpPr>
            <a:spLocks noGrp="1"/>
          </p:cNvSpPr>
          <p:nvPr>
            <p:ph idx="1"/>
          </p:nvPr>
        </p:nvSpPr>
        <p:spPr>
          <a:xfrm>
            <a:off x="838200" y="1825625"/>
            <a:ext cx="6580239" cy="4351338"/>
          </a:xfrm>
        </p:spPr>
        <p:txBody>
          <a:bodyPr>
            <a:normAutofit fontScale="92500" lnSpcReduction="10000"/>
          </a:bodyPr>
          <a:lstStyle/>
          <a:p>
            <a:r>
              <a:rPr lang="en-US" dirty="0"/>
              <a:t>A straightforward linear workflow where a single agent processes input through planning, execution, and basic tool use. This pattern focuses on simplicity with a clear chain of thought and limited memory. This basic pattern uses a single LLM as the cognitive core with a linear workflow:</a:t>
            </a:r>
          </a:p>
          <a:p>
            <a:pPr lvl="1"/>
            <a:r>
              <a:rPr lang="en-US" dirty="0"/>
              <a:t> Brain: Single LLM (KC1.1) </a:t>
            </a:r>
          </a:p>
          <a:p>
            <a:pPr lvl="1"/>
            <a:r>
              <a:rPr lang="en-US" dirty="0"/>
              <a:t>Control: Simple sequential workflow (KC2.1) </a:t>
            </a:r>
          </a:p>
          <a:p>
            <a:pPr lvl="1"/>
            <a:r>
              <a:rPr lang="en-US" dirty="0"/>
              <a:t>Reasoning: Chain of Thought reasoning (KC3.3)</a:t>
            </a:r>
          </a:p>
          <a:p>
            <a:pPr lvl="1"/>
            <a:r>
              <a:rPr lang="en-US" dirty="0"/>
              <a:t>Memory: In-agent session memory only (KC4.1)</a:t>
            </a:r>
          </a:p>
          <a:p>
            <a:pPr lvl="1"/>
            <a:r>
              <a:rPr lang="en-US" dirty="0"/>
              <a:t>Tools: Limited SDK integration (KC5.1) </a:t>
            </a:r>
          </a:p>
          <a:p>
            <a:pPr lvl="1"/>
            <a:r>
              <a:rPr lang="en-US" dirty="0"/>
              <a:t>Environment: Restricted API access (KC6.1.1)</a:t>
            </a:r>
          </a:p>
          <a:p>
            <a:endParaRPr lang="en-US" dirty="0"/>
          </a:p>
        </p:txBody>
      </p:sp>
      <p:pic>
        <p:nvPicPr>
          <p:cNvPr id="3" name="Picture 2">
            <a:extLst>
              <a:ext uri="{FF2B5EF4-FFF2-40B4-BE49-F238E27FC236}">
                <a16:creationId xmlns:a16="http://schemas.microsoft.com/office/drawing/2014/main" id="{14C6C63B-13A3-C7AE-C282-BE15CFB15A07}"/>
              </a:ext>
            </a:extLst>
          </p:cNvPr>
          <p:cNvPicPr>
            <a:picLocks noChangeAspect="1"/>
          </p:cNvPicPr>
          <p:nvPr/>
        </p:nvPicPr>
        <p:blipFill>
          <a:blip r:embed="rId2"/>
          <a:stretch>
            <a:fillRect/>
          </a:stretch>
        </p:blipFill>
        <p:spPr>
          <a:xfrm>
            <a:off x="7570429" y="1518879"/>
            <a:ext cx="4249974" cy="4658084"/>
          </a:xfrm>
          <a:prstGeom prst="rect">
            <a:avLst/>
          </a:prstGeom>
        </p:spPr>
      </p:pic>
    </p:spTree>
    <p:extLst>
      <p:ext uri="{BB962C8B-B14F-4D97-AF65-F5344CB8AC3E}">
        <p14:creationId xmlns:p14="http://schemas.microsoft.com/office/powerpoint/2010/main" val="723846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AB91C-C07E-8182-4400-ED5B315104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BA3C7-76CE-39E7-B8C9-B4D1B9549283}"/>
              </a:ext>
            </a:extLst>
          </p:cNvPr>
          <p:cNvSpPr>
            <a:spLocks noGrp="1"/>
          </p:cNvSpPr>
          <p:nvPr>
            <p:ph type="title"/>
          </p:nvPr>
        </p:nvSpPr>
        <p:spPr/>
        <p:txBody>
          <a:bodyPr/>
          <a:lstStyle/>
          <a:p>
            <a:r>
              <a:rPr lang="en-US" dirty="0"/>
              <a:t>Hierarchical Agent Architecture/Role Based Multi Agent Systems</a:t>
            </a:r>
          </a:p>
        </p:txBody>
      </p:sp>
      <p:sp>
        <p:nvSpPr>
          <p:cNvPr id="5" name="Content Placeholder 4">
            <a:extLst>
              <a:ext uri="{FF2B5EF4-FFF2-40B4-BE49-F238E27FC236}">
                <a16:creationId xmlns:a16="http://schemas.microsoft.com/office/drawing/2014/main" id="{D3498125-D3C7-61A0-23BA-1B1B54812F16}"/>
              </a:ext>
            </a:extLst>
          </p:cNvPr>
          <p:cNvSpPr>
            <a:spLocks noGrp="1"/>
          </p:cNvSpPr>
          <p:nvPr>
            <p:ph idx="1"/>
          </p:nvPr>
        </p:nvSpPr>
        <p:spPr>
          <a:xfrm>
            <a:off x="838200" y="1825625"/>
            <a:ext cx="6580239" cy="4351338"/>
          </a:xfrm>
        </p:spPr>
        <p:txBody>
          <a:bodyPr>
            <a:normAutofit fontScale="77500" lnSpcReduction="20000"/>
          </a:bodyPr>
          <a:lstStyle/>
          <a:p>
            <a:r>
              <a:rPr lang="en-US" dirty="0"/>
              <a:t>An orchestrator agent breaks down complex tasks and distributes them to specialized sub-agents. Each agent handles a specific domain using appropriate tools, with the orchestrator managing the overall process and integrating results. A more complex pattern with specialized sub-agents coordinated by an orchestrator: </a:t>
            </a:r>
          </a:p>
          <a:p>
            <a:pPr lvl="1"/>
            <a:r>
              <a:rPr lang="en-US" dirty="0"/>
              <a:t>Brain: Multiple specialized LLMs / fine-tuned models (KC1.1 / KC1.2) </a:t>
            </a:r>
          </a:p>
          <a:p>
            <a:pPr lvl="1"/>
            <a:r>
              <a:rPr lang="en-US" dirty="0"/>
              <a:t>Control: Hierarchical planning with orchestrator (KC2.2) </a:t>
            </a:r>
          </a:p>
          <a:p>
            <a:pPr lvl="1"/>
            <a:r>
              <a:rPr lang="en-US" dirty="0"/>
              <a:t>Reasoning: Structured planning/execution (KC3.1)</a:t>
            </a:r>
          </a:p>
          <a:p>
            <a:pPr lvl="1"/>
            <a:r>
              <a:rPr lang="en-US" dirty="0"/>
              <a:t>Memory: Cross-agent session memory (KC4.2) </a:t>
            </a:r>
          </a:p>
          <a:p>
            <a:pPr lvl="1"/>
            <a:r>
              <a:rPr lang="en-US" dirty="0"/>
              <a:t>Tools: Managed platforms/services (KC5.2)</a:t>
            </a:r>
          </a:p>
          <a:p>
            <a:pPr lvl="1"/>
            <a:r>
              <a:rPr lang="en-US" dirty="0"/>
              <a:t>Environment: More extensive capabilities (KC6.2, KC6.4)</a:t>
            </a:r>
          </a:p>
        </p:txBody>
      </p:sp>
      <p:pic>
        <p:nvPicPr>
          <p:cNvPr id="6" name="Picture 5">
            <a:extLst>
              <a:ext uri="{FF2B5EF4-FFF2-40B4-BE49-F238E27FC236}">
                <a16:creationId xmlns:a16="http://schemas.microsoft.com/office/drawing/2014/main" id="{AAD22109-418B-8FA2-E111-158353C94B87}"/>
              </a:ext>
            </a:extLst>
          </p:cNvPr>
          <p:cNvPicPr>
            <a:picLocks noChangeAspect="1"/>
          </p:cNvPicPr>
          <p:nvPr/>
        </p:nvPicPr>
        <p:blipFill>
          <a:blip r:embed="rId2"/>
          <a:stretch>
            <a:fillRect/>
          </a:stretch>
        </p:blipFill>
        <p:spPr>
          <a:xfrm>
            <a:off x="7418439" y="1472495"/>
            <a:ext cx="4704735" cy="4153399"/>
          </a:xfrm>
          <a:prstGeom prst="rect">
            <a:avLst/>
          </a:prstGeom>
        </p:spPr>
      </p:pic>
    </p:spTree>
    <p:extLst>
      <p:ext uri="{BB962C8B-B14F-4D97-AF65-F5344CB8AC3E}">
        <p14:creationId xmlns:p14="http://schemas.microsoft.com/office/powerpoint/2010/main" val="781920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5F6A-BA88-2148-2841-4AE65AA4B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85D73-6B35-091E-75F7-8B2B4E6E1B9C}"/>
              </a:ext>
            </a:extLst>
          </p:cNvPr>
          <p:cNvSpPr>
            <a:spLocks noGrp="1"/>
          </p:cNvSpPr>
          <p:nvPr>
            <p:ph type="title"/>
          </p:nvPr>
        </p:nvSpPr>
        <p:spPr/>
        <p:txBody>
          <a:bodyPr/>
          <a:lstStyle/>
          <a:p>
            <a:r>
              <a:rPr lang="en-US" dirty="0"/>
              <a:t>Collaborative Agent Swarm/Distributed Agent Mesh</a:t>
            </a:r>
          </a:p>
        </p:txBody>
      </p:sp>
      <p:sp>
        <p:nvSpPr>
          <p:cNvPr id="5" name="Content Placeholder 4">
            <a:extLst>
              <a:ext uri="{FF2B5EF4-FFF2-40B4-BE49-F238E27FC236}">
                <a16:creationId xmlns:a16="http://schemas.microsoft.com/office/drawing/2014/main" id="{F43983A9-3E25-159D-139B-2C6E53C17873}"/>
              </a:ext>
            </a:extLst>
          </p:cNvPr>
          <p:cNvSpPr>
            <a:spLocks noGrp="1"/>
          </p:cNvSpPr>
          <p:nvPr>
            <p:ph idx="1"/>
          </p:nvPr>
        </p:nvSpPr>
        <p:spPr>
          <a:xfrm>
            <a:off x="838200" y="1825625"/>
            <a:ext cx="6580239" cy="4351338"/>
          </a:xfrm>
        </p:spPr>
        <p:txBody>
          <a:bodyPr>
            <a:normAutofit fontScale="92500" lnSpcReduction="10000"/>
          </a:bodyPr>
          <a:lstStyle/>
          <a:p>
            <a:r>
              <a:rPr lang="en-US" dirty="0"/>
              <a:t>Multiple peer agents work together without a strict hierarchy</a:t>
            </a:r>
          </a:p>
          <a:p>
            <a:pPr lvl="1"/>
            <a:r>
              <a:rPr lang="en-US" dirty="0"/>
              <a:t>Brain: Multiple specialized agents (KC1.1/KC1.2)</a:t>
            </a:r>
          </a:p>
          <a:p>
            <a:pPr lvl="1"/>
            <a:r>
              <a:rPr lang="en-US" dirty="0"/>
              <a:t>Control: Multi-agent collaboration (KC2.3) </a:t>
            </a:r>
          </a:p>
          <a:p>
            <a:pPr lvl="1"/>
            <a:r>
              <a:rPr lang="en-US" dirty="0"/>
              <a:t>Reasoning: Tree of Thoughts for exploring multiple solutions (KC3.4) </a:t>
            </a:r>
          </a:p>
          <a:p>
            <a:pPr lvl="1"/>
            <a:r>
              <a:rPr lang="en-US" dirty="0"/>
              <a:t>Memory: Cross-agent cross-session memory (KC4.4)  </a:t>
            </a:r>
          </a:p>
          <a:p>
            <a:pPr lvl="1"/>
            <a:r>
              <a:rPr lang="en-US" dirty="0"/>
              <a:t>Tools: Flexible libraries with collaboration features (KC5.1) </a:t>
            </a:r>
          </a:p>
          <a:p>
            <a:pPr lvl="1"/>
            <a:r>
              <a:rPr lang="en-US" dirty="0"/>
              <a:t>Environment: Distributed operational capabilities (various KC6)</a:t>
            </a:r>
          </a:p>
        </p:txBody>
      </p:sp>
      <p:pic>
        <p:nvPicPr>
          <p:cNvPr id="3" name="Picture 2">
            <a:extLst>
              <a:ext uri="{FF2B5EF4-FFF2-40B4-BE49-F238E27FC236}">
                <a16:creationId xmlns:a16="http://schemas.microsoft.com/office/drawing/2014/main" id="{9159A3EA-FE27-9AB4-7E55-48949DE9BF21}"/>
              </a:ext>
            </a:extLst>
          </p:cNvPr>
          <p:cNvPicPr>
            <a:picLocks noChangeAspect="1"/>
          </p:cNvPicPr>
          <p:nvPr/>
        </p:nvPicPr>
        <p:blipFill>
          <a:blip r:embed="rId3"/>
          <a:stretch>
            <a:fillRect/>
          </a:stretch>
        </p:blipFill>
        <p:spPr>
          <a:xfrm>
            <a:off x="8063066" y="1402326"/>
            <a:ext cx="4000500" cy="4495800"/>
          </a:xfrm>
          <a:prstGeom prst="rect">
            <a:avLst/>
          </a:prstGeom>
        </p:spPr>
      </p:pic>
    </p:spTree>
    <p:extLst>
      <p:ext uri="{BB962C8B-B14F-4D97-AF65-F5344CB8AC3E}">
        <p14:creationId xmlns:p14="http://schemas.microsoft.com/office/powerpoint/2010/main" val="64276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4CC8E-697A-49EB-85D9-8CFC1CC6F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15B08-231D-FBBE-995C-445D1ACBAF98}"/>
              </a:ext>
            </a:extLst>
          </p:cNvPr>
          <p:cNvSpPr>
            <a:spLocks noGrp="1"/>
          </p:cNvSpPr>
          <p:nvPr>
            <p:ph type="ctrTitle"/>
          </p:nvPr>
        </p:nvSpPr>
        <p:spPr/>
        <p:txBody>
          <a:bodyPr/>
          <a:lstStyle/>
          <a:p>
            <a:r>
              <a:rPr lang="en-US" dirty="0"/>
              <a:t>Agentic Developer Guidelines</a:t>
            </a:r>
          </a:p>
        </p:txBody>
      </p:sp>
      <p:sp>
        <p:nvSpPr>
          <p:cNvPr id="3" name="Subtitle 2">
            <a:extLst>
              <a:ext uri="{FF2B5EF4-FFF2-40B4-BE49-F238E27FC236}">
                <a16:creationId xmlns:a16="http://schemas.microsoft.com/office/drawing/2014/main" id="{B5435645-E5E5-F127-30AA-4B835151827C}"/>
              </a:ext>
            </a:extLst>
          </p:cNvPr>
          <p:cNvSpPr>
            <a:spLocks noGrp="1"/>
          </p:cNvSpPr>
          <p:nvPr>
            <p:ph type="subTitle" idx="1"/>
          </p:nvPr>
        </p:nvSpPr>
        <p:spPr/>
        <p:txBody>
          <a:bodyPr/>
          <a:lstStyle/>
          <a:p>
            <a:r>
              <a:rPr lang="en-US" dirty="0"/>
              <a:t>Secure Design and Development Framework</a:t>
            </a:r>
          </a:p>
        </p:txBody>
      </p:sp>
    </p:spTree>
    <p:extLst>
      <p:ext uri="{BB962C8B-B14F-4D97-AF65-F5344CB8AC3E}">
        <p14:creationId xmlns:p14="http://schemas.microsoft.com/office/powerpoint/2010/main" val="2727050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D3584-F4EB-A084-E3C0-7E5A584931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FF59A-CD6F-DF41-0DC2-0994CEA46738}"/>
              </a:ext>
            </a:extLst>
          </p:cNvPr>
          <p:cNvSpPr>
            <a:spLocks noGrp="1"/>
          </p:cNvSpPr>
          <p:nvPr>
            <p:ph type="title"/>
          </p:nvPr>
        </p:nvSpPr>
        <p:spPr/>
        <p:txBody>
          <a:bodyPr/>
          <a:lstStyle/>
          <a:p>
            <a:r>
              <a:rPr lang="en-US" dirty="0"/>
              <a:t>System Prompt Engineering and Hardening</a:t>
            </a:r>
          </a:p>
        </p:txBody>
      </p:sp>
      <p:sp>
        <p:nvSpPr>
          <p:cNvPr id="5" name="Content Placeholder 4">
            <a:extLst>
              <a:ext uri="{FF2B5EF4-FFF2-40B4-BE49-F238E27FC236}">
                <a16:creationId xmlns:a16="http://schemas.microsoft.com/office/drawing/2014/main" id="{27767D39-E029-EB40-F80C-D6651D1B7426}"/>
              </a:ext>
            </a:extLst>
          </p:cNvPr>
          <p:cNvSpPr>
            <a:spLocks noGrp="1"/>
          </p:cNvSpPr>
          <p:nvPr>
            <p:ph idx="1"/>
          </p:nvPr>
        </p:nvSpPr>
        <p:spPr>
          <a:xfrm>
            <a:off x="838200" y="1825625"/>
            <a:ext cx="10906496" cy="4351338"/>
          </a:xfrm>
        </p:spPr>
        <p:txBody>
          <a:bodyPr>
            <a:normAutofit fontScale="92500" lnSpcReduction="20000"/>
          </a:bodyPr>
          <a:lstStyle/>
          <a:p>
            <a:r>
              <a:rPr lang="en-US" dirty="0"/>
              <a:t>Purpose: Define the agent's core instructions, capabilities, and limitations securely to prevent manipulation and unintended behavior.</a:t>
            </a:r>
          </a:p>
          <a:p>
            <a:r>
              <a:rPr lang="en-US" dirty="0"/>
              <a:t>Practical Approach</a:t>
            </a:r>
          </a:p>
          <a:p>
            <a:pPr lvl="1"/>
            <a:r>
              <a:rPr lang="en-US" dirty="0"/>
              <a:t>Clear Boundaries and Safeguards: Explicitly state DOs and DON'Ts, forbidden topics, operational scope, and ethical guidelines. Similarly apply to languages </a:t>
            </a:r>
          </a:p>
          <a:p>
            <a:pPr lvl="1"/>
            <a:r>
              <a:rPr lang="en-US" dirty="0"/>
              <a:t>Robustness against injection: Use clear delimiters and/or placeholders for user input, Instruct the model to be wary of attempts to override its core instructions, few shot examples, deterministic controls to limit an agents access. </a:t>
            </a:r>
          </a:p>
          <a:p>
            <a:pPr lvl="1"/>
            <a:r>
              <a:rPr lang="en-US" dirty="0"/>
              <a:t>Role Definition: Clearly define the agent's persona and purpose to anchor its behavior.</a:t>
            </a:r>
          </a:p>
          <a:p>
            <a:pPr lvl="1"/>
            <a:r>
              <a:rPr lang="en-US" dirty="0"/>
              <a:t>Iterative Refinement: Test prompts against known injection techniques and refine based on results. </a:t>
            </a:r>
          </a:p>
          <a:p>
            <a:pPr lvl="1"/>
            <a:r>
              <a:rPr lang="en-US" dirty="0"/>
              <a:t>Minimal and Focused fine tuning: Fine-tuning can further enforce security controls and adherence to agent goals but can also overwrite foundational model security training.</a:t>
            </a:r>
          </a:p>
          <a:p>
            <a:endParaRPr lang="en-US" dirty="0"/>
          </a:p>
        </p:txBody>
      </p:sp>
    </p:spTree>
    <p:extLst>
      <p:ext uri="{BB962C8B-B14F-4D97-AF65-F5344CB8AC3E}">
        <p14:creationId xmlns:p14="http://schemas.microsoft.com/office/powerpoint/2010/main" val="2377502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4C611-CA94-E599-943E-32F54507B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D0739-7E31-47C6-0317-C7D779004165}"/>
              </a:ext>
            </a:extLst>
          </p:cNvPr>
          <p:cNvSpPr>
            <a:spLocks noGrp="1"/>
          </p:cNvSpPr>
          <p:nvPr>
            <p:ph type="title"/>
          </p:nvPr>
        </p:nvSpPr>
        <p:spPr/>
        <p:txBody>
          <a:bodyPr/>
          <a:lstStyle/>
          <a:p>
            <a:r>
              <a:rPr lang="en-US" dirty="0"/>
              <a:t>Secure Coding Practices</a:t>
            </a:r>
          </a:p>
        </p:txBody>
      </p:sp>
      <p:sp>
        <p:nvSpPr>
          <p:cNvPr id="5" name="Content Placeholder 4">
            <a:extLst>
              <a:ext uri="{FF2B5EF4-FFF2-40B4-BE49-F238E27FC236}">
                <a16:creationId xmlns:a16="http://schemas.microsoft.com/office/drawing/2014/main" id="{347BBD8E-7076-D787-733B-3F68DC412721}"/>
              </a:ext>
            </a:extLst>
          </p:cNvPr>
          <p:cNvSpPr>
            <a:spLocks noGrp="1"/>
          </p:cNvSpPr>
          <p:nvPr>
            <p:ph idx="1"/>
          </p:nvPr>
        </p:nvSpPr>
        <p:spPr>
          <a:xfrm>
            <a:off x="838200" y="1825625"/>
            <a:ext cx="10906496" cy="4351338"/>
          </a:xfrm>
        </p:spPr>
        <p:txBody>
          <a:bodyPr>
            <a:normAutofit/>
          </a:bodyPr>
          <a:lstStyle/>
          <a:p>
            <a:r>
              <a:rPr lang="en-US" dirty="0"/>
              <a:t>Purpose: Implement standard secure coding principles adapted for AI agent development.</a:t>
            </a:r>
          </a:p>
          <a:p>
            <a:r>
              <a:rPr lang="en-US" dirty="0"/>
              <a:t>Practical Approach</a:t>
            </a:r>
          </a:p>
          <a:p>
            <a:pPr lvl="1"/>
            <a:r>
              <a:rPr lang="en-US" dirty="0"/>
              <a:t>Input validation: Validate all inputs and not just tool arguments. Use allowlist where possible </a:t>
            </a:r>
          </a:p>
          <a:p>
            <a:pPr lvl="1"/>
            <a:r>
              <a:rPr lang="en-US" dirty="0"/>
              <a:t>Error handling: Implement robust error handling avoid leaking sensitive information in the error messages</a:t>
            </a:r>
          </a:p>
          <a:p>
            <a:pPr lvl="1"/>
            <a:r>
              <a:rPr lang="en-US" dirty="0"/>
              <a:t>Secure key management: Avoid hardcoding secrets </a:t>
            </a:r>
          </a:p>
          <a:p>
            <a:pPr lvl="1"/>
            <a:r>
              <a:rPr lang="en-US" dirty="0"/>
              <a:t>Least Privilege</a:t>
            </a:r>
          </a:p>
        </p:txBody>
      </p:sp>
    </p:spTree>
    <p:extLst>
      <p:ext uri="{BB962C8B-B14F-4D97-AF65-F5344CB8AC3E}">
        <p14:creationId xmlns:p14="http://schemas.microsoft.com/office/powerpoint/2010/main" val="1835711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EB740-27F9-D4C5-189C-1DC4E8736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6E437-264A-8ACF-D01D-2C9D9EA35380}"/>
              </a:ext>
            </a:extLst>
          </p:cNvPr>
          <p:cNvSpPr>
            <a:spLocks noGrp="1"/>
          </p:cNvSpPr>
          <p:nvPr>
            <p:ph type="title"/>
          </p:nvPr>
        </p:nvSpPr>
        <p:spPr/>
        <p:txBody>
          <a:bodyPr/>
          <a:lstStyle/>
          <a:p>
            <a:r>
              <a:rPr lang="en-US" dirty="0"/>
              <a:t>Content Moderation Integration (Design)</a:t>
            </a:r>
          </a:p>
        </p:txBody>
      </p:sp>
      <p:sp>
        <p:nvSpPr>
          <p:cNvPr id="5" name="Content Placeholder 4">
            <a:extLst>
              <a:ext uri="{FF2B5EF4-FFF2-40B4-BE49-F238E27FC236}">
                <a16:creationId xmlns:a16="http://schemas.microsoft.com/office/drawing/2014/main" id="{208B4767-85C5-64AC-DD8E-E5DEDD62087F}"/>
              </a:ext>
            </a:extLst>
          </p:cNvPr>
          <p:cNvSpPr>
            <a:spLocks noGrp="1"/>
          </p:cNvSpPr>
          <p:nvPr>
            <p:ph idx="1"/>
          </p:nvPr>
        </p:nvSpPr>
        <p:spPr>
          <a:xfrm>
            <a:off x="838200" y="1825625"/>
            <a:ext cx="10906496" cy="4351338"/>
          </a:xfrm>
        </p:spPr>
        <p:txBody>
          <a:bodyPr>
            <a:normAutofit/>
          </a:bodyPr>
          <a:lstStyle/>
          <a:p>
            <a:r>
              <a:rPr lang="en-US" dirty="0"/>
              <a:t>Purpose: Plan for detecting and filtering harmful or policy-violating content in both inputs and outputs early in the design.</a:t>
            </a:r>
          </a:p>
          <a:p>
            <a:r>
              <a:rPr lang="en-US" dirty="0"/>
              <a:t>Practical Approach</a:t>
            </a:r>
          </a:p>
          <a:p>
            <a:pPr lvl="1"/>
            <a:r>
              <a:rPr lang="en-US" dirty="0"/>
              <a:t>Identify necessary checks you want to place</a:t>
            </a:r>
          </a:p>
          <a:p>
            <a:pPr lvl="1"/>
            <a:r>
              <a:rPr lang="en-US" dirty="0"/>
              <a:t>Evaluate tools based on requirements (Rule based, ML classifier, </a:t>
            </a:r>
            <a:r>
              <a:rPr lang="en-US" dirty="0" err="1"/>
              <a:t>etc</a:t>
            </a:r>
            <a:r>
              <a:rPr lang="en-US" dirty="0"/>
              <a:t>)</a:t>
            </a:r>
          </a:p>
          <a:p>
            <a:pPr lvl="1"/>
            <a:r>
              <a:rPr lang="en-US" dirty="0"/>
              <a:t>Design how moderation results will trigger actions</a:t>
            </a:r>
          </a:p>
          <a:p>
            <a:pPr lvl="1"/>
            <a:r>
              <a:rPr lang="en-US" dirty="0"/>
              <a:t>Ensure you test your content moderation against your policies and for correctness</a:t>
            </a:r>
          </a:p>
          <a:p>
            <a:pPr marL="457200" lvl="1" indent="0">
              <a:buNone/>
            </a:pPr>
            <a:endParaRPr lang="en-US" dirty="0"/>
          </a:p>
          <a:p>
            <a:pPr lvl="1"/>
            <a:endParaRPr lang="en-US" dirty="0"/>
          </a:p>
          <a:p>
            <a:endParaRPr lang="en-US" dirty="0"/>
          </a:p>
        </p:txBody>
      </p:sp>
    </p:spTree>
    <p:extLst>
      <p:ext uri="{BB962C8B-B14F-4D97-AF65-F5344CB8AC3E}">
        <p14:creationId xmlns:p14="http://schemas.microsoft.com/office/powerpoint/2010/main" val="3602658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264F1-FDD6-2126-8045-DAE7D0EF7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EACD8-E0DA-03D0-0963-BABAF2ED5F1C}"/>
              </a:ext>
            </a:extLst>
          </p:cNvPr>
          <p:cNvSpPr>
            <a:spLocks noGrp="1"/>
          </p:cNvSpPr>
          <p:nvPr>
            <p:ph type="title"/>
          </p:nvPr>
        </p:nvSpPr>
        <p:spPr/>
        <p:txBody>
          <a:bodyPr/>
          <a:lstStyle/>
          <a:p>
            <a:r>
              <a:rPr lang="en-US" dirty="0"/>
              <a:t>Human-in-the-Loop (HITL) Design</a:t>
            </a:r>
          </a:p>
        </p:txBody>
      </p:sp>
      <p:sp>
        <p:nvSpPr>
          <p:cNvPr id="5" name="Content Placeholder 4">
            <a:extLst>
              <a:ext uri="{FF2B5EF4-FFF2-40B4-BE49-F238E27FC236}">
                <a16:creationId xmlns:a16="http://schemas.microsoft.com/office/drawing/2014/main" id="{208C9D9D-3095-2A61-A3C3-48F2B59469BB}"/>
              </a:ext>
            </a:extLst>
          </p:cNvPr>
          <p:cNvSpPr>
            <a:spLocks noGrp="1"/>
          </p:cNvSpPr>
          <p:nvPr>
            <p:ph idx="1"/>
          </p:nvPr>
        </p:nvSpPr>
        <p:spPr>
          <a:xfrm>
            <a:off x="838200" y="1825625"/>
            <a:ext cx="10906496" cy="4351338"/>
          </a:xfrm>
        </p:spPr>
        <p:txBody>
          <a:bodyPr>
            <a:normAutofit/>
          </a:bodyPr>
          <a:lstStyle/>
          <a:p>
            <a:r>
              <a:rPr lang="en-US" dirty="0"/>
              <a:t>Purpose: Determine where human oversight is critical before the agent takes high-impact actions.</a:t>
            </a:r>
          </a:p>
          <a:p>
            <a:r>
              <a:rPr lang="en-US" dirty="0"/>
              <a:t>Practical Approach</a:t>
            </a:r>
          </a:p>
          <a:p>
            <a:pPr lvl="1"/>
            <a:r>
              <a:rPr lang="en-US" dirty="0"/>
              <a:t>Risk based identification: identify actions requiring approval. </a:t>
            </a:r>
          </a:p>
          <a:p>
            <a:pPr lvl="1"/>
            <a:r>
              <a:rPr lang="en-US" dirty="0"/>
              <a:t>Clear workflow: Design a user friendly interface for review, approval or rejection. Log human decision</a:t>
            </a:r>
          </a:p>
          <a:p>
            <a:pPr lvl="1"/>
            <a:r>
              <a:rPr lang="en-US" dirty="0"/>
              <a:t>Framework Integration: Leverage built in HITL features in agent frameworks </a:t>
            </a:r>
          </a:p>
          <a:p>
            <a:pPr lvl="1"/>
            <a:r>
              <a:rPr lang="en-US" dirty="0"/>
              <a:t>Include strong rate limiting: to prevent overwhelming humans in DoS situation</a:t>
            </a:r>
          </a:p>
          <a:p>
            <a:endParaRPr lang="en-US" dirty="0"/>
          </a:p>
        </p:txBody>
      </p:sp>
    </p:spTree>
    <p:extLst>
      <p:ext uri="{BB962C8B-B14F-4D97-AF65-F5344CB8AC3E}">
        <p14:creationId xmlns:p14="http://schemas.microsoft.com/office/powerpoint/2010/main" val="1458093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B28E-2BFB-DFEC-8661-BAAC5B0982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143653-89C8-A712-A0F5-A994BE24DFC5}"/>
              </a:ext>
            </a:extLst>
          </p:cNvPr>
          <p:cNvSpPr>
            <a:spLocks noGrp="1"/>
          </p:cNvSpPr>
          <p:nvPr>
            <p:ph type="title"/>
          </p:nvPr>
        </p:nvSpPr>
        <p:spPr/>
        <p:txBody>
          <a:bodyPr/>
          <a:lstStyle/>
          <a:p>
            <a:r>
              <a:rPr lang="en-US" dirty="0"/>
              <a:t>Memory Security Design </a:t>
            </a:r>
          </a:p>
        </p:txBody>
      </p:sp>
      <p:sp>
        <p:nvSpPr>
          <p:cNvPr id="5" name="Content Placeholder 4">
            <a:extLst>
              <a:ext uri="{FF2B5EF4-FFF2-40B4-BE49-F238E27FC236}">
                <a16:creationId xmlns:a16="http://schemas.microsoft.com/office/drawing/2014/main" id="{A0AC03EB-64BF-D50D-6036-3B842DC071B2}"/>
              </a:ext>
            </a:extLst>
          </p:cNvPr>
          <p:cNvSpPr>
            <a:spLocks noGrp="1"/>
          </p:cNvSpPr>
          <p:nvPr>
            <p:ph idx="1"/>
          </p:nvPr>
        </p:nvSpPr>
        <p:spPr>
          <a:xfrm>
            <a:off x="838200" y="1825625"/>
            <a:ext cx="10906496" cy="4351338"/>
          </a:xfrm>
        </p:spPr>
        <p:txBody>
          <a:bodyPr>
            <a:normAutofit fontScale="92500" lnSpcReduction="20000"/>
          </a:bodyPr>
          <a:lstStyle/>
          <a:p>
            <a:r>
              <a:rPr lang="en-US" dirty="0"/>
              <a:t>Purpose: Plan how to protect the agent's short-term and long-term memory (e.g., vector databases, caches) from unauthorized access, tampering, and data leakage.</a:t>
            </a:r>
          </a:p>
          <a:p>
            <a:r>
              <a:rPr lang="en-US" dirty="0"/>
              <a:t>Practical Approach</a:t>
            </a:r>
          </a:p>
          <a:p>
            <a:pPr lvl="1"/>
            <a:r>
              <a:rPr lang="en-US" dirty="0"/>
              <a:t>Access control : Use standard mechanisms to restrict access based on the principle of least privilege </a:t>
            </a:r>
          </a:p>
          <a:p>
            <a:pPr lvl="1"/>
            <a:r>
              <a:rPr lang="en-US" dirty="0"/>
              <a:t>Strip Dangerous tokens: Remove “ignore”, “system” or ”from now on” , </a:t>
            </a:r>
            <a:r>
              <a:rPr lang="en-US" dirty="0" err="1"/>
              <a:t>etc</a:t>
            </a:r>
            <a:r>
              <a:rPr lang="en-US" dirty="0"/>
              <a:t> from past messages</a:t>
            </a:r>
          </a:p>
          <a:p>
            <a:pPr lvl="1"/>
            <a:r>
              <a:rPr lang="en-US" dirty="0"/>
              <a:t>Encryption: Encrypt data both at rest and in transit </a:t>
            </a:r>
          </a:p>
          <a:p>
            <a:pPr lvl="1"/>
            <a:r>
              <a:rPr lang="en-US" dirty="0"/>
              <a:t>Input validation for memory: validate and sanitize data before storing it in memory to prevent storing malicious content and corrupted data </a:t>
            </a:r>
          </a:p>
          <a:p>
            <a:pPr lvl="1"/>
            <a:r>
              <a:rPr lang="en-US" dirty="0"/>
              <a:t>PII handling : Design mechanism for PII detection and redaction/anonymization before storage </a:t>
            </a:r>
          </a:p>
          <a:p>
            <a:pPr lvl="1"/>
            <a:r>
              <a:rPr lang="en-US" dirty="0"/>
              <a:t>Human in the loop: Use human oversight to both approve and audit memory entries </a:t>
            </a:r>
          </a:p>
          <a:p>
            <a:endParaRPr lang="en-US" dirty="0"/>
          </a:p>
        </p:txBody>
      </p:sp>
    </p:spTree>
    <p:extLst>
      <p:ext uri="{BB962C8B-B14F-4D97-AF65-F5344CB8AC3E}">
        <p14:creationId xmlns:p14="http://schemas.microsoft.com/office/powerpoint/2010/main" val="1903905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3061-90FB-D732-EEED-B56C5A95B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257A4-11B3-9C3D-FD0E-0F4531EBA177}"/>
              </a:ext>
            </a:extLst>
          </p:cNvPr>
          <p:cNvSpPr>
            <a:spLocks noGrp="1"/>
          </p:cNvSpPr>
          <p:nvPr>
            <p:ph type="title"/>
          </p:nvPr>
        </p:nvSpPr>
        <p:spPr/>
        <p:txBody>
          <a:bodyPr/>
          <a:lstStyle/>
          <a:p>
            <a:r>
              <a:rPr lang="en-US" dirty="0"/>
              <a:t>Input/Output Validation and Sanitization Design </a:t>
            </a:r>
          </a:p>
        </p:txBody>
      </p:sp>
      <p:sp>
        <p:nvSpPr>
          <p:cNvPr id="5" name="Content Placeholder 4">
            <a:extLst>
              <a:ext uri="{FF2B5EF4-FFF2-40B4-BE49-F238E27FC236}">
                <a16:creationId xmlns:a16="http://schemas.microsoft.com/office/drawing/2014/main" id="{FA8BD3E1-09B8-90FB-B00A-262EA3B40BE8}"/>
              </a:ext>
            </a:extLst>
          </p:cNvPr>
          <p:cNvSpPr>
            <a:spLocks noGrp="1"/>
          </p:cNvSpPr>
          <p:nvPr>
            <p:ph idx="1"/>
          </p:nvPr>
        </p:nvSpPr>
        <p:spPr>
          <a:xfrm>
            <a:off x="838200" y="1825625"/>
            <a:ext cx="10906496" cy="4351338"/>
          </a:xfrm>
        </p:spPr>
        <p:txBody>
          <a:bodyPr>
            <a:normAutofit fontScale="70000" lnSpcReduction="20000"/>
          </a:bodyPr>
          <a:lstStyle/>
          <a:p>
            <a:r>
              <a:rPr lang="en-US" dirty="0"/>
              <a:t>Purpose: Define strategies to ensure the integrity and safety of data flowing into and out of the agent and its tools.</a:t>
            </a:r>
          </a:p>
          <a:p>
            <a:r>
              <a:rPr lang="en-US" dirty="0"/>
              <a:t>Practical Approach</a:t>
            </a:r>
          </a:p>
          <a:p>
            <a:pPr lvl="1"/>
            <a:r>
              <a:rPr lang="en-US" dirty="0"/>
              <a:t>Apply AI Guardrails to both inputs and outputs: Via tool calling, within the agent/tool, man-in-the middle approach such as MCP proxy </a:t>
            </a:r>
          </a:p>
          <a:p>
            <a:pPr lvl="1"/>
            <a:r>
              <a:rPr lang="en-US" dirty="0"/>
              <a:t>Input sanitization and Escaping : Escape or strip special tokens such (##, &lt;&lt;, {{}}), etc. before injecting user input into prompts. Avoid prompt templating patterns that concatenate raw user input into instructions.</a:t>
            </a:r>
          </a:p>
          <a:p>
            <a:pPr lvl="1"/>
            <a:r>
              <a:rPr lang="en-US" dirty="0"/>
              <a:t>Schema Enforcement: Define strict schemas for tool arguments and expected outputs, possibly reduce the risk of unexpected reinterpretation or hallucinating new instructions (Pedantic, JSON schema)</a:t>
            </a:r>
          </a:p>
          <a:p>
            <a:pPr lvl="1"/>
            <a:r>
              <a:rPr lang="en-US" dirty="0"/>
              <a:t>Allow/Deny Lists Lists: Use allow lists for known-good values and deny lists for known-bad patterns in tool arguments or outputs</a:t>
            </a:r>
          </a:p>
          <a:p>
            <a:pPr lvl="1"/>
            <a:r>
              <a:rPr lang="en-US" dirty="0"/>
              <a:t>Output Sanitization Strategy: Consider the context </a:t>
            </a:r>
          </a:p>
          <a:p>
            <a:pPr lvl="1"/>
            <a:r>
              <a:rPr lang="en-US" dirty="0"/>
              <a:t>Secure Rendering: Plan to use safe methods for displaying agent output in UIs (e.g., </a:t>
            </a:r>
            <a:r>
              <a:rPr lang="en-US" dirty="0" err="1"/>
              <a:t>element.textContent</a:t>
            </a:r>
            <a:r>
              <a:rPr lang="en-US" dirty="0"/>
              <a:t> instead of </a:t>
            </a:r>
            <a:r>
              <a:rPr lang="en-US" dirty="0" err="1"/>
              <a:t>element.innerHTML</a:t>
            </a:r>
            <a:r>
              <a:rPr lang="en-US" dirty="0"/>
              <a:t> in JavaScript).</a:t>
            </a:r>
          </a:p>
          <a:p>
            <a:pPr lvl="1"/>
            <a:r>
              <a:rPr lang="en-US" dirty="0"/>
              <a:t>Facilitate Human Review in regulated scenarios or where applicable via JSON logs of outputs. </a:t>
            </a:r>
          </a:p>
          <a:p>
            <a:pPr lvl="1"/>
            <a:r>
              <a:rPr lang="en-US" dirty="0"/>
              <a:t>Multilingual adaption </a:t>
            </a:r>
          </a:p>
          <a:p>
            <a:endParaRPr lang="en-US" dirty="0"/>
          </a:p>
        </p:txBody>
      </p:sp>
    </p:spTree>
    <p:extLst>
      <p:ext uri="{BB962C8B-B14F-4D97-AF65-F5344CB8AC3E}">
        <p14:creationId xmlns:p14="http://schemas.microsoft.com/office/powerpoint/2010/main" val="3085841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2DCA-D8E9-C1BA-2486-76AD196D6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9111C-B638-D198-164B-A618180645D4}"/>
              </a:ext>
            </a:extLst>
          </p:cNvPr>
          <p:cNvSpPr>
            <a:spLocks noGrp="1"/>
          </p:cNvSpPr>
          <p:nvPr>
            <p:ph type="title"/>
          </p:nvPr>
        </p:nvSpPr>
        <p:spPr/>
        <p:txBody>
          <a:bodyPr/>
          <a:lstStyle/>
          <a:p>
            <a:r>
              <a:rPr lang="en-US" dirty="0"/>
              <a:t>Authorization and Authentication</a:t>
            </a:r>
          </a:p>
        </p:txBody>
      </p:sp>
      <p:sp>
        <p:nvSpPr>
          <p:cNvPr id="5" name="Content Placeholder 4">
            <a:extLst>
              <a:ext uri="{FF2B5EF4-FFF2-40B4-BE49-F238E27FC236}">
                <a16:creationId xmlns:a16="http://schemas.microsoft.com/office/drawing/2014/main" id="{1C238BFD-6732-9249-003B-3B56D5A14C2A}"/>
              </a:ext>
            </a:extLst>
          </p:cNvPr>
          <p:cNvSpPr>
            <a:spLocks noGrp="1"/>
          </p:cNvSpPr>
          <p:nvPr>
            <p:ph idx="1"/>
          </p:nvPr>
        </p:nvSpPr>
        <p:spPr>
          <a:xfrm>
            <a:off x="838200" y="1825625"/>
            <a:ext cx="10906496" cy="4351338"/>
          </a:xfrm>
        </p:spPr>
        <p:txBody>
          <a:bodyPr>
            <a:normAutofit/>
          </a:bodyPr>
          <a:lstStyle/>
          <a:p>
            <a:r>
              <a:rPr lang="en-US" dirty="0"/>
              <a:t>Purpose: Authenticate and authorize agentic systems to perform actions and read data on behalf of users or systems.</a:t>
            </a:r>
          </a:p>
          <a:p>
            <a:r>
              <a:rPr lang="en-US" dirty="0"/>
              <a:t>Practical Approach</a:t>
            </a:r>
          </a:p>
          <a:p>
            <a:pPr lvl="1"/>
            <a:r>
              <a:rPr lang="en-US" dirty="0"/>
              <a:t>Identify permission boundaries: Examine agent &amp; tools for expected actions and data reads. Ensure agents &amp; tools are coded to respect their permissions.</a:t>
            </a:r>
          </a:p>
          <a:p>
            <a:pPr lvl="1"/>
            <a:r>
              <a:rPr lang="en-US" dirty="0"/>
              <a:t>Use identity providers and authorization servers: Determine if an agent is acting as a business system or on behalf of a user and create the correct identity type for the use case.</a:t>
            </a:r>
          </a:p>
          <a:p>
            <a:pPr lvl="1"/>
            <a:r>
              <a:rPr lang="en-US" dirty="0"/>
              <a:t>Assign Decentralized identifiers to agents: Use DIDs to identify and authenticate remote agents</a:t>
            </a:r>
          </a:p>
          <a:p>
            <a:pPr lvl="1"/>
            <a:endParaRPr lang="en-US" dirty="0"/>
          </a:p>
        </p:txBody>
      </p:sp>
    </p:spTree>
    <p:extLst>
      <p:ext uri="{BB962C8B-B14F-4D97-AF65-F5344CB8AC3E}">
        <p14:creationId xmlns:p14="http://schemas.microsoft.com/office/powerpoint/2010/main" val="3506975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3AE0C-BEEA-6CB4-DCD0-2EF3C59AF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E83CA9-0D74-B908-231F-982D3BF14840}"/>
              </a:ext>
            </a:extLst>
          </p:cNvPr>
          <p:cNvSpPr>
            <a:spLocks noGrp="1"/>
          </p:cNvSpPr>
          <p:nvPr>
            <p:ph type="ctrTitle"/>
          </p:nvPr>
        </p:nvSpPr>
        <p:spPr/>
        <p:txBody>
          <a:bodyPr/>
          <a:lstStyle/>
          <a:p>
            <a:r>
              <a:rPr lang="en-US" dirty="0"/>
              <a:t>Agentic Developer Guidelines</a:t>
            </a:r>
          </a:p>
        </p:txBody>
      </p:sp>
      <p:sp>
        <p:nvSpPr>
          <p:cNvPr id="3" name="Subtitle 2">
            <a:extLst>
              <a:ext uri="{FF2B5EF4-FFF2-40B4-BE49-F238E27FC236}">
                <a16:creationId xmlns:a16="http://schemas.microsoft.com/office/drawing/2014/main" id="{E02CBE80-815C-E708-769C-7035F6768409}"/>
              </a:ext>
            </a:extLst>
          </p:cNvPr>
          <p:cNvSpPr>
            <a:spLocks noGrp="1"/>
          </p:cNvSpPr>
          <p:nvPr>
            <p:ph type="subTitle" idx="1"/>
          </p:nvPr>
        </p:nvSpPr>
        <p:spPr/>
        <p:txBody>
          <a:bodyPr>
            <a:normAutofit fontScale="62500" lnSpcReduction="20000"/>
          </a:bodyPr>
          <a:lstStyle/>
          <a:p>
            <a:r>
              <a:rPr lang="en-US" dirty="0"/>
              <a:t>Secure Build and Deployment Phase</a:t>
            </a:r>
          </a:p>
          <a:p>
            <a:r>
              <a:rPr lang="en-US" b="1" dirty="0"/>
              <a:t>Development environments </a:t>
            </a:r>
            <a:r>
              <a:rPr lang="en-US" dirty="0"/>
              <a:t>should sandbox agent chains to isolate failures, constrain tool usage through strict policy checks, and guard against memory corruption or drift. </a:t>
            </a:r>
            <a:r>
              <a:rPr lang="en-US" b="1" dirty="0"/>
              <a:t>Deployment pipelines </a:t>
            </a:r>
            <a:r>
              <a:rPr lang="en-US" dirty="0"/>
              <a:t>must go beyond packaging and release—they need to include snapshotting agent capabilities in clearly labeled artifacts, logging audit trails, and embedding signed constraints on tool/API usage and memory schema. </a:t>
            </a:r>
            <a:r>
              <a:rPr lang="en-US" b="1" dirty="0"/>
              <a:t>Release protocols</a:t>
            </a:r>
            <a:r>
              <a:rPr lang="en-US" dirty="0"/>
              <a:t> should support rollback, serialization integrity, and runtime enforcement of behavioral boundaries to ensure safe deployment into real-world systems.</a:t>
            </a:r>
          </a:p>
        </p:txBody>
      </p:sp>
    </p:spTree>
    <p:extLst>
      <p:ext uri="{BB962C8B-B14F-4D97-AF65-F5344CB8AC3E}">
        <p14:creationId xmlns:p14="http://schemas.microsoft.com/office/powerpoint/2010/main" val="4686171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4FEA-9A76-1F64-358F-BF2366EE1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B2D304-045A-EE17-C105-38FFCDE5512C}"/>
              </a:ext>
            </a:extLst>
          </p:cNvPr>
          <p:cNvSpPr>
            <a:spLocks noGrp="1"/>
          </p:cNvSpPr>
          <p:nvPr>
            <p:ph type="title"/>
          </p:nvPr>
        </p:nvSpPr>
        <p:spPr/>
        <p:txBody>
          <a:bodyPr/>
          <a:lstStyle/>
          <a:p>
            <a:r>
              <a:rPr lang="en-US" dirty="0"/>
              <a:t>Static Analysis and Code Scanning (SAST)</a:t>
            </a:r>
          </a:p>
        </p:txBody>
      </p:sp>
      <p:sp>
        <p:nvSpPr>
          <p:cNvPr id="5" name="Content Placeholder 4">
            <a:extLst>
              <a:ext uri="{FF2B5EF4-FFF2-40B4-BE49-F238E27FC236}">
                <a16:creationId xmlns:a16="http://schemas.microsoft.com/office/drawing/2014/main" id="{0725D680-0162-1421-09D3-54A513BF11D9}"/>
              </a:ext>
            </a:extLst>
          </p:cNvPr>
          <p:cNvSpPr>
            <a:spLocks noGrp="1"/>
          </p:cNvSpPr>
          <p:nvPr>
            <p:ph idx="1"/>
          </p:nvPr>
        </p:nvSpPr>
        <p:spPr>
          <a:xfrm>
            <a:off x="838200" y="1825625"/>
            <a:ext cx="10906496" cy="4351338"/>
          </a:xfrm>
        </p:spPr>
        <p:txBody>
          <a:bodyPr>
            <a:normAutofit/>
          </a:bodyPr>
          <a:lstStyle/>
          <a:p>
            <a:r>
              <a:rPr lang="en-US" dirty="0"/>
              <a:t>Purpose: Automatically detect potential security vulnerabilities in the agent's source code before runtime.</a:t>
            </a:r>
          </a:p>
          <a:p>
            <a:r>
              <a:rPr lang="en-US" dirty="0"/>
              <a:t>Practical Approach</a:t>
            </a:r>
          </a:p>
          <a:p>
            <a:pPr lvl="1"/>
            <a:r>
              <a:rPr lang="en-US" dirty="0"/>
              <a:t>Integrate SAST tools into the CI/CD pipeline to scan code on commit/merge.</a:t>
            </a:r>
          </a:p>
          <a:p>
            <a:pPr lvl="1"/>
            <a:r>
              <a:rPr lang="en-US" dirty="0"/>
              <a:t>Focus on common web vulnerabilities (if applicable), insecure use of APIs, hardcoded secrets, and unsafe code patterns.</a:t>
            </a:r>
          </a:p>
          <a:p>
            <a:pPr lvl="1"/>
            <a:endParaRPr lang="en-US" dirty="0"/>
          </a:p>
          <a:p>
            <a:endParaRPr lang="en-US" dirty="0"/>
          </a:p>
        </p:txBody>
      </p:sp>
    </p:spTree>
    <p:extLst>
      <p:ext uri="{BB962C8B-B14F-4D97-AF65-F5344CB8AC3E}">
        <p14:creationId xmlns:p14="http://schemas.microsoft.com/office/powerpoint/2010/main" val="3305258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2610A-50D7-C318-94A5-DC8920CED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6594D-ECB1-6987-BCF2-DB65D9B08F77}"/>
              </a:ext>
            </a:extLst>
          </p:cNvPr>
          <p:cNvSpPr>
            <a:spLocks noGrp="1"/>
          </p:cNvSpPr>
          <p:nvPr>
            <p:ph type="title"/>
          </p:nvPr>
        </p:nvSpPr>
        <p:spPr/>
        <p:txBody>
          <a:bodyPr/>
          <a:lstStyle/>
          <a:p>
            <a:r>
              <a:rPr lang="en-US" dirty="0"/>
              <a:t>Dependency Vulnerability Scanning (SCA)</a:t>
            </a:r>
          </a:p>
        </p:txBody>
      </p:sp>
      <p:sp>
        <p:nvSpPr>
          <p:cNvPr id="5" name="Content Placeholder 4">
            <a:extLst>
              <a:ext uri="{FF2B5EF4-FFF2-40B4-BE49-F238E27FC236}">
                <a16:creationId xmlns:a16="http://schemas.microsoft.com/office/drawing/2014/main" id="{DE1BF037-5EDB-DAAD-0F7C-C779795F6A35}"/>
              </a:ext>
            </a:extLst>
          </p:cNvPr>
          <p:cNvSpPr>
            <a:spLocks noGrp="1"/>
          </p:cNvSpPr>
          <p:nvPr>
            <p:ph idx="1"/>
          </p:nvPr>
        </p:nvSpPr>
        <p:spPr>
          <a:xfrm>
            <a:off x="838200" y="1825625"/>
            <a:ext cx="10906496" cy="4351338"/>
          </a:xfrm>
        </p:spPr>
        <p:txBody>
          <a:bodyPr>
            <a:normAutofit/>
          </a:bodyPr>
          <a:lstStyle/>
          <a:p>
            <a:r>
              <a:rPr lang="en-US" dirty="0"/>
              <a:t>Purpose: Identify known vulnerabilities in third-party libraries and dependencies used by the agent.</a:t>
            </a:r>
          </a:p>
          <a:p>
            <a:r>
              <a:rPr lang="en-US" dirty="0"/>
              <a:t>Practical Approach</a:t>
            </a:r>
          </a:p>
          <a:p>
            <a:pPr lvl="1"/>
            <a:r>
              <a:rPr lang="en-US" dirty="0"/>
              <a:t>Integrate SCA tools into the CI/CD pipeline or use package manager features.</a:t>
            </a:r>
          </a:p>
          <a:p>
            <a:pPr lvl="1"/>
            <a:r>
              <a:rPr lang="en-US" dirty="0"/>
              <a:t>Regularly scan dependencies and update libraries with known vulnerabilities.</a:t>
            </a:r>
          </a:p>
          <a:p>
            <a:pPr lvl="2"/>
            <a:r>
              <a:rPr lang="en-US" dirty="0"/>
              <a:t>Example: </a:t>
            </a:r>
            <a:r>
              <a:rPr lang="en-US" dirty="0" err="1"/>
              <a:t>Snyk</a:t>
            </a:r>
            <a:r>
              <a:rPr lang="en-US" dirty="0"/>
              <a:t>, pip-audit, </a:t>
            </a:r>
            <a:r>
              <a:rPr lang="en-US" dirty="0" err="1"/>
              <a:t>gitlab</a:t>
            </a:r>
            <a:r>
              <a:rPr lang="en-US" dirty="0"/>
              <a:t> Dependency scanning </a:t>
            </a:r>
          </a:p>
          <a:p>
            <a:pPr marL="914400" lvl="2" indent="0">
              <a:buNone/>
            </a:pPr>
            <a:endParaRPr lang="en-US" dirty="0"/>
          </a:p>
          <a:p>
            <a:endParaRPr lang="en-US" dirty="0"/>
          </a:p>
        </p:txBody>
      </p:sp>
    </p:spTree>
    <p:extLst>
      <p:ext uri="{BB962C8B-B14F-4D97-AF65-F5344CB8AC3E}">
        <p14:creationId xmlns:p14="http://schemas.microsoft.com/office/powerpoint/2010/main" val="29579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F698B-B9D0-74EF-23E4-E145CFD3F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E26E8-0A2E-437B-9516-95C62CF5382F}"/>
              </a:ext>
            </a:extLst>
          </p:cNvPr>
          <p:cNvSpPr>
            <a:spLocks noGrp="1"/>
          </p:cNvSpPr>
          <p:nvPr>
            <p:ph type="title"/>
          </p:nvPr>
        </p:nvSpPr>
        <p:spPr/>
        <p:txBody>
          <a:bodyPr/>
          <a:lstStyle/>
          <a:p>
            <a:r>
              <a:rPr lang="en-US" dirty="0"/>
              <a:t>Environment Hardening and Sandboxing</a:t>
            </a:r>
          </a:p>
        </p:txBody>
      </p:sp>
      <p:sp>
        <p:nvSpPr>
          <p:cNvPr id="5" name="Content Placeholder 4">
            <a:extLst>
              <a:ext uri="{FF2B5EF4-FFF2-40B4-BE49-F238E27FC236}">
                <a16:creationId xmlns:a16="http://schemas.microsoft.com/office/drawing/2014/main" id="{C05E108E-EDD0-D7C5-2114-A3C18B60A5F1}"/>
              </a:ext>
            </a:extLst>
          </p:cNvPr>
          <p:cNvSpPr>
            <a:spLocks noGrp="1"/>
          </p:cNvSpPr>
          <p:nvPr>
            <p:ph idx="1"/>
          </p:nvPr>
        </p:nvSpPr>
        <p:spPr>
          <a:xfrm>
            <a:off x="838200" y="1825625"/>
            <a:ext cx="10906496" cy="4351338"/>
          </a:xfrm>
        </p:spPr>
        <p:txBody>
          <a:bodyPr>
            <a:normAutofit lnSpcReduction="10000"/>
          </a:bodyPr>
          <a:lstStyle/>
          <a:p>
            <a:r>
              <a:rPr lang="en-US" dirty="0"/>
              <a:t>Purpose: Isolate the agent's execution environment to limit the potential impact of a compromise</a:t>
            </a:r>
          </a:p>
          <a:p>
            <a:r>
              <a:rPr lang="en-US" dirty="0"/>
              <a:t>Practical Approach</a:t>
            </a:r>
          </a:p>
          <a:p>
            <a:pPr lvl="1"/>
            <a:r>
              <a:rPr lang="en-US" dirty="0"/>
              <a:t>Restrict deployment pipeline - prevent access to deployment pipeline and configuration by the agent itself </a:t>
            </a:r>
          </a:p>
          <a:p>
            <a:pPr lvl="1"/>
            <a:r>
              <a:rPr lang="en-US" dirty="0"/>
              <a:t>Sandboxing - Execute agent code, especially code generated by the LLM or tools involving executing in isolated environments. Choose based on isolation needs vs performance overhead. </a:t>
            </a:r>
          </a:p>
          <a:p>
            <a:pPr lvl="1"/>
            <a:r>
              <a:rPr lang="en-US" dirty="0"/>
              <a:t>Filesystem/Network Restrictions: Configure strict permission with the sandbox</a:t>
            </a:r>
          </a:p>
          <a:p>
            <a:pPr lvl="1"/>
            <a:r>
              <a:rPr lang="en-US" dirty="0"/>
              <a:t>Principle of least privilege: Run agent process with minimal OS-level privileges </a:t>
            </a:r>
          </a:p>
          <a:p>
            <a:endParaRPr lang="en-US" dirty="0"/>
          </a:p>
        </p:txBody>
      </p:sp>
    </p:spTree>
    <p:extLst>
      <p:ext uri="{BB962C8B-B14F-4D97-AF65-F5344CB8AC3E}">
        <p14:creationId xmlns:p14="http://schemas.microsoft.com/office/powerpoint/2010/main" val="955070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C258E-62E3-9ADC-F93D-1475E737C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1B404-49FF-50E1-0E18-E80FAD5A9277}"/>
              </a:ext>
            </a:extLst>
          </p:cNvPr>
          <p:cNvSpPr>
            <a:spLocks noGrp="1"/>
          </p:cNvSpPr>
          <p:nvPr>
            <p:ph type="title"/>
          </p:nvPr>
        </p:nvSpPr>
        <p:spPr/>
        <p:txBody>
          <a:bodyPr/>
          <a:lstStyle/>
          <a:p>
            <a:r>
              <a:rPr lang="en-US" dirty="0"/>
              <a:t>Secure Configuration Management </a:t>
            </a:r>
          </a:p>
        </p:txBody>
      </p:sp>
      <p:sp>
        <p:nvSpPr>
          <p:cNvPr id="5" name="Content Placeholder 4">
            <a:extLst>
              <a:ext uri="{FF2B5EF4-FFF2-40B4-BE49-F238E27FC236}">
                <a16:creationId xmlns:a16="http://schemas.microsoft.com/office/drawing/2014/main" id="{432F341D-75CD-2450-7754-D42A6EF407BA}"/>
              </a:ext>
            </a:extLst>
          </p:cNvPr>
          <p:cNvSpPr>
            <a:spLocks noGrp="1"/>
          </p:cNvSpPr>
          <p:nvPr>
            <p:ph idx="1"/>
          </p:nvPr>
        </p:nvSpPr>
        <p:spPr>
          <a:xfrm>
            <a:off x="838200" y="1825625"/>
            <a:ext cx="10906496" cy="4351338"/>
          </a:xfrm>
        </p:spPr>
        <p:txBody>
          <a:bodyPr>
            <a:normAutofit/>
          </a:bodyPr>
          <a:lstStyle/>
          <a:p>
            <a:r>
              <a:rPr lang="en-US" dirty="0"/>
              <a:t>Purpose: Securely manage configurations, especially secrets and API keys, during deployment.</a:t>
            </a:r>
          </a:p>
          <a:p>
            <a:r>
              <a:rPr lang="en-US" dirty="0"/>
              <a:t>Practical Approach</a:t>
            </a:r>
          </a:p>
          <a:p>
            <a:pPr lvl="1"/>
            <a:r>
              <a:rPr lang="en-US" dirty="0"/>
              <a:t>Secret Management : Use dedicated systems (AWS Secrets Manager, Google Secret Manager, Vault) instead of config files or environment variables for sensitive data. Implement credential rotation (OWASP Secrets Management Cheat Sheet). Verify that no secrets are ever written into logs.</a:t>
            </a:r>
          </a:p>
          <a:p>
            <a:pPr lvl="1"/>
            <a:r>
              <a:rPr lang="en-US" dirty="0"/>
              <a:t>API access control: Use fine grained access controls for external APIs scope granting only necessary permissions (Oauth2)</a:t>
            </a:r>
          </a:p>
          <a:p>
            <a:pPr lvl="1"/>
            <a:r>
              <a:rPr lang="en-US" dirty="0"/>
              <a:t>Infrastructure as Code Security: Scan </a:t>
            </a:r>
            <a:r>
              <a:rPr lang="en-US" dirty="0" err="1"/>
              <a:t>IaC</a:t>
            </a:r>
            <a:r>
              <a:rPr lang="en-US" dirty="0"/>
              <a:t> templates for security misconfigurations before deployment </a:t>
            </a:r>
          </a:p>
          <a:p>
            <a:endParaRPr lang="en-US" dirty="0"/>
          </a:p>
        </p:txBody>
      </p:sp>
    </p:spTree>
    <p:extLst>
      <p:ext uri="{BB962C8B-B14F-4D97-AF65-F5344CB8AC3E}">
        <p14:creationId xmlns:p14="http://schemas.microsoft.com/office/powerpoint/2010/main" val="2249530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26FDB-E3C6-0237-49E9-11887ACEBD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0A0E21-D38D-CB7C-6649-463E1EF6AA08}"/>
              </a:ext>
            </a:extLst>
          </p:cNvPr>
          <p:cNvSpPr>
            <a:spLocks noGrp="1"/>
          </p:cNvSpPr>
          <p:nvPr>
            <p:ph type="title"/>
          </p:nvPr>
        </p:nvSpPr>
        <p:spPr/>
        <p:txBody>
          <a:bodyPr/>
          <a:lstStyle/>
          <a:p>
            <a:r>
              <a:rPr lang="en-US" dirty="0"/>
              <a:t>Pre-Deployment Testing (Fuzzing, Pen testing)</a:t>
            </a:r>
          </a:p>
        </p:txBody>
      </p:sp>
      <p:sp>
        <p:nvSpPr>
          <p:cNvPr id="5" name="Content Placeholder 4">
            <a:extLst>
              <a:ext uri="{FF2B5EF4-FFF2-40B4-BE49-F238E27FC236}">
                <a16:creationId xmlns:a16="http://schemas.microsoft.com/office/drawing/2014/main" id="{3664309E-339A-AE4D-F090-D11346953F63}"/>
              </a:ext>
            </a:extLst>
          </p:cNvPr>
          <p:cNvSpPr>
            <a:spLocks noGrp="1"/>
          </p:cNvSpPr>
          <p:nvPr>
            <p:ph idx="1"/>
          </p:nvPr>
        </p:nvSpPr>
        <p:spPr>
          <a:xfrm>
            <a:off x="838200" y="1825625"/>
            <a:ext cx="10906496" cy="4351338"/>
          </a:xfrm>
        </p:spPr>
        <p:txBody>
          <a:bodyPr>
            <a:normAutofit/>
          </a:bodyPr>
          <a:lstStyle/>
          <a:p>
            <a:r>
              <a:rPr lang="en-US" dirty="0"/>
              <a:t>Purpose: Actively probe the agent and its interfaces for vulnerabilities before release.</a:t>
            </a:r>
          </a:p>
          <a:p>
            <a:r>
              <a:rPr lang="en-US" dirty="0"/>
              <a:t>Practical Approach</a:t>
            </a:r>
          </a:p>
          <a:p>
            <a:pPr lvl="1"/>
            <a:r>
              <a:rPr lang="en-US" dirty="0"/>
              <a:t>Prompt interface fuzzing: Use automated tools to send malformed, unexpected, or adversarial inputs to the agent's prompt interface to uncover injection vulnerabilities or unexpected behavior.</a:t>
            </a:r>
          </a:p>
          <a:p>
            <a:pPr lvl="2"/>
            <a:r>
              <a:rPr lang="en-US" dirty="0" err="1"/>
              <a:t>PromptFoo</a:t>
            </a:r>
            <a:r>
              <a:rPr lang="en-US" dirty="0"/>
              <a:t>, </a:t>
            </a:r>
            <a:r>
              <a:rPr lang="en-US" dirty="0" err="1"/>
              <a:t>PyRIT</a:t>
            </a:r>
            <a:r>
              <a:rPr lang="en-US" dirty="0"/>
              <a:t>, </a:t>
            </a:r>
            <a:r>
              <a:rPr lang="en-US" dirty="0" err="1"/>
              <a:t>Garak</a:t>
            </a:r>
            <a:endParaRPr lang="en-US" dirty="0"/>
          </a:p>
          <a:p>
            <a:pPr lvl="1"/>
            <a:r>
              <a:rPr lang="en-US" dirty="0"/>
              <a:t>API Fuzzing : Test any custom APIs exposed by the agent system</a:t>
            </a:r>
          </a:p>
          <a:p>
            <a:pPr lvl="1"/>
            <a:r>
              <a:rPr lang="en-US" dirty="0"/>
              <a:t>Targeted Penetration Testing: Conduct manual or automated penetration tests focusing on the specific risks identified during threat modeling.</a:t>
            </a:r>
          </a:p>
        </p:txBody>
      </p:sp>
    </p:spTree>
    <p:extLst>
      <p:ext uri="{BB962C8B-B14F-4D97-AF65-F5344CB8AC3E}">
        <p14:creationId xmlns:p14="http://schemas.microsoft.com/office/powerpoint/2010/main" val="3382410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EB5D3-857D-3911-7B38-AB73A31A9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E8AB1-6B3C-F4C6-4033-3261D523EEBD}"/>
              </a:ext>
            </a:extLst>
          </p:cNvPr>
          <p:cNvSpPr>
            <a:spLocks noGrp="1"/>
          </p:cNvSpPr>
          <p:nvPr>
            <p:ph type="title"/>
          </p:nvPr>
        </p:nvSpPr>
        <p:spPr/>
        <p:txBody>
          <a:bodyPr/>
          <a:lstStyle/>
          <a:p>
            <a:r>
              <a:rPr lang="en-US" dirty="0"/>
              <a:t>Runtime Security with Memory Isolation</a:t>
            </a:r>
          </a:p>
        </p:txBody>
      </p:sp>
      <p:sp>
        <p:nvSpPr>
          <p:cNvPr id="5" name="Content Placeholder 4">
            <a:extLst>
              <a:ext uri="{FF2B5EF4-FFF2-40B4-BE49-F238E27FC236}">
                <a16:creationId xmlns:a16="http://schemas.microsoft.com/office/drawing/2014/main" id="{81A80D33-34EB-6277-CE4B-3629F6B51A65}"/>
              </a:ext>
            </a:extLst>
          </p:cNvPr>
          <p:cNvSpPr>
            <a:spLocks noGrp="1"/>
          </p:cNvSpPr>
          <p:nvPr>
            <p:ph idx="1"/>
          </p:nvPr>
        </p:nvSpPr>
        <p:spPr>
          <a:xfrm>
            <a:off x="838200" y="1825625"/>
            <a:ext cx="10906496" cy="4351338"/>
          </a:xfrm>
        </p:spPr>
        <p:txBody>
          <a:bodyPr>
            <a:normAutofit/>
          </a:bodyPr>
          <a:lstStyle/>
          <a:p>
            <a:r>
              <a:rPr lang="en-US" dirty="0"/>
              <a:t>Purpose: To provide defense-in-depth even if the underlying LLM is vulnerable, for instance, to prompt injection.</a:t>
            </a:r>
          </a:p>
          <a:p>
            <a:r>
              <a:rPr lang="en-US" dirty="0"/>
              <a:t>Practical Approach</a:t>
            </a:r>
          </a:p>
          <a:p>
            <a:pPr lvl="1"/>
            <a:r>
              <a:rPr lang="en-US" dirty="0"/>
              <a:t>Incorporate runtime security architectures</a:t>
            </a:r>
          </a:p>
          <a:p>
            <a:pPr lvl="1"/>
            <a:r>
              <a:rPr lang="en-US" dirty="0"/>
              <a:t>Explicitly separate control flow generation from untrusted data processing </a:t>
            </a:r>
          </a:p>
          <a:p>
            <a:endParaRPr lang="en-US" dirty="0"/>
          </a:p>
        </p:txBody>
      </p:sp>
    </p:spTree>
    <p:extLst>
      <p:ext uri="{BB962C8B-B14F-4D97-AF65-F5344CB8AC3E}">
        <p14:creationId xmlns:p14="http://schemas.microsoft.com/office/powerpoint/2010/main" val="35803983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C26A5-5EDB-8840-938E-951B64DC3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EC2B5-AC7C-F3E5-49D7-51806E12F412}"/>
              </a:ext>
            </a:extLst>
          </p:cNvPr>
          <p:cNvSpPr>
            <a:spLocks noGrp="1"/>
          </p:cNvSpPr>
          <p:nvPr>
            <p:ph type="title"/>
          </p:nvPr>
        </p:nvSpPr>
        <p:spPr/>
        <p:txBody>
          <a:bodyPr/>
          <a:lstStyle/>
          <a:p>
            <a:r>
              <a:rPr lang="en-US" dirty="0"/>
              <a:t>Separating Data Planes from Control Panes (Multi-agent Architectures)</a:t>
            </a:r>
          </a:p>
        </p:txBody>
      </p:sp>
      <p:sp>
        <p:nvSpPr>
          <p:cNvPr id="5" name="Content Placeholder 4">
            <a:extLst>
              <a:ext uri="{FF2B5EF4-FFF2-40B4-BE49-F238E27FC236}">
                <a16:creationId xmlns:a16="http://schemas.microsoft.com/office/drawing/2014/main" id="{5A3DA658-FB77-2DEC-D42E-56AD61329C9D}"/>
              </a:ext>
            </a:extLst>
          </p:cNvPr>
          <p:cNvSpPr>
            <a:spLocks noGrp="1"/>
          </p:cNvSpPr>
          <p:nvPr>
            <p:ph idx="1"/>
          </p:nvPr>
        </p:nvSpPr>
        <p:spPr>
          <a:xfrm>
            <a:off x="838200" y="1825625"/>
            <a:ext cx="10906496" cy="4351338"/>
          </a:xfrm>
        </p:spPr>
        <p:txBody>
          <a:bodyPr>
            <a:normAutofit/>
          </a:bodyPr>
          <a:lstStyle/>
          <a:p>
            <a:r>
              <a:rPr lang="en-US" dirty="0"/>
              <a:t>Purpose: To limit the ability of a single agent compromise to cascade into a systemic failure.</a:t>
            </a:r>
          </a:p>
          <a:p>
            <a:r>
              <a:rPr lang="en-US" dirty="0"/>
              <a:t>Practical Approach</a:t>
            </a:r>
          </a:p>
          <a:p>
            <a:pPr lvl="1"/>
            <a:r>
              <a:rPr lang="en-US" dirty="0"/>
              <a:t>In systems where multiple agents collaborate, the mechanisms for inter-agent communication must differentiate between control messages (e.g., task assignments, commands) and data messages (e.g., shared information). </a:t>
            </a:r>
          </a:p>
          <a:p>
            <a:pPr lvl="1"/>
            <a:r>
              <a:rPr lang="en-US" dirty="0"/>
              <a:t>Control channels require stronger authentication, authorization, and integrity checks to prevent a compromised agent, potentially handling untrusted data, from issuing malicious commands or disrupting the coordination of the entire system.</a:t>
            </a:r>
          </a:p>
          <a:p>
            <a:endParaRPr lang="en-US" dirty="0"/>
          </a:p>
        </p:txBody>
      </p:sp>
    </p:spTree>
    <p:extLst>
      <p:ext uri="{BB962C8B-B14F-4D97-AF65-F5344CB8AC3E}">
        <p14:creationId xmlns:p14="http://schemas.microsoft.com/office/powerpoint/2010/main" val="3595574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996E5-2324-6818-3908-50569B82A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779C2-B9CA-A486-8F8A-ECFD4DB0A5A9}"/>
              </a:ext>
            </a:extLst>
          </p:cNvPr>
          <p:cNvSpPr>
            <a:spLocks noGrp="1"/>
          </p:cNvSpPr>
          <p:nvPr>
            <p:ph type="title"/>
          </p:nvPr>
        </p:nvSpPr>
        <p:spPr/>
        <p:txBody>
          <a:bodyPr/>
          <a:lstStyle/>
          <a:p>
            <a:r>
              <a:rPr lang="en-US" dirty="0"/>
              <a:t>Just-in-Time Access and Ephemeral Credentials </a:t>
            </a:r>
          </a:p>
        </p:txBody>
      </p:sp>
      <p:sp>
        <p:nvSpPr>
          <p:cNvPr id="5" name="Content Placeholder 4">
            <a:extLst>
              <a:ext uri="{FF2B5EF4-FFF2-40B4-BE49-F238E27FC236}">
                <a16:creationId xmlns:a16="http://schemas.microsoft.com/office/drawing/2014/main" id="{71C2332F-A14D-E8B5-9456-908C86A2F50A}"/>
              </a:ext>
            </a:extLst>
          </p:cNvPr>
          <p:cNvSpPr>
            <a:spLocks noGrp="1"/>
          </p:cNvSpPr>
          <p:nvPr>
            <p:ph idx="1"/>
          </p:nvPr>
        </p:nvSpPr>
        <p:spPr>
          <a:xfrm>
            <a:off x="838200" y="1825625"/>
            <a:ext cx="10906496" cy="4351338"/>
          </a:xfrm>
        </p:spPr>
        <p:txBody>
          <a:bodyPr>
            <a:normAutofit/>
          </a:bodyPr>
          <a:lstStyle/>
          <a:p>
            <a:r>
              <a:rPr lang="en-US" dirty="0"/>
              <a:t>Purpose: To reduce the window of opportunity for misuse if credentials are compromised.</a:t>
            </a:r>
          </a:p>
          <a:p>
            <a:r>
              <a:rPr lang="en-US" dirty="0"/>
              <a:t>Practical Approach</a:t>
            </a:r>
          </a:p>
          <a:p>
            <a:pPr lvl="1"/>
            <a:r>
              <a:rPr lang="en-US" dirty="0"/>
              <a:t>This should be coupled with the use of ephemeral credentials, such as short-lived API tokens (e.g., OAuth tokens, signed JWTs) or temporary cloud credentials (e.g., AWS STS, GCP IAM credentials), which expire automatically.</a:t>
            </a:r>
          </a:p>
          <a:p>
            <a:endParaRPr lang="en-US" dirty="0"/>
          </a:p>
        </p:txBody>
      </p:sp>
    </p:spTree>
    <p:extLst>
      <p:ext uri="{BB962C8B-B14F-4D97-AF65-F5344CB8AC3E}">
        <p14:creationId xmlns:p14="http://schemas.microsoft.com/office/powerpoint/2010/main" val="885518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E1629-B60F-33AB-EFC7-C6EF5DDD8E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3042A-FB1C-B9EA-CCA9-79788C4ECB9F}"/>
              </a:ext>
            </a:extLst>
          </p:cNvPr>
          <p:cNvSpPr>
            <a:spLocks noGrp="1"/>
          </p:cNvSpPr>
          <p:nvPr>
            <p:ph type="ctrTitle"/>
          </p:nvPr>
        </p:nvSpPr>
        <p:spPr/>
        <p:txBody>
          <a:bodyPr/>
          <a:lstStyle/>
          <a:p>
            <a:r>
              <a:rPr lang="en-US" dirty="0"/>
              <a:t>Agentic Developer Guidelines</a:t>
            </a:r>
          </a:p>
        </p:txBody>
      </p:sp>
      <p:sp>
        <p:nvSpPr>
          <p:cNvPr id="3" name="Subtitle 2">
            <a:extLst>
              <a:ext uri="{FF2B5EF4-FFF2-40B4-BE49-F238E27FC236}">
                <a16:creationId xmlns:a16="http://schemas.microsoft.com/office/drawing/2014/main" id="{0A2005AE-BE2A-712C-85F9-C320C2AD8C07}"/>
              </a:ext>
            </a:extLst>
          </p:cNvPr>
          <p:cNvSpPr>
            <a:spLocks noGrp="1"/>
          </p:cNvSpPr>
          <p:nvPr>
            <p:ph type="subTitle" idx="1"/>
          </p:nvPr>
        </p:nvSpPr>
        <p:spPr/>
        <p:txBody>
          <a:bodyPr>
            <a:normAutofit/>
          </a:bodyPr>
          <a:lstStyle/>
          <a:p>
            <a:r>
              <a:rPr lang="en-US" dirty="0"/>
              <a:t>Secure Operations and Runtime Phase</a:t>
            </a:r>
          </a:p>
          <a:p>
            <a:endParaRPr lang="en-US" dirty="0"/>
          </a:p>
        </p:txBody>
      </p:sp>
    </p:spTree>
    <p:extLst>
      <p:ext uri="{BB962C8B-B14F-4D97-AF65-F5344CB8AC3E}">
        <p14:creationId xmlns:p14="http://schemas.microsoft.com/office/powerpoint/2010/main" val="23084408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776C0-7965-6C16-84E9-CF78F5621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DA161-B800-1868-A311-3F932E63AC99}"/>
              </a:ext>
            </a:extLst>
          </p:cNvPr>
          <p:cNvSpPr>
            <a:spLocks noGrp="1"/>
          </p:cNvSpPr>
          <p:nvPr>
            <p:ph type="title"/>
          </p:nvPr>
        </p:nvSpPr>
        <p:spPr/>
        <p:txBody>
          <a:bodyPr/>
          <a:lstStyle/>
          <a:p>
            <a:r>
              <a:rPr lang="en-US" dirty="0"/>
              <a:t>Continuous Monitoring and Anomaly Detection</a:t>
            </a:r>
          </a:p>
        </p:txBody>
      </p:sp>
      <p:sp>
        <p:nvSpPr>
          <p:cNvPr id="5" name="Content Placeholder 4">
            <a:extLst>
              <a:ext uri="{FF2B5EF4-FFF2-40B4-BE49-F238E27FC236}">
                <a16:creationId xmlns:a16="http://schemas.microsoft.com/office/drawing/2014/main" id="{C22AAB51-860B-9F7A-4D3E-E5BCC3A55647}"/>
              </a:ext>
            </a:extLst>
          </p:cNvPr>
          <p:cNvSpPr>
            <a:spLocks noGrp="1"/>
          </p:cNvSpPr>
          <p:nvPr>
            <p:ph idx="1"/>
          </p:nvPr>
        </p:nvSpPr>
        <p:spPr>
          <a:xfrm>
            <a:off x="838200" y="1825625"/>
            <a:ext cx="10906496" cy="4351338"/>
          </a:xfrm>
        </p:spPr>
        <p:txBody>
          <a:bodyPr>
            <a:normAutofit fontScale="92500" lnSpcReduction="10000"/>
          </a:bodyPr>
          <a:lstStyle/>
          <a:p>
            <a:r>
              <a:rPr lang="en-US" dirty="0"/>
              <a:t>Purpose: Detect malicious activity, policy violations, and deviations from expected behavior in real time.</a:t>
            </a:r>
          </a:p>
          <a:p>
            <a:r>
              <a:rPr lang="en-US" dirty="0"/>
              <a:t>Practical Approach</a:t>
            </a:r>
          </a:p>
          <a:p>
            <a:pPr lvl="1"/>
            <a:r>
              <a:rPr lang="en-US" dirty="0"/>
              <a:t>LLM Input/Output Scanning </a:t>
            </a:r>
          </a:p>
          <a:p>
            <a:pPr lvl="1"/>
            <a:r>
              <a:rPr lang="en-US" dirty="0"/>
              <a:t>Tool Invocation Monitoring : Log all tool calls, parameters, and results.</a:t>
            </a:r>
          </a:p>
          <a:p>
            <a:pPr lvl="1"/>
            <a:r>
              <a:rPr lang="en-US" dirty="0"/>
              <a:t>Plan and Execution Monitoring : Pre execution checks and Runtime Monitoring</a:t>
            </a:r>
          </a:p>
          <a:p>
            <a:pPr lvl="1"/>
            <a:r>
              <a:rPr lang="en-US" dirty="0"/>
              <a:t>Memory Anomaly Detection: Monitor memory update patterns (Frequency, Size, content )</a:t>
            </a:r>
          </a:p>
          <a:p>
            <a:pPr lvl="1"/>
            <a:r>
              <a:rPr lang="en-US" dirty="0"/>
              <a:t>Behavioral Analysis (Multi Agent): Monitor communication patterns and actions </a:t>
            </a:r>
          </a:p>
          <a:p>
            <a:pPr lvl="1"/>
            <a:r>
              <a:rPr lang="en-US" dirty="0"/>
              <a:t>SEIM Integration</a:t>
            </a:r>
          </a:p>
          <a:p>
            <a:pPr lvl="1"/>
            <a:r>
              <a:rPr lang="en-US" dirty="0"/>
              <a:t>Automated Anomaly response: This may include compute quarantine, circuit breakers on excessive request loads, automated compute or memory scaling, or revoking access to credentials.</a:t>
            </a:r>
          </a:p>
          <a:p>
            <a:endParaRPr lang="en-US" dirty="0"/>
          </a:p>
        </p:txBody>
      </p:sp>
    </p:spTree>
    <p:extLst>
      <p:ext uri="{BB962C8B-B14F-4D97-AF65-F5344CB8AC3E}">
        <p14:creationId xmlns:p14="http://schemas.microsoft.com/office/powerpoint/2010/main" val="24074196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A4115-CE98-CBB0-6E4C-02C9E6AD1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664C1-E80A-21D8-6F11-D567867ACCF1}"/>
              </a:ext>
            </a:extLst>
          </p:cNvPr>
          <p:cNvSpPr>
            <a:spLocks noGrp="1"/>
          </p:cNvSpPr>
          <p:nvPr>
            <p:ph type="title"/>
          </p:nvPr>
        </p:nvSpPr>
        <p:spPr/>
        <p:txBody>
          <a:bodyPr/>
          <a:lstStyle/>
          <a:p>
            <a:r>
              <a:rPr lang="en-US" dirty="0"/>
              <a:t>Runtime Guardrails and Automated Moderation</a:t>
            </a:r>
          </a:p>
        </p:txBody>
      </p:sp>
      <p:sp>
        <p:nvSpPr>
          <p:cNvPr id="5" name="Content Placeholder 4">
            <a:extLst>
              <a:ext uri="{FF2B5EF4-FFF2-40B4-BE49-F238E27FC236}">
                <a16:creationId xmlns:a16="http://schemas.microsoft.com/office/drawing/2014/main" id="{E55E6C0F-0E01-7C12-C20C-4BBA81D967FE}"/>
              </a:ext>
            </a:extLst>
          </p:cNvPr>
          <p:cNvSpPr>
            <a:spLocks noGrp="1"/>
          </p:cNvSpPr>
          <p:nvPr>
            <p:ph idx="1"/>
          </p:nvPr>
        </p:nvSpPr>
        <p:spPr>
          <a:xfrm>
            <a:off x="838200" y="1825625"/>
            <a:ext cx="10906496" cy="4351338"/>
          </a:xfrm>
        </p:spPr>
        <p:txBody>
          <a:bodyPr>
            <a:normAutofit/>
          </a:bodyPr>
          <a:lstStyle/>
          <a:p>
            <a:r>
              <a:rPr lang="en-US" dirty="0"/>
              <a:t>Purpose: Enforce policies and constraints dynamically during agent operation</a:t>
            </a:r>
          </a:p>
          <a:p>
            <a:r>
              <a:rPr lang="en-US" dirty="0"/>
              <a:t>Practical Approach</a:t>
            </a:r>
          </a:p>
          <a:p>
            <a:pPr lvl="1"/>
            <a:r>
              <a:rPr lang="en-US" dirty="0"/>
              <a:t>Input/Output guardrails – real time checks </a:t>
            </a:r>
          </a:p>
          <a:p>
            <a:pPr lvl="1"/>
            <a:r>
              <a:rPr lang="en-US" dirty="0"/>
              <a:t>Locate guardrails : The proximity of the guardrail relative to the application code and LLM has an impact on threat detection effectiveness, depending on the type of threat.</a:t>
            </a:r>
          </a:p>
          <a:p>
            <a:pPr lvl="2"/>
            <a:r>
              <a:rPr lang="en-US" dirty="0"/>
              <a:t>may lack the session history and context that are necessary to detect such an attack</a:t>
            </a:r>
          </a:p>
          <a:p>
            <a:pPr lvl="1"/>
            <a:r>
              <a:rPr lang="en-US" dirty="0"/>
              <a:t>Content filtering: </a:t>
            </a:r>
          </a:p>
          <a:p>
            <a:endParaRPr lang="en-US" dirty="0"/>
          </a:p>
        </p:txBody>
      </p:sp>
    </p:spTree>
    <p:extLst>
      <p:ext uri="{BB962C8B-B14F-4D97-AF65-F5344CB8AC3E}">
        <p14:creationId xmlns:p14="http://schemas.microsoft.com/office/powerpoint/2010/main" val="3834446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86E30-D79E-3809-3A4B-3D19B013C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66CD6-BDD4-B690-E67E-4B328E4F8A1A}"/>
              </a:ext>
            </a:extLst>
          </p:cNvPr>
          <p:cNvSpPr>
            <a:spLocks noGrp="1"/>
          </p:cNvSpPr>
          <p:nvPr>
            <p:ph type="title"/>
          </p:nvPr>
        </p:nvSpPr>
        <p:spPr/>
        <p:txBody>
          <a:bodyPr/>
          <a:lstStyle/>
          <a:p>
            <a:r>
              <a:rPr lang="en-US" dirty="0"/>
              <a:t>Logging, Auditing and Traceability</a:t>
            </a:r>
          </a:p>
        </p:txBody>
      </p:sp>
      <p:sp>
        <p:nvSpPr>
          <p:cNvPr id="5" name="Content Placeholder 4">
            <a:extLst>
              <a:ext uri="{FF2B5EF4-FFF2-40B4-BE49-F238E27FC236}">
                <a16:creationId xmlns:a16="http://schemas.microsoft.com/office/drawing/2014/main" id="{25A3290A-26A4-8B22-99EF-14FAAC2490C8}"/>
              </a:ext>
            </a:extLst>
          </p:cNvPr>
          <p:cNvSpPr>
            <a:spLocks noGrp="1"/>
          </p:cNvSpPr>
          <p:nvPr>
            <p:ph idx="1"/>
          </p:nvPr>
        </p:nvSpPr>
        <p:spPr>
          <a:xfrm>
            <a:off x="838200" y="1825625"/>
            <a:ext cx="10906496" cy="4351338"/>
          </a:xfrm>
        </p:spPr>
        <p:txBody>
          <a:bodyPr>
            <a:normAutofit fontScale="85000" lnSpcReduction="20000"/>
          </a:bodyPr>
          <a:lstStyle/>
          <a:p>
            <a:r>
              <a:rPr lang="en-US" dirty="0"/>
              <a:t>Purpose: To support debugging, security analysis, compliance, and understanding agent behavior, applications need to maintain detailed records</a:t>
            </a:r>
          </a:p>
          <a:p>
            <a:r>
              <a:rPr lang="en-US" dirty="0"/>
              <a:t>Practical Approach</a:t>
            </a:r>
          </a:p>
          <a:p>
            <a:pPr lvl="1"/>
            <a:r>
              <a:rPr lang="en-US" dirty="0"/>
              <a:t>Centralized logging ad Monitoring Platform </a:t>
            </a:r>
          </a:p>
          <a:p>
            <a:pPr lvl="1"/>
            <a:r>
              <a:rPr lang="en-US" dirty="0"/>
              <a:t>Session scoping: Tag memory buffers by session ID or user identity (extracted from JWT, OAuth, etc.) for logging, auditing &amp; traceability, while making sure that actual session tokens are never stored in logs</a:t>
            </a:r>
          </a:p>
          <a:p>
            <a:pPr lvl="1"/>
            <a:r>
              <a:rPr lang="en-US" dirty="0"/>
              <a:t>Comprehensive Logging: Log agent reasoning steps, generated plans, validation results, tool calls (with parameters/results), HITL interactions (including decisions), errors, and state changes.</a:t>
            </a:r>
          </a:p>
          <a:p>
            <a:pPr lvl="1"/>
            <a:r>
              <a:rPr lang="en-US" dirty="0"/>
              <a:t>Structured Logging </a:t>
            </a:r>
          </a:p>
          <a:p>
            <a:pPr lvl="1"/>
            <a:r>
              <a:rPr lang="en-US" dirty="0"/>
              <a:t>Traceability through agent steps and tool calls to reconstruct the flow of execution</a:t>
            </a:r>
          </a:p>
          <a:p>
            <a:pPr lvl="1"/>
            <a:r>
              <a:rPr lang="en-US" dirty="0"/>
              <a:t>Log integrity </a:t>
            </a:r>
          </a:p>
          <a:p>
            <a:pPr lvl="1"/>
            <a:r>
              <a:rPr lang="en-US" dirty="0"/>
              <a:t>Multi tenant tagging: clear tagging of data owners can help automated filtering of log data for downstream investigations and alerting</a:t>
            </a:r>
          </a:p>
          <a:p>
            <a:pPr lvl="1"/>
            <a:endParaRPr lang="en-US" dirty="0"/>
          </a:p>
          <a:p>
            <a:endParaRPr lang="en-US" dirty="0"/>
          </a:p>
        </p:txBody>
      </p:sp>
    </p:spTree>
    <p:extLst>
      <p:ext uri="{BB962C8B-B14F-4D97-AF65-F5344CB8AC3E}">
        <p14:creationId xmlns:p14="http://schemas.microsoft.com/office/powerpoint/2010/main" val="25561011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E134-68B9-FFAB-9F06-873D6E591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26588-53F7-9E45-6378-5D90F1C6F427}"/>
              </a:ext>
            </a:extLst>
          </p:cNvPr>
          <p:cNvSpPr>
            <a:spLocks noGrp="1"/>
          </p:cNvSpPr>
          <p:nvPr>
            <p:ph type="title"/>
          </p:nvPr>
        </p:nvSpPr>
        <p:spPr/>
        <p:txBody>
          <a:bodyPr/>
          <a:lstStyle/>
          <a:p>
            <a:r>
              <a:rPr lang="en-US" dirty="0"/>
              <a:t>Vulnerability Scanning (Runtime)</a:t>
            </a:r>
          </a:p>
        </p:txBody>
      </p:sp>
      <p:sp>
        <p:nvSpPr>
          <p:cNvPr id="5" name="Content Placeholder 4">
            <a:extLst>
              <a:ext uri="{FF2B5EF4-FFF2-40B4-BE49-F238E27FC236}">
                <a16:creationId xmlns:a16="http://schemas.microsoft.com/office/drawing/2014/main" id="{DC56BAAC-1561-0D99-3E45-860DE68C3F16}"/>
              </a:ext>
            </a:extLst>
          </p:cNvPr>
          <p:cNvSpPr>
            <a:spLocks noGrp="1"/>
          </p:cNvSpPr>
          <p:nvPr>
            <p:ph idx="1"/>
          </p:nvPr>
        </p:nvSpPr>
        <p:spPr>
          <a:xfrm>
            <a:off x="838200" y="1825625"/>
            <a:ext cx="10906496" cy="4351338"/>
          </a:xfrm>
        </p:spPr>
        <p:txBody>
          <a:bodyPr>
            <a:normAutofit/>
          </a:bodyPr>
          <a:lstStyle/>
          <a:p>
            <a:r>
              <a:rPr lang="en-US" dirty="0"/>
              <a:t>Purpose: Continuously scan the running application and environment for new vulnerabilities</a:t>
            </a:r>
          </a:p>
          <a:p>
            <a:r>
              <a:rPr lang="en-US" dirty="0"/>
              <a:t>Practical Approach</a:t>
            </a:r>
          </a:p>
          <a:p>
            <a:pPr lvl="1"/>
            <a:r>
              <a:rPr lang="en-US" dirty="0"/>
              <a:t>Perform periodic infrastructure vulnerability scans. </a:t>
            </a:r>
          </a:p>
          <a:p>
            <a:pPr lvl="1"/>
            <a:r>
              <a:rPr lang="en-US" dirty="0"/>
              <a:t>Integrate findings into a patch management process. </a:t>
            </a:r>
          </a:p>
          <a:p>
            <a:pPr lvl="1"/>
            <a:r>
              <a:rPr lang="en-US" dirty="0"/>
              <a:t>Utilize DAST scanning against lower environments for APIs and other common interfaces like OWASP ZAP. </a:t>
            </a:r>
          </a:p>
          <a:p>
            <a:pPr lvl="1"/>
            <a:r>
              <a:rPr lang="en-US" dirty="0"/>
              <a:t>Use port and CVE scanners for environment endpoints.</a:t>
            </a:r>
          </a:p>
        </p:txBody>
      </p:sp>
    </p:spTree>
    <p:extLst>
      <p:ext uri="{BB962C8B-B14F-4D97-AF65-F5344CB8AC3E}">
        <p14:creationId xmlns:p14="http://schemas.microsoft.com/office/powerpoint/2010/main" val="36499573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0F2E-E39B-954C-A5CB-E3D3260DB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DA962-8954-AA3F-E8A1-3CDF1D82C720}"/>
              </a:ext>
            </a:extLst>
          </p:cNvPr>
          <p:cNvSpPr>
            <a:spLocks noGrp="1"/>
          </p:cNvSpPr>
          <p:nvPr>
            <p:ph type="title"/>
          </p:nvPr>
        </p:nvSpPr>
        <p:spPr/>
        <p:txBody>
          <a:bodyPr/>
          <a:lstStyle/>
          <a:p>
            <a:r>
              <a:rPr lang="en-US" dirty="0"/>
              <a:t>Incident Response Planning</a:t>
            </a:r>
          </a:p>
        </p:txBody>
      </p:sp>
      <p:sp>
        <p:nvSpPr>
          <p:cNvPr id="5" name="Content Placeholder 4">
            <a:extLst>
              <a:ext uri="{FF2B5EF4-FFF2-40B4-BE49-F238E27FC236}">
                <a16:creationId xmlns:a16="http://schemas.microsoft.com/office/drawing/2014/main" id="{2F820495-4942-028A-2301-55C0FB4B92A8}"/>
              </a:ext>
            </a:extLst>
          </p:cNvPr>
          <p:cNvSpPr>
            <a:spLocks noGrp="1"/>
          </p:cNvSpPr>
          <p:nvPr>
            <p:ph idx="1"/>
          </p:nvPr>
        </p:nvSpPr>
        <p:spPr>
          <a:xfrm>
            <a:off x="838200" y="1825625"/>
            <a:ext cx="10906496" cy="4351338"/>
          </a:xfrm>
        </p:spPr>
        <p:txBody>
          <a:bodyPr>
            <a:normAutofit/>
          </a:bodyPr>
          <a:lstStyle/>
          <a:p>
            <a:r>
              <a:rPr lang="en-US" dirty="0"/>
              <a:t>Purpose: Have predefined plan to handle security incidents involving </a:t>
            </a:r>
          </a:p>
          <a:p>
            <a:r>
              <a:rPr lang="en-US" dirty="0"/>
              <a:t>Practical Approach: </a:t>
            </a:r>
          </a:p>
          <a:p>
            <a:pPr lvl="1"/>
            <a:r>
              <a:rPr lang="en-US" dirty="0"/>
              <a:t>Define what constitutes an incident (e.g., successful prompt injection causing harm, data breach via agent, agent performing unauthorized actions). </a:t>
            </a:r>
          </a:p>
          <a:p>
            <a:pPr lvl="1"/>
            <a:r>
              <a:rPr lang="en-US" dirty="0"/>
              <a:t>Outline steps for containment (e.g., disabling the agent, restricting tool access), analysis (using logs and monitoring data), remediation, and reporting. </a:t>
            </a:r>
          </a:p>
          <a:p>
            <a:pPr lvl="1"/>
            <a:r>
              <a:rPr lang="en-US" dirty="0"/>
              <a:t>Assign roles and responsibilities for incident response. </a:t>
            </a:r>
          </a:p>
          <a:p>
            <a:pPr lvl="1"/>
            <a:r>
              <a:rPr lang="en-US" dirty="0"/>
              <a:t>Regularly test the plan using tabletops and “fire” drills.</a:t>
            </a:r>
          </a:p>
          <a:p>
            <a:endParaRPr lang="en-US" dirty="0"/>
          </a:p>
        </p:txBody>
      </p:sp>
    </p:spTree>
    <p:extLst>
      <p:ext uri="{BB962C8B-B14F-4D97-AF65-F5344CB8AC3E}">
        <p14:creationId xmlns:p14="http://schemas.microsoft.com/office/powerpoint/2010/main" val="10024257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2C56C-6377-FE53-1F44-08376C1D8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6ED4D-70E9-D93F-3E2D-2DE9C5BF50F4}"/>
              </a:ext>
            </a:extLst>
          </p:cNvPr>
          <p:cNvSpPr>
            <a:spLocks noGrp="1"/>
          </p:cNvSpPr>
          <p:nvPr>
            <p:ph type="title"/>
          </p:nvPr>
        </p:nvSpPr>
        <p:spPr/>
        <p:txBody>
          <a:bodyPr/>
          <a:lstStyle/>
          <a:p>
            <a:r>
              <a:rPr lang="en-US" dirty="0"/>
              <a:t>AI Bot Mitigation and Control</a:t>
            </a:r>
          </a:p>
        </p:txBody>
      </p:sp>
      <p:sp>
        <p:nvSpPr>
          <p:cNvPr id="5" name="Content Placeholder 4">
            <a:extLst>
              <a:ext uri="{FF2B5EF4-FFF2-40B4-BE49-F238E27FC236}">
                <a16:creationId xmlns:a16="http://schemas.microsoft.com/office/drawing/2014/main" id="{8E35F656-5985-88EE-1F75-E891304AF891}"/>
              </a:ext>
            </a:extLst>
          </p:cNvPr>
          <p:cNvSpPr>
            <a:spLocks noGrp="1"/>
          </p:cNvSpPr>
          <p:nvPr>
            <p:ph idx="1"/>
          </p:nvPr>
        </p:nvSpPr>
        <p:spPr>
          <a:xfrm>
            <a:off x="838200" y="1825625"/>
            <a:ext cx="10906496" cy="4351338"/>
          </a:xfrm>
        </p:spPr>
        <p:txBody>
          <a:bodyPr>
            <a:normAutofit/>
          </a:bodyPr>
          <a:lstStyle/>
          <a:p>
            <a:r>
              <a:rPr lang="en-US" dirty="0">
                <a:solidFill>
                  <a:schemeClr val="accent2"/>
                </a:solidFill>
              </a:rPr>
              <a:t>Purpose: verifiable Agent identity is the admission ticket to the Agentic Web: build it in now, and your agent is welcomed as a trusted collaborator; neglect it, and you’ll be treated as just another threat to be blocked.</a:t>
            </a:r>
          </a:p>
          <a:p>
            <a:r>
              <a:rPr lang="en-US" dirty="0">
                <a:solidFill>
                  <a:schemeClr val="accent2"/>
                </a:solidFill>
              </a:rPr>
              <a:t>Practical Approach</a:t>
            </a:r>
          </a:p>
          <a:p>
            <a:pPr lvl="1"/>
            <a:r>
              <a:rPr lang="en-US" dirty="0">
                <a:solidFill>
                  <a:schemeClr val="accent2"/>
                </a:solidFill>
              </a:rPr>
              <a:t>Multi Factor identity bundle</a:t>
            </a:r>
          </a:p>
        </p:txBody>
      </p:sp>
    </p:spTree>
    <p:extLst>
      <p:ext uri="{BB962C8B-B14F-4D97-AF65-F5344CB8AC3E}">
        <p14:creationId xmlns:p14="http://schemas.microsoft.com/office/powerpoint/2010/main" val="41059723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622EE-1EFD-1D65-E196-304F93268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99610-F056-0BA4-8FA7-2F98CF6DABAE}"/>
              </a:ext>
            </a:extLst>
          </p:cNvPr>
          <p:cNvSpPr>
            <a:spLocks noGrp="1"/>
          </p:cNvSpPr>
          <p:nvPr>
            <p:ph type="ctrTitle"/>
          </p:nvPr>
        </p:nvSpPr>
        <p:spPr/>
        <p:txBody>
          <a:bodyPr/>
          <a:lstStyle/>
          <a:p>
            <a:r>
              <a:rPr lang="en-US" dirty="0"/>
              <a:t>Enhanced Security Actions for Agentic AI Systems</a:t>
            </a:r>
          </a:p>
        </p:txBody>
      </p:sp>
      <p:sp>
        <p:nvSpPr>
          <p:cNvPr id="3" name="Subtitle 2">
            <a:extLst>
              <a:ext uri="{FF2B5EF4-FFF2-40B4-BE49-F238E27FC236}">
                <a16:creationId xmlns:a16="http://schemas.microsoft.com/office/drawing/2014/main" id="{660137D7-CA7D-E6AB-D5E6-27BFC6DB59A1}"/>
              </a:ext>
            </a:extLst>
          </p:cNvPr>
          <p:cNvSpPr>
            <a:spLocks noGrp="1"/>
          </p:cNvSpPr>
          <p:nvPr>
            <p:ph type="subTitle" idx="1"/>
          </p:nvPr>
        </p:nvSpPr>
        <p:spPr/>
        <p:txBody>
          <a:bodyPr/>
          <a:lstStyle/>
          <a:p>
            <a:r>
              <a:rPr lang="en-US" dirty="0"/>
              <a:t>Single Agent System</a:t>
            </a:r>
          </a:p>
        </p:txBody>
      </p:sp>
    </p:spTree>
    <p:extLst>
      <p:ext uri="{BB962C8B-B14F-4D97-AF65-F5344CB8AC3E}">
        <p14:creationId xmlns:p14="http://schemas.microsoft.com/office/powerpoint/2010/main" val="738300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0345-DD4B-73EB-6A37-7B04BEB3E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9D51E-4C5B-05FD-564B-E06B0436C3DF}"/>
              </a:ext>
            </a:extLst>
          </p:cNvPr>
          <p:cNvSpPr>
            <a:spLocks noGrp="1"/>
          </p:cNvSpPr>
          <p:nvPr>
            <p:ph type="title"/>
          </p:nvPr>
        </p:nvSpPr>
        <p:spPr/>
        <p:txBody>
          <a:bodyPr/>
          <a:lstStyle/>
          <a:p>
            <a:r>
              <a:rPr lang="en-US" dirty="0"/>
              <a:t>Authentication and Authorization</a:t>
            </a:r>
          </a:p>
        </p:txBody>
      </p:sp>
      <p:sp>
        <p:nvSpPr>
          <p:cNvPr id="5" name="Content Placeholder 4">
            <a:extLst>
              <a:ext uri="{FF2B5EF4-FFF2-40B4-BE49-F238E27FC236}">
                <a16:creationId xmlns:a16="http://schemas.microsoft.com/office/drawing/2014/main" id="{625ADF97-A94E-F570-D5F5-8306B15D1F45}"/>
              </a:ext>
            </a:extLst>
          </p:cNvPr>
          <p:cNvSpPr>
            <a:spLocks noGrp="1"/>
          </p:cNvSpPr>
          <p:nvPr>
            <p:ph idx="1"/>
          </p:nvPr>
        </p:nvSpPr>
        <p:spPr>
          <a:xfrm>
            <a:off x="838200" y="1825625"/>
            <a:ext cx="10906496" cy="4351338"/>
          </a:xfrm>
        </p:spPr>
        <p:txBody>
          <a:bodyPr>
            <a:normAutofit/>
          </a:bodyPr>
          <a:lstStyle/>
          <a:p>
            <a:r>
              <a:rPr lang="en-US" dirty="0"/>
              <a:t>Implement OAuth 2.0/OIDC</a:t>
            </a:r>
          </a:p>
          <a:p>
            <a:pPr lvl="1"/>
            <a:r>
              <a:rPr lang="en-US" dirty="0"/>
              <a:t>Grant the agent short-lived access tokens to prevent misuse or leakage.</a:t>
            </a:r>
          </a:p>
          <a:p>
            <a:pPr lvl="1"/>
            <a:r>
              <a:rPr lang="en-US" dirty="0"/>
              <a:t>Use authorization code flow with PKCE for enhanced security</a:t>
            </a:r>
          </a:p>
          <a:p>
            <a:r>
              <a:rPr lang="en-US" dirty="0"/>
              <a:t>Just in time credential issuance </a:t>
            </a:r>
          </a:p>
          <a:p>
            <a:r>
              <a:rPr lang="en-US" dirty="0"/>
              <a:t>Distinguish between read and write access</a:t>
            </a:r>
          </a:p>
          <a:p>
            <a:r>
              <a:rPr lang="en-US" dirty="0"/>
              <a:t>Grant only the minimum and necessary permission </a:t>
            </a:r>
          </a:p>
          <a:p>
            <a:r>
              <a:rPr lang="en-US" dirty="0"/>
              <a:t>Apply role based access control </a:t>
            </a:r>
          </a:p>
          <a:p>
            <a:r>
              <a:rPr lang="en-US" dirty="0"/>
              <a:t>Use managed identity services </a:t>
            </a:r>
          </a:p>
          <a:p>
            <a:endParaRPr lang="en-US" dirty="0"/>
          </a:p>
          <a:p>
            <a:endParaRPr lang="en-US" dirty="0"/>
          </a:p>
          <a:p>
            <a:endParaRPr lang="en-US" dirty="0"/>
          </a:p>
        </p:txBody>
      </p:sp>
    </p:spTree>
    <p:extLst>
      <p:ext uri="{BB962C8B-B14F-4D97-AF65-F5344CB8AC3E}">
        <p14:creationId xmlns:p14="http://schemas.microsoft.com/office/powerpoint/2010/main" val="1261601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79085-3E1B-D4AD-568F-32AED46BD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18C25-651C-AAAF-F80E-977088FE254E}"/>
              </a:ext>
            </a:extLst>
          </p:cNvPr>
          <p:cNvSpPr>
            <a:spLocks noGrp="1"/>
          </p:cNvSpPr>
          <p:nvPr>
            <p:ph type="title"/>
          </p:nvPr>
        </p:nvSpPr>
        <p:spPr/>
        <p:txBody>
          <a:bodyPr/>
          <a:lstStyle/>
          <a:p>
            <a:r>
              <a:rPr lang="en-US" dirty="0"/>
              <a:t>Data Protection</a:t>
            </a:r>
          </a:p>
        </p:txBody>
      </p:sp>
      <p:sp>
        <p:nvSpPr>
          <p:cNvPr id="5" name="Content Placeholder 4">
            <a:extLst>
              <a:ext uri="{FF2B5EF4-FFF2-40B4-BE49-F238E27FC236}">
                <a16:creationId xmlns:a16="http://schemas.microsoft.com/office/drawing/2014/main" id="{A511DBF9-C0DA-17E0-7EE0-0E0E38721999}"/>
              </a:ext>
            </a:extLst>
          </p:cNvPr>
          <p:cNvSpPr>
            <a:spLocks noGrp="1"/>
          </p:cNvSpPr>
          <p:nvPr>
            <p:ph idx="1"/>
          </p:nvPr>
        </p:nvSpPr>
        <p:spPr>
          <a:xfrm>
            <a:off x="838200" y="1825625"/>
            <a:ext cx="10906496" cy="4351338"/>
          </a:xfrm>
        </p:spPr>
        <p:txBody>
          <a:bodyPr>
            <a:normAutofit/>
          </a:bodyPr>
          <a:lstStyle/>
          <a:p>
            <a:r>
              <a:rPr lang="en-US" dirty="0"/>
              <a:t>Encrypt sensitive data </a:t>
            </a:r>
          </a:p>
          <a:p>
            <a:r>
              <a:rPr lang="en-US" dirty="0"/>
              <a:t>Implement data loss prevention </a:t>
            </a:r>
          </a:p>
          <a:p>
            <a:r>
              <a:rPr lang="en-US" dirty="0"/>
              <a:t>Use data classification and sensitivity labels </a:t>
            </a:r>
          </a:p>
          <a:p>
            <a:r>
              <a:rPr lang="en-US" dirty="0"/>
              <a:t>Apply data minimization principles </a:t>
            </a:r>
          </a:p>
          <a:p>
            <a:pPr lvl="1"/>
            <a:endParaRPr lang="en-US" dirty="0"/>
          </a:p>
        </p:txBody>
      </p:sp>
    </p:spTree>
    <p:extLst>
      <p:ext uri="{BB962C8B-B14F-4D97-AF65-F5344CB8AC3E}">
        <p14:creationId xmlns:p14="http://schemas.microsoft.com/office/powerpoint/2010/main" val="3059012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BF404-DBA2-C915-6FB0-06DF632AB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A3957C-6EED-6A1D-7777-D3916473BDC5}"/>
              </a:ext>
            </a:extLst>
          </p:cNvPr>
          <p:cNvSpPr>
            <a:spLocks noGrp="1"/>
          </p:cNvSpPr>
          <p:nvPr>
            <p:ph type="title"/>
          </p:nvPr>
        </p:nvSpPr>
        <p:spPr/>
        <p:txBody>
          <a:bodyPr/>
          <a:lstStyle/>
          <a:p>
            <a:r>
              <a:rPr lang="en-US" dirty="0"/>
              <a:t>Code Security</a:t>
            </a:r>
          </a:p>
        </p:txBody>
      </p:sp>
      <p:sp>
        <p:nvSpPr>
          <p:cNvPr id="5" name="Content Placeholder 4">
            <a:extLst>
              <a:ext uri="{FF2B5EF4-FFF2-40B4-BE49-F238E27FC236}">
                <a16:creationId xmlns:a16="http://schemas.microsoft.com/office/drawing/2014/main" id="{BA493FEC-966F-CF6F-1067-CA21B1EA2F14}"/>
              </a:ext>
            </a:extLst>
          </p:cNvPr>
          <p:cNvSpPr>
            <a:spLocks noGrp="1"/>
          </p:cNvSpPr>
          <p:nvPr>
            <p:ph idx="1"/>
          </p:nvPr>
        </p:nvSpPr>
        <p:spPr>
          <a:xfrm>
            <a:off x="838200" y="1825625"/>
            <a:ext cx="10906496" cy="4351338"/>
          </a:xfrm>
        </p:spPr>
        <p:txBody>
          <a:bodyPr>
            <a:normAutofit/>
          </a:bodyPr>
          <a:lstStyle/>
          <a:p>
            <a:r>
              <a:rPr lang="en-US" dirty="0"/>
              <a:t>Establish automated testing pipeline </a:t>
            </a:r>
          </a:p>
          <a:p>
            <a:pPr lvl="1"/>
            <a:r>
              <a:rPr lang="en-US" dirty="0"/>
              <a:t>Include SAST, DAST, and SCA tools in the pipeline</a:t>
            </a:r>
          </a:p>
          <a:p>
            <a:r>
              <a:rPr lang="en-US" dirty="0"/>
              <a:t>Conduct thorough code reviews</a:t>
            </a:r>
          </a:p>
          <a:p>
            <a:r>
              <a:rPr lang="en-US" dirty="0"/>
              <a:t>Monitor dependencies</a:t>
            </a:r>
          </a:p>
          <a:p>
            <a:pPr lvl="1"/>
            <a:r>
              <a:rPr lang="en-US" dirty="0"/>
              <a:t>Check external libraries for vulnerabilities</a:t>
            </a:r>
          </a:p>
          <a:p>
            <a:pPr lvl="1"/>
            <a:r>
              <a:rPr lang="en-US" dirty="0"/>
              <a:t>Set up automated dependency scanning and alerts</a:t>
            </a:r>
          </a:p>
          <a:p>
            <a:endParaRPr lang="en-US" dirty="0"/>
          </a:p>
          <a:p>
            <a:endParaRPr lang="en-US" dirty="0"/>
          </a:p>
        </p:txBody>
      </p:sp>
    </p:spTree>
    <p:extLst>
      <p:ext uri="{BB962C8B-B14F-4D97-AF65-F5344CB8AC3E}">
        <p14:creationId xmlns:p14="http://schemas.microsoft.com/office/powerpoint/2010/main" val="2758876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CD418-DD61-D20D-0F22-37EB6CA8E0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DE6EB-A1CF-2537-6EB4-2E233C983238}"/>
              </a:ext>
            </a:extLst>
          </p:cNvPr>
          <p:cNvSpPr>
            <a:spLocks noGrp="1"/>
          </p:cNvSpPr>
          <p:nvPr>
            <p:ph type="title"/>
          </p:nvPr>
        </p:nvSpPr>
        <p:spPr/>
        <p:txBody>
          <a:bodyPr/>
          <a:lstStyle/>
          <a:p>
            <a:r>
              <a:rPr lang="en-US" dirty="0"/>
              <a:t>Monitoring and Incident Response</a:t>
            </a:r>
          </a:p>
        </p:txBody>
      </p:sp>
      <p:sp>
        <p:nvSpPr>
          <p:cNvPr id="5" name="Content Placeholder 4">
            <a:extLst>
              <a:ext uri="{FF2B5EF4-FFF2-40B4-BE49-F238E27FC236}">
                <a16:creationId xmlns:a16="http://schemas.microsoft.com/office/drawing/2014/main" id="{83094065-A665-1CF7-11DC-06D31D55B726}"/>
              </a:ext>
            </a:extLst>
          </p:cNvPr>
          <p:cNvSpPr>
            <a:spLocks noGrp="1"/>
          </p:cNvSpPr>
          <p:nvPr>
            <p:ph idx="1"/>
          </p:nvPr>
        </p:nvSpPr>
        <p:spPr>
          <a:xfrm>
            <a:off x="838200" y="1825625"/>
            <a:ext cx="10906496" cy="4351338"/>
          </a:xfrm>
        </p:spPr>
        <p:txBody>
          <a:bodyPr>
            <a:normAutofit fontScale="92500" lnSpcReduction="20000"/>
          </a:bodyPr>
          <a:lstStyle/>
          <a:p>
            <a:r>
              <a:rPr lang="en-US" dirty="0"/>
              <a:t>Log all actions and establish baselines</a:t>
            </a:r>
          </a:p>
          <a:p>
            <a:pPr lvl="1"/>
            <a:r>
              <a:rPr lang="en-US" dirty="0"/>
              <a:t>These logs should be assigned the same data classification as the highest level of data involved in their generation.</a:t>
            </a:r>
          </a:p>
          <a:p>
            <a:r>
              <a:rPr lang="en-US" dirty="0"/>
              <a:t>Implement real time anomaly detection </a:t>
            </a:r>
          </a:p>
          <a:p>
            <a:r>
              <a:rPr lang="en-US" dirty="0"/>
              <a:t>Set up alerts for suspicious events </a:t>
            </a:r>
          </a:p>
          <a:p>
            <a:pPr lvl="1"/>
            <a:r>
              <a:rPr lang="en-US" dirty="0"/>
              <a:t>Alert on access attempts to sensitive endpoints, spikes in requests, unusual IP origins</a:t>
            </a:r>
          </a:p>
          <a:p>
            <a:r>
              <a:rPr lang="en-US" dirty="0"/>
              <a:t>Develop incident response plans</a:t>
            </a:r>
          </a:p>
          <a:p>
            <a:pPr lvl="1"/>
            <a:r>
              <a:rPr lang="en-US" dirty="0"/>
              <a:t>Create detailed procedures for addressing security breaches - Include containment, investigation, remediation, and recovery steps</a:t>
            </a:r>
          </a:p>
          <a:p>
            <a:r>
              <a:rPr lang="en-US" dirty="0"/>
              <a:t>Implement emergency off-switch </a:t>
            </a:r>
          </a:p>
          <a:p>
            <a:pPr lvl="1"/>
            <a:r>
              <a:rPr lang="en-US" dirty="0"/>
              <a:t>Create automated and manual mechanisms to stop agent operations</a:t>
            </a:r>
          </a:p>
          <a:p>
            <a:pPr lvl="1"/>
            <a:r>
              <a:rPr lang="en-US" dirty="0"/>
              <a:t>kill switches to immediately revoke access privileges </a:t>
            </a:r>
          </a:p>
        </p:txBody>
      </p:sp>
    </p:spTree>
    <p:extLst>
      <p:ext uri="{BB962C8B-B14F-4D97-AF65-F5344CB8AC3E}">
        <p14:creationId xmlns:p14="http://schemas.microsoft.com/office/powerpoint/2010/main" val="28144207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D7091-FC0D-6003-E38A-3928615BD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062F0-C579-F416-4AA1-11D028472422}"/>
              </a:ext>
            </a:extLst>
          </p:cNvPr>
          <p:cNvSpPr>
            <a:spLocks noGrp="1"/>
          </p:cNvSpPr>
          <p:nvPr>
            <p:ph type="title"/>
          </p:nvPr>
        </p:nvSpPr>
        <p:spPr/>
        <p:txBody>
          <a:bodyPr/>
          <a:lstStyle/>
          <a:p>
            <a:r>
              <a:rPr lang="en-US" dirty="0"/>
              <a:t>Prompt Security</a:t>
            </a:r>
          </a:p>
        </p:txBody>
      </p:sp>
      <p:sp>
        <p:nvSpPr>
          <p:cNvPr id="5" name="Content Placeholder 4">
            <a:extLst>
              <a:ext uri="{FF2B5EF4-FFF2-40B4-BE49-F238E27FC236}">
                <a16:creationId xmlns:a16="http://schemas.microsoft.com/office/drawing/2014/main" id="{5D458380-FDA2-9535-C167-53A239C35844}"/>
              </a:ext>
            </a:extLst>
          </p:cNvPr>
          <p:cNvSpPr>
            <a:spLocks noGrp="1"/>
          </p:cNvSpPr>
          <p:nvPr>
            <p:ph idx="1"/>
          </p:nvPr>
        </p:nvSpPr>
        <p:spPr>
          <a:xfrm>
            <a:off x="838200" y="1825625"/>
            <a:ext cx="10906496" cy="4351338"/>
          </a:xfrm>
        </p:spPr>
        <p:txBody>
          <a:bodyPr>
            <a:normAutofit/>
          </a:bodyPr>
          <a:lstStyle/>
          <a:p>
            <a:r>
              <a:rPr lang="en-US" dirty="0"/>
              <a:t>Sanitize all inputs </a:t>
            </a:r>
          </a:p>
          <a:p>
            <a:r>
              <a:rPr lang="en-US" dirty="0"/>
              <a:t>Harden system prompts</a:t>
            </a:r>
          </a:p>
          <a:p>
            <a:pPr lvl="1"/>
            <a:r>
              <a:rPr lang="en-US" dirty="0"/>
              <a:t>Embed security policies directly into the AI's foundational instructions</a:t>
            </a:r>
          </a:p>
          <a:p>
            <a:r>
              <a:rPr lang="en-US" dirty="0"/>
              <a:t>Apply content filtering on AI outputs </a:t>
            </a:r>
          </a:p>
          <a:p>
            <a:r>
              <a:rPr lang="en-US" dirty="0"/>
              <a:t>Input validation </a:t>
            </a:r>
          </a:p>
          <a:p>
            <a:pPr lvl="1"/>
            <a:r>
              <a:rPr lang="en-US" dirty="0"/>
              <a:t>Filter user inputs using rule-based patterns and NLP techniques or filtering for multi-modal processing</a:t>
            </a:r>
          </a:p>
          <a:p>
            <a:pPr marL="457200" lvl="1" indent="0">
              <a:buNone/>
            </a:pPr>
            <a:endParaRPr lang="en-US" dirty="0"/>
          </a:p>
          <a:p>
            <a:endParaRPr lang="en-US" dirty="0"/>
          </a:p>
        </p:txBody>
      </p:sp>
    </p:spTree>
    <p:extLst>
      <p:ext uri="{BB962C8B-B14F-4D97-AF65-F5344CB8AC3E}">
        <p14:creationId xmlns:p14="http://schemas.microsoft.com/office/powerpoint/2010/main" val="3449036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AC2E7-CAF8-E808-6EEF-BB20872D1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8C410-7B92-6F6A-C76D-092F75DC5581}"/>
              </a:ext>
            </a:extLst>
          </p:cNvPr>
          <p:cNvSpPr>
            <a:spLocks noGrp="1"/>
          </p:cNvSpPr>
          <p:nvPr>
            <p:ph type="ctrTitle"/>
          </p:nvPr>
        </p:nvSpPr>
        <p:spPr/>
        <p:txBody>
          <a:bodyPr/>
          <a:lstStyle/>
          <a:p>
            <a:r>
              <a:rPr lang="en-US" dirty="0"/>
              <a:t>Enhanced Security Actions for Agentic AI Systems</a:t>
            </a:r>
          </a:p>
        </p:txBody>
      </p:sp>
      <p:sp>
        <p:nvSpPr>
          <p:cNvPr id="3" name="Subtitle 2">
            <a:extLst>
              <a:ext uri="{FF2B5EF4-FFF2-40B4-BE49-F238E27FC236}">
                <a16:creationId xmlns:a16="http://schemas.microsoft.com/office/drawing/2014/main" id="{F7ABD867-B553-C7C7-E64D-E90E10B44F5E}"/>
              </a:ext>
            </a:extLst>
          </p:cNvPr>
          <p:cNvSpPr>
            <a:spLocks noGrp="1"/>
          </p:cNvSpPr>
          <p:nvPr>
            <p:ph type="subTitle" idx="1"/>
          </p:nvPr>
        </p:nvSpPr>
        <p:spPr/>
        <p:txBody>
          <a:bodyPr>
            <a:normAutofit fontScale="85000" lnSpcReduction="20000"/>
          </a:bodyPr>
          <a:lstStyle/>
          <a:p>
            <a:r>
              <a:rPr lang="en-US" dirty="0"/>
              <a:t>Multi Agent System with Central Orchestrator</a:t>
            </a:r>
          </a:p>
          <a:p>
            <a:r>
              <a:rPr lang="en-US" dirty="0"/>
              <a:t>Multiple intelligent agents that interact with each other and a shared environment to solve problems or achieve goals. The agents can operate independently, discern their surroundings, make decisions, and act. The central orchestrator is responsible for coordinating the agents’ interactions, assigning tasks, and maintaining the overall workflow or state.</a:t>
            </a:r>
          </a:p>
        </p:txBody>
      </p:sp>
    </p:spTree>
    <p:extLst>
      <p:ext uri="{BB962C8B-B14F-4D97-AF65-F5344CB8AC3E}">
        <p14:creationId xmlns:p14="http://schemas.microsoft.com/office/powerpoint/2010/main" val="3399475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D15CF-A388-483E-46A6-545EDA710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36A9E-E0CD-2E99-5BE0-51F2A9D9DE4D}"/>
              </a:ext>
            </a:extLst>
          </p:cNvPr>
          <p:cNvSpPr>
            <a:spLocks noGrp="1"/>
          </p:cNvSpPr>
          <p:nvPr>
            <p:ph type="title"/>
          </p:nvPr>
        </p:nvSpPr>
        <p:spPr/>
        <p:txBody>
          <a:bodyPr/>
          <a:lstStyle/>
          <a:p>
            <a:r>
              <a:rPr lang="en-US" dirty="0"/>
              <a:t>Authentication and Authorization</a:t>
            </a:r>
          </a:p>
        </p:txBody>
      </p:sp>
      <p:sp>
        <p:nvSpPr>
          <p:cNvPr id="5" name="Content Placeholder 4">
            <a:extLst>
              <a:ext uri="{FF2B5EF4-FFF2-40B4-BE49-F238E27FC236}">
                <a16:creationId xmlns:a16="http://schemas.microsoft.com/office/drawing/2014/main" id="{17F9BD14-A822-191D-72D6-03A3F8DB2D25}"/>
              </a:ext>
            </a:extLst>
          </p:cNvPr>
          <p:cNvSpPr>
            <a:spLocks noGrp="1"/>
          </p:cNvSpPr>
          <p:nvPr>
            <p:ph idx="1"/>
          </p:nvPr>
        </p:nvSpPr>
        <p:spPr>
          <a:xfrm>
            <a:off x="838200" y="1825625"/>
            <a:ext cx="10906496" cy="4351338"/>
          </a:xfrm>
        </p:spPr>
        <p:txBody>
          <a:bodyPr>
            <a:normAutofit/>
          </a:bodyPr>
          <a:lstStyle/>
          <a:p>
            <a:r>
              <a:rPr lang="en-US" dirty="0"/>
              <a:t>Use authentication and authorization controls mentioned above</a:t>
            </a:r>
          </a:p>
          <a:p>
            <a:r>
              <a:rPr lang="en-US" dirty="0"/>
              <a:t>Establish separation of control planes </a:t>
            </a:r>
          </a:p>
          <a:p>
            <a:pPr lvl="1"/>
            <a:r>
              <a:rPr lang="en-US" dirty="0"/>
              <a:t>Create a clear separation between different agent functionalities </a:t>
            </a:r>
          </a:p>
          <a:p>
            <a:pPr lvl="1"/>
            <a:r>
              <a:rPr lang="en-US" dirty="0"/>
              <a:t>Maintain distinct permission sets for each agent based on least privilege</a:t>
            </a:r>
          </a:p>
          <a:p>
            <a:pPr lvl="1"/>
            <a:endParaRPr lang="en-US" dirty="0"/>
          </a:p>
          <a:p>
            <a:r>
              <a:rPr lang="en-US" dirty="0"/>
              <a:t>Authenticate and verify all agent interactions </a:t>
            </a:r>
          </a:p>
          <a:p>
            <a:r>
              <a:rPr lang="en-US" dirty="0"/>
              <a:t>Restrict discovery to known and trusted servers </a:t>
            </a:r>
          </a:p>
          <a:p>
            <a:pPr lvl="1"/>
            <a:r>
              <a:rPr lang="en-US" dirty="0"/>
              <a:t>Hard-code discovery servers in agent instructions</a:t>
            </a:r>
          </a:p>
          <a:p>
            <a:pPr lvl="1"/>
            <a:r>
              <a:rPr lang="en-US" dirty="0"/>
              <a:t>Prevent agents from communicating with discovery servers using network and logical controls</a:t>
            </a:r>
          </a:p>
          <a:p>
            <a:endParaRPr lang="en-US" dirty="0"/>
          </a:p>
          <a:p>
            <a:endParaRPr lang="en-US" dirty="0"/>
          </a:p>
        </p:txBody>
      </p:sp>
    </p:spTree>
    <p:extLst>
      <p:ext uri="{BB962C8B-B14F-4D97-AF65-F5344CB8AC3E}">
        <p14:creationId xmlns:p14="http://schemas.microsoft.com/office/powerpoint/2010/main" val="3177033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3FD54-DDE2-1A4A-7477-D3495D44E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C7E31-A845-1D6D-3D8E-85A9A01638D3}"/>
              </a:ext>
            </a:extLst>
          </p:cNvPr>
          <p:cNvSpPr>
            <a:spLocks noGrp="1"/>
          </p:cNvSpPr>
          <p:nvPr>
            <p:ph type="title"/>
          </p:nvPr>
        </p:nvSpPr>
        <p:spPr/>
        <p:txBody>
          <a:bodyPr/>
          <a:lstStyle/>
          <a:p>
            <a:r>
              <a:rPr lang="en-US" dirty="0"/>
              <a:t>Orchestrator Security</a:t>
            </a:r>
          </a:p>
        </p:txBody>
      </p:sp>
      <p:sp>
        <p:nvSpPr>
          <p:cNvPr id="5" name="Content Placeholder 4">
            <a:extLst>
              <a:ext uri="{FF2B5EF4-FFF2-40B4-BE49-F238E27FC236}">
                <a16:creationId xmlns:a16="http://schemas.microsoft.com/office/drawing/2014/main" id="{F01C0C46-386A-6F1A-7611-39260E973220}"/>
              </a:ext>
            </a:extLst>
          </p:cNvPr>
          <p:cNvSpPr>
            <a:spLocks noGrp="1"/>
          </p:cNvSpPr>
          <p:nvPr>
            <p:ph idx="1"/>
          </p:nvPr>
        </p:nvSpPr>
        <p:spPr>
          <a:xfrm>
            <a:off x="838200" y="1825625"/>
            <a:ext cx="10906496" cy="4351338"/>
          </a:xfrm>
        </p:spPr>
        <p:txBody>
          <a:bodyPr>
            <a:normAutofit/>
          </a:bodyPr>
          <a:lstStyle/>
          <a:p>
            <a:r>
              <a:rPr lang="en-US" dirty="0"/>
              <a:t>Harden the central orchestrator’s API (OWASP API Security top 10)</a:t>
            </a:r>
          </a:p>
          <a:p>
            <a:r>
              <a:rPr lang="en-US" dirty="0"/>
              <a:t>Protect against control flow hijacking </a:t>
            </a:r>
          </a:p>
          <a:p>
            <a:pPr lvl="1"/>
            <a:r>
              <a:rPr lang="en-US" dirty="0"/>
              <a:t>Implement integrity checks and validation on operational metadata and agent outputs</a:t>
            </a:r>
          </a:p>
          <a:p>
            <a:r>
              <a:rPr lang="en-US" dirty="0"/>
              <a:t>Mitigate the confused deputy problem </a:t>
            </a:r>
          </a:p>
          <a:p>
            <a:pPr lvl="1"/>
            <a:r>
              <a:rPr lang="en-US" dirty="0"/>
              <a:t>Prevent scenarios where trusted components are tricked into performing unauthorized actions</a:t>
            </a:r>
          </a:p>
          <a:p>
            <a:pPr lvl="1"/>
            <a:r>
              <a:rPr lang="en-US" dirty="0"/>
              <a:t>Implement additional context validation and cross-check requests</a:t>
            </a:r>
          </a:p>
          <a:p>
            <a:pPr lvl="1"/>
            <a:endParaRPr lang="en-US" dirty="0"/>
          </a:p>
          <a:p>
            <a:endParaRPr lang="en-US" dirty="0"/>
          </a:p>
          <a:p>
            <a:pPr lvl="1"/>
            <a:endParaRPr lang="en-US" dirty="0"/>
          </a:p>
        </p:txBody>
      </p:sp>
    </p:spTree>
    <p:extLst>
      <p:ext uri="{BB962C8B-B14F-4D97-AF65-F5344CB8AC3E}">
        <p14:creationId xmlns:p14="http://schemas.microsoft.com/office/powerpoint/2010/main" val="28314783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312A-75F8-2AA1-A25E-1EACBFB42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644AA-4ACC-9AC3-42AF-3F562E14EB42}"/>
              </a:ext>
            </a:extLst>
          </p:cNvPr>
          <p:cNvSpPr>
            <a:spLocks noGrp="1"/>
          </p:cNvSpPr>
          <p:nvPr>
            <p:ph type="title"/>
          </p:nvPr>
        </p:nvSpPr>
        <p:spPr/>
        <p:txBody>
          <a:bodyPr/>
          <a:lstStyle/>
          <a:p>
            <a:r>
              <a:rPr lang="en-US" dirty="0"/>
              <a:t>Inter-Agent Communication</a:t>
            </a:r>
          </a:p>
        </p:txBody>
      </p:sp>
      <p:sp>
        <p:nvSpPr>
          <p:cNvPr id="5" name="Content Placeholder 4">
            <a:extLst>
              <a:ext uri="{FF2B5EF4-FFF2-40B4-BE49-F238E27FC236}">
                <a16:creationId xmlns:a16="http://schemas.microsoft.com/office/drawing/2014/main" id="{F71D29E3-8CDC-B5AB-5417-1D89D0AEB456}"/>
              </a:ext>
            </a:extLst>
          </p:cNvPr>
          <p:cNvSpPr>
            <a:spLocks noGrp="1"/>
          </p:cNvSpPr>
          <p:nvPr>
            <p:ph idx="1"/>
          </p:nvPr>
        </p:nvSpPr>
        <p:spPr>
          <a:xfrm>
            <a:off x="838200" y="1825625"/>
            <a:ext cx="10906496" cy="4351338"/>
          </a:xfrm>
        </p:spPr>
        <p:txBody>
          <a:bodyPr>
            <a:normAutofit fontScale="77500" lnSpcReduction="20000"/>
          </a:bodyPr>
          <a:lstStyle/>
          <a:p>
            <a:r>
              <a:rPr lang="en-US" dirty="0"/>
              <a:t>Implement secure communication protocol </a:t>
            </a:r>
          </a:p>
          <a:p>
            <a:r>
              <a:rPr lang="en-US" dirty="0"/>
              <a:t>Utilize well known protocols or pre-defined schemas </a:t>
            </a:r>
          </a:p>
          <a:p>
            <a:pPr lvl="1"/>
            <a:r>
              <a:rPr lang="en-US" dirty="0"/>
              <a:t>Utilize schema based communications to simplify deterministic validation and improve consistency</a:t>
            </a:r>
          </a:p>
          <a:p>
            <a:pPr lvl="1"/>
            <a:r>
              <a:rPr lang="en-US" dirty="0"/>
              <a:t>JSON RPC 2.0 and or standard event methods </a:t>
            </a:r>
          </a:p>
          <a:p>
            <a:r>
              <a:rPr lang="en-US" dirty="0"/>
              <a:t>Verify the identity of each communication agent </a:t>
            </a:r>
          </a:p>
          <a:p>
            <a:pPr lvl="1"/>
            <a:r>
              <a:rPr lang="en-US" dirty="0"/>
              <a:t>Use certificate-based or token-based authentication mechanisms</a:t>
            </a:r>
          </a:p>
          <a:p>
            <a:r>
              <a:rPr lang="en-US" dirty="0"/>
              <a:t>Use secure message queuing system </a:t>
            </a:r>
          </a:p>
          <a:p>
            <a:pPr lvl="1"/>
            <a:r>
              <a:rPr lang="en-US" dirty="0"/>
              <a:t>Implement message brokers with security features for asynchronous communication</a:t>
            </a:r>
          </a:p>
          <a:p>
            <a:r>
              <a:rPr lang="en-US" dirty="0"/>
              <a:t>Deploy policy enforcement points</a:t>
            </a:r>
          </a:p>
          <a:p>
            <a:pPr lvl="1"/>
            <a:r>
              <a:rPr lang="en-US" dirty="0"/>
              <a:t>Implement as middleware or service proxies that validate each interaction</a:t>
            </a:r>
          </a:p>
          <a:p>
            <a:r>
              <a:rPr lang="en-US" dirty="0"/>
              <a:t>Apply rate limiting for agent interactions</a:t>
            </a:r>
          </a:p>
          <a:p>
            <a:pPr lvl="1"/>
            <a:r>
              <a:rPr lang="en-US" dirty="0"/>
              <a:t>Implement exponential backoff for failed requests</a:t>
            </a:r>
          </a:p>
          <a:p>
            <a:pPr lvl="1"/>
            <a:r>
              <a:rPr lang="en-US" dirty="0"/>
              <a:t>Prevent abuse by limiting the frequency of requests between agents</a:t>
            </a:r>
          </a:p>
          <a:p>
            <a:pPr lvl="1"/>
            <a:endParaRPr lang="en-US" dirty="0"/>
          </a:p>
        </p:txBody>
      </p:sp>
    </p:spTree>
    <p:extLst>
      <p:ext uri="{BB962C8B-B14F-4D97-AF65-F5344CB8AC3E}">
        <p14:creationId xmlns:p14="http://schemas.microsoft.com/office/powerpoint/2010/main" val="5141151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E484-2230-8807-F900-A1680BED0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2D0F8-A65B-5DFB-FC05-787F3DCF9E46}"/>
              </a:ext>
            </a:extLst>
          </p:cNvPr>
          <p:cNvSpPr>
            <a:spLocks noGrp="1"/>
          </p:cNvSpPr>
          <p:nvPr>
            <p:ph type="title"/>
          </p:nvPr>
        </p:nvSpPr>
        <p:spPr/>
        <p:txBody>
          <a:bodyPr/>
          <a:lstStyle/>
          <a:p>
            <a:r>
              <a:rPr lang="en-US" dirty="0"/>
              <a:t>Trust Boundaries</a:t>
            </a:r>
          </a:p>
        </p:txBody>
      </p:sp>
      <p:sp>
        <p:nvSpPr>
          <p:cNvPr id="5" name="Content Placeholder 4">
            <a:extLst>
              <a:ext uri="{FF2B5EF4-FFF2-40B4-BE49-F238E27FC236}">
                <a16:creationId xmlns:a16="http://schemas.microsoft.com/office/drawing/2014/main" id="{D38D9B8F-E3D9-4A35-8241-8856E53D7C8C}"/>
              </a:ext>
            </a:extLst>
          </p:cNvPr>
          <p:cNvSpPr>
            <a:spLocks noGrp="1"/>
          </p:cNvSpPr>
          <p:nvPr>
            <p:ph idx="1"/>
          </p:nvPr>
        </p:nvSpPr>
        <p:spPr>
          <a:xfrm>
            <a:off x="838200" y="1825625"/>
            <a:ext cx="10906496" cy="4351338"/>
          </a:xfrm>
        </p:spPr>
        <p:txBody>
          <a:bodyPr>
            <a:normAutofit/>
          </a:bodyPr>
          <a:lstStyle/>
          <a:p>
            <a:r>
              <a:rPr lang="en-US" dirty="0"/>
              <a:t>Apply zero trust security principles</a:t>
            </a:r>
          </a:p>
          <a:p>
            <a:r>
              <a:rPr lang="en-US" dirty="0"/>
              <a:t>Implement network segmentation and agent isolation</a:t>
            </a:r>
          </a:p>
          <a:p>
            <a:pPr lvl="1"/>
            <a:r>
              <a:rPr lang="en-US" dirty="0"/>
              <a:t>Limit the interconnectedness of agents to contain potential breaches</a:t>
            </a:r>
          </a:p>
          <a:p>
            <a:pPr lvl="1"/>
            <a:r>
              <a:rPr lang="en-US" dirty="0"/>
              <a:t>Create distinct security zones within the system</a:t>
            </a:r>
          </a:p>
          <a:p>
            <a:r>
              <a:rPr lang="en-US" dirty="0"/>
              <a:t>Use containerization techniques </a:t>
            </a:r>
          </a:p>
          <a:p>
            <a:pPr lvl="1"/>
            <a:r>
              <a:rPr lang="en-US" dirty="0"/>
              <a:t>Sandbox individual agents </a:t>
            </a:r>
          </a:p>
          <a:p>
            <a:pPr lvl="1"/>
            <a:r>
              <a:rPr lang="en-US" dirty="0"/>
              <a:t> Restrict access to underlying resources and OS</a:t>
            </a:r>
          </a:p>
        </p:txBody>
      </p:sp>
    </p:spTree>
    <p:extLst>
      <p:ext uri="{BB962C8B-B14F-4D97-AF65-F5344CB8AC3E}">
        <p14:creationId xmlns:p14="http://schemas.microsoft.com/office/powerpoint/2010/main" val="6941253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313D4-AA29-C51F-3F5F-76B59454E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15D42-28E9-36EC-966C-720AD4B434BA}"/>
              </a:ext>
            </a:extLst>
          </p:cNvPr>
          <p:cNvSpPr>
            <a:spLocks noGrp="1"/>
          </p:cNvSpPr>
          <p:nvPr>
            <p:ph type="ctrTitle"/>
          </p:nvPr>
        </p:nvSpPr>
        <p:spPr/>
        <p:txBody>
          <a:bodyPr/>
          <a:lstStyle/>
          <a:p>
            <a:r>
              <a:rPr lang="en-US" dirty="0"/>
              <a:t>Enhanced Security Actions for Agentic AI Systems</a:t>
            </a:r>
          </a:p>
        </p:txBody>
      </p:sp>
      <p:sp>
        <p:nvSpPr>
          <p:cNvPr id="3" name="Subtitle 2">
            <a:extLst>
              <a:ext uri="{FF2B5EF4-FFF2-40B4-BE49-F238E27FC236}">
                <a16:creationId xmlns:a16="http://schemas.microsoft.com/office/drawing/2014/main" id="{AE6801CE-7CB4-C579-F6D8-5B38A1A79A08}"/>
              </a:ext>
            </a:extLst>
          </p:cNvPr>
          <p:cNvSpPr>
            <a:spLocks noGrp="1"/>
          </p:cNvSpPr>
          <p:nvPr>
            <p:ph type="subTitle" idx="1"/>
          </p:nvPr>
        </p:nvSpPr>
        <p:spPr/>
        <p:txBody>
          <a:bodyPr/>
          <a:lstStyle/>
          <a:p>
            <a:r>
              <a:rPr lang="en-US" dirty="0"/>
              <a:t>Multi Agent System with Swarm Architecture</a:t>
            </a:r>
          </a:p>
        </p:txBody>
      </p:sp>
    </p:spTree>
    <p:extLst>
      <p:ext uri="{BB962C8B-B14F-4D97-AF65-F5344CB8AC3E}">
        <p14:creationId xmlns:p14="http://schemas.microsoft.com/office/powerpoint/2010/main" val="16760675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5094-44F5-6107-2DAD-7167BE3D8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1CB3A-6BA9-7F89-ACD8-388EFD574753}"/>
              </a:ext>
            </a:extLst>
          </p:cNvPr>
          <p:cNvSpPr>
            <a:spLocks noGrp="1"/>
          </p:cNvSpPr>
          <p:nvPr>
            <p:ph type="title"/>
          </p:nvPr>
        </p:nvSpPr>
        <p:spPr/>
        <p:txBody>
          <a:bodyPr/>
          <a:lstStyle/>
          <a:p>
            <a:r>
              <a:rPr lang="en-US" dirty="0"/>
              <a:t>Authentication and Authorization</a:t>
            </a:r>
          </a:p>
        </p:txBody>
      </p:sp>
      <p:sp>
        <p:nvSpPr>
          <p:cNvPr id="5" name="Content Placeholder 4">
            <a:extLst>
              <a:ext uri="{FF2B5EF4-FFF2-40B4-BE49-F238E27FC236}">
                <a16:creationId xmlns:a16="http://schemas.microsoft.com/office/drawing/2014/main" id="{8CB24A27-D472-1AF0-E6E6-F05445B0B3C9}"/>
              </a:ext>
            </a:extLst>
          </p:cNvPr>
          <p:cNvSpPr>
            <a:spLocks noGrp="1"/>
          </p:cNvSpPr>
          <p:nvPr>
            <p:ph idx="1"/>
          </p:nvPr>
        </p:nvSpPr>
        <p:spPr>
          <a:xfrm>
            <a:off x="838200" y="1825625"/>
            <a:ext cx="10906496" cy="4351338"/>
          </a:xfrm>
        </p:spPr>
        <p:txBody>
          <a:bodyPr>
            <a:normAutofit/>
          </a:bodyPr>
          <a:lstStyle/>
          <a:p>
            <a:r>
              <a:rPr lang="en-US" dirty="0"/>
              <a:t>Same as the above ones</a:t>
            </a:r>
          </a:p>
          <a:p>
            <a:r>
              <a:rPr lang="en-US" dirty="0"/>
              <a:t>Identity trusted agents and actions</a:t>
            </a:r>
          </a:p>
          <a:p>
            <a:pPr lvl="1"/>
            <a:r>
              <a:rPr lang="en-US" dirty="0"/>
              <a:t>Assign this trust and action outside the agentic flow</a:t>
            </a:r>
          </a:p>
          <a:p>
            <a:pPr lvl="1"/>
            <a:r>
              <a:rPr lang="en-US" dirty="0"/>
              <a:t>Limit or prevent the swarm from adding new agents without human guidance.</a:t>
            </a:r>
          </a:p>
          <a:p>
            <a:endParaRPr lang="en-US" dirty="0"/>
          </a:p>
        </p:txBody>
      </p:sp>
    </p:spTree>
    <p:extLst>
      <p:ext uri="{BB962C8B-B14F-4D97-AF65-F5344CB8AC3E}">
        <p14:creationId xmlns:p14="http://schemas.microsoft.com/office/powerpoint/2010/main" val="33938745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4A466-99A6-2A0D-3710-4773547605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A9FF9-8F43-ADD6-44F0-804E2F89D54C}"/>
              </a:ext>
            </a:extLst>
          </p:cNvPr>
          <p:cNvSpPr>
            <a:spLocks noGrp="1"/>
          </p:cNvSpPr>
          <p:nvPr>
            <p:ph type="title"/>
          </p:nvPr>
        </p:nvSpPr>
        <p:spPr/>
        <p:txBody>
          <a:bodyPr/>
          <a:lstStyle/>
          <a:p>
            <a:r>
              <a:rPr lang="en-US" dirty="0"/>
              <a:t>Decentralized Identity and Trust</a:t>
            </a:r>
          </a:p>
        </p:txBody>
      </p:sp>
      <p:sp>
        <p:nvSpPr>
          <p:cNvPr id="5" name="Content Placeholder 4">
            <a:extLst>
              <a:ext uri="{FF2B5EF4-FFF2-40B4-BE49-F238E27FC236}">
                <a16:creationId xmlns:a16="http://schemas.microsoft.com/office/drawing/2014/main" id="{073B01D7-6D25-A6EF-9206-C6DBC4C4D667}"/>
              </a:ext>
            </a:extLst>
          </p:cNvPr>
          <p:cNvSpPr>
            <a:spLocks noGrp="1"/>
          </p:cNvSpPr>
          <p:nvPr>
            <p:ph idx="1"/>
          </p:nvPr>
        </p:nvSpPr>
        <p:spPr>
          <a:xfrm>
            <a:off x="838200" y="1825625"/>
            <a:ext cx="10906496" cy="4351338"/>
          </a:xfrm>
        </p:spPr>
        <p:txBody>
          <a:bodyPr>
            <a:normAutofit lnSpcReduction="10000"/>
          </a:bodyPr>
          <a:lstStyle/>
          <a:p>
            <a:r>
              <a:rPr lang="en-US" dirty="0"/>
              <a:t>Implement decentralized identifier </a:t>
            </a:r>
          </a:p>
          <a:p>
            <a:pPr lvl="1"/>
            <a:r>
              <a:rPr lang="en-US" dirty="0"/>
              <a:t>Use W3C standard DIDs for self-sovereign agent identities</a:t>
            </a:r>
          </a:p>
          <a:p>
            <a:pPr lvl="1"/>
            <a:r>
              <a:rPr lang="en-US" dirty="0"/>
              <a:t>Enable verification without a central authority</a:t>
            </a:r>
          </a:p>
          <a:p>
            <a:pPr lvl="1"/>
            <a:endParaRPr lang="en-US" dirty="0"/>
          </a:p>
          <a:p>
            <a:r>
              <a:rPr lang="en-US" dirty="0"/>
              <a:t>Use verifiable credentials (VCs)</a:t>
            </a:r>
          </a:p>
          <a:p>
            <a:r>
              <a:rPr lang="en-US" dirty="0"/>
              <a:t>Create decentralized reputation system</a:t>
            </a:r>
          </a:p>
          <a:p>
            <a:pPr lvl="1"/>
            <a:r>
              <a:rPr lang="en-US" dirty="0"/>
              <a:t>Build systems where agents develop reputation scores based on behavior</a:t>
            </a:r>
          </a:p>
          <a:p>
            <a:pPr lvl="2"/>
            <a:r>
              <a:rPr lang="en-US" dirty="0"/>
              <a:t>Agent identity (DID = providing a persistent, verifiable identity across), verifiable credentials (agent's capabilities, permissions, or trust level within the system), inter agent authentication without centralized coordination, enable provenance tracking, Access control to specific resource or capability, role specialization.  </a:t>
            </a:r>
          </a:p>
          <a:p>
            <a:pPr lvl="1"/>
            <a:r>
              <a:rPr lang="en-US" dirty="0"/>
              <a:t>Use these scores to make trust decisions for collaboration</a:t>
            </a:r>
          </a:p>
          <a:p>
            <a:endParaRPr lang="en-US" dirty="0"/>
          </a:p>
        </p:txBody>
      </p:sp>
    </p:spTree>
    <p:extLst>
      <p:ext uri="{BB962C8B-B14F-4D97-AF65-F5344CB8AC3E}">
        <p14:creationId xmlns:p14="http://schemas.microsoft.com/office/powerpoint/2010/main" val="18902733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8DA2E-9ECD-DB44-1137-EAB50C225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C680B9-97E2-6033-6E60-775D55D6BD76}"/>
              </a:ext>
            </a:extLst>
          </p:cNvPr>
          <p:cNvSpPr>
            <a:spLocks noGrp="1"/>
          </p:cNvSpPr>
          <p:nvPr>
            <p:ph type="title"/>
          </p:nvPr>
        </p:nvSpPr>
        <p:spPr/>
        <p:txBody>
          <a:bodyPr/>
          <a:lstStyle/>
          <a:p>
            <a:r>
              <a:rPr lang="en-US" dirty="0"/>
              <a:t>Secure Peer to Peer Communication</a:t>
            </a:r>
          </a:p>
        </p:txBody>
      </p:sp>
      <p:sp>
        <p:nvSpPr>
          <p:cNvPr id="5" name="Content Placeholder 4">
            <a:extLst>
              <a:ext uri="{FF2B5EF4-FFF2-40B4-BE49-F238E27FC236}">
                <a16:creationId xmlns:a16="http://schemas.microsoft.com/office/drawing/2014/main" id="{6A1DC101-A93E-D7D1-3BE8-9935742D82B7}"/>
              </a:ext>
            </a:extLst>
          </p:cNvPr>
          <p:cNvSpPr>
            <a:spLocks noGrp="1"/>
          </p:cNvSpPr>
          <p:nvPr>
            <p:ph idx="1"/>
          </p:nvPr>
        </p:nvSpPr>
        <p:spPr>
          <a:xfrm>
            <a:off x="838200" y="1825625"/>
            <a:ext cx="10906496" cy="4351338"/>
          </a:xfrm>
        </p:spPr>
        <p:txBody>
          <a:bodyPr>
            <a:normAutofit/>
          </a:bodyPr>
          <a:lstStyle/>
          <a:p>
            <a:r>
              <a:rPr lang="en-US" dirty="0"/>
              <a:t>Select appropriate P2P communication protocol </a:t>
            </a:r>
          </a:p>
          <a:p>
            <a:r>
              <a:rPr lang="en-US" dirty="0"/>
              <a:t>Ensure both encryption and authentication </a:t>
            </a:r>
          </a:p>
          <a:p>
            <a:pPr lvl="1"/>
            <a:r>
              <a:rPr lang="en-US" dirty="0"/>
              <a:t>Consider TLS/SSL, DTLS, Noise Protocol, or specialized frameworks</a:t>
            </a:r>
          </a:p>
          <a:p>
            <a:pPr lvl="1"/>
            <a:endParaRPr lang="en-US" dirty="0"/>
          </a:p>
          <a:p>
            <a:endParaRPr lang="en-US" dirty="0"/>
          </a:p>
        </p:txBody>
      </p:sp>
    </p:spTree>
    <p:extLst>
      <p:ext uri="{BB962C8B-B14F-4D97-AF65-F5344CB8AC3E}">
        <p14:creationId xmlns:p14="http://schemas.microsoft.com/office/powerpoint/2010/main" val="8809322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DBA4D-9B0D-A453-0BC8-FD1FEB2286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C8F65-BB98-9DED-64BA-8F3DC7DC8D1A}"/>
              </a:ext>
            </a:extLst>
          </p:cNvPr>
          <p:cNvSpPr>
            <a:spLocks noGrp="1"/>
          </p:cNvSpPr>
          <p:nvPr>
            <p:ph type="title"/>
          </p:nvPr>
        </p:nvSpPr>
        <p:spPr/>
        <p:txBody>
          <a:bodyPr/>
          <a:lstStyle/>
          <a:p>
            <a:r>
              <a:rPr lang="en-US" dirty="0"/>
              <a:t>Cross Architecture Security Considerations</a:t>
            </a:r>
          </a:p>
        </p:txBody>
      </p:sp>
      <p:sp>
        <p:nvSpPr>
          <p:cNvPr id="5" name="Content Placeholder 4">
            <a:extLst>
              <a:ext uri="{FF2B5EF4-FFF2-40B4-BE49-F238E27FC236}">
                <a16:creationId xmlns:a16="http://schemas.microsoft.com/office/drawing/2014/main" id="{1263CB38-98E1-600F-A37D-59AA162F65DC}"/>
              </a:ext>
            </a:extLst>
          </p:cNvPr>
          <p:cNvSpPr>
            <a:spLocks noGrp="1"/>
          </p:cNvSpPr>
          <p:nvPr>
            <p:ph idx="1"/>
          </p:nvPr>
        </p:nvSpPr>
        <p:spPr>
          <a:xfrm>
            <a:off x="838200" y="1825625"/>
            <a:ext cx="10906496" cy="4351338"/>
          </a:xfrm>
        </p:spPr>
        <p:txBody>
          <a:bodyPr>
            <a:normAutofit/>
          </a:bodyPr>
          <a:lstStyle/>
          <a:p>
            <a:r>
              <a:rPr lang="en-US" dirty="0"/>
              <a:t>Secure API design for agent communication</a:t>
            </a:r>
          </a:p>
          <a:p>
            <a:pPr lvl="1"/>
            <a:r>
              <a:rPr lang="en-US" dirty="0"/>
              <a:t>Standardized interfaces with comprehensive input validation </a:t>
            </a:r>
          </a:p>
          <a:p>
            <a:pPr lvl="1"/>
            <a:r>
              <a:rPr lang="en-US" dirty="0"/>
              <a:t>Apply rate limiting irrespective of architecture</a:t>
            </a:r>
          </a:p>
          <a:p>
            <a:r>
              <a:rPr lang="en-US" dirty="0"/>
              <a:t>Continuous security testing</a:t>
            </a:r>
          </a:p>
          <a:p>
            <a:pPr lvl="1"/>
            <a:r>
              <a:rPr lang="en-US" dirty="0"/>
              <a:t>Scan agents regularly for vulnerabilities </a:t>
            </a:r>
          </a:p>
          <a:p>
            <a:pPr lvl="1"/>
            <a:r>
              <a:rPr lang="en-US" dirty="0"/>
              <a:t>Implement manual and automated testing </a:t>
            </a:r>
          </a:p>
          <a:p>
            <a:r>
              <a:rPr lang="en-US" dirty="0"/>
              <a:t>Security monitoring and threat detection </a:t>
            </a:r>
          </a:p>
          <a:p>
            <a:r>
              <a:rPr lang="en-US" dirty="0"/>
              <a:t>Secure agent updates and maintenance </a:t>
            </a:r>
          </a:p>
          <a:p>
            <a:pPr lvl="1"/>
            <a:r>
              <a:rPr lang="en-US" dirty="0"/>
              <a:t>Verify integrity of updates before deploying </a:t>
            </a:r>
          </a:p>
        </p:txBody>
      </p:sp>
    </p:spTree>
    <p:extLst>
      <p:ext uri="{BB962C8B-B14F-4D97-AF65-F5344CB8AC3E}">
        <p14:creationId xmlns:p14="http://schemas.microsoft.com/office/powerpoint/2010/main" val="37137980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B429C-0033-BCE2-7AA5-D9E8917DA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92290-C3B9-110F-BB18-65E0380563D1}"/>
              </a:ext>
            </a:extLst>
          </p:cNvPr>
          <p:cNvSpPr>
            <a:spLocks noGrp="1"/>
          </p:cNvSpPr>
          <p:nvPr>
            <p:ph type="ctrTitle"/>
          </p:nvPr>
        </p:nvSpPr>
        <p:spPr/>
        <p:txBody>
          <a:bodyPr/>
          <a:lstStyle/>
          <a:p>
            <a:r>
              <a:rPr lang="en-US" dirty="0"/>
              <a:t>Key Operational Capability</a:t>
            </a:r>
          </a:p>
        </p:txBody>
      </p:sp>
      <p:sp>
        <p:nvSpPr>
          <p:cNvPr id="3" name="Subtitle 2">
            <a:extLst>
              <a:ext uri="{FF2B5EF4-FFF2-40B4-BE49-F238E27FC236}">
                <a16:creationId xmlns:a16="http://schemas.microsoft.com/office/drawing/2014/main" id="{A21A0037-1DC8-9B49-5EED-63DBD711674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97542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17011-BAD6-9F29-81B9-FC7C723FE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AB096-0783-A47F-9057-59BD05D73488}"/>
              </a:ext>
            </a:extLst>
          </p:cNvPr>
          <p:cNvSpPr>
            <a:spLocks noGrp="1"/>
          </p:cNvSpPr>
          <p:nvPr>
            <p:ph type="title"/>
          </p:nvPr>
        </p:nvSpPr>
        <p:spPr/>
        <p:txBody>
          <a:bodyPr/>
          <a:lstStyle/>
          <a:p>
            <a:r>
              <a:rPr lang="en-US" dirty="0"/>
              <a:t>KC6.1 API Access</a:t>
            </a:r>
          </a:p>
        </p:txBody>
      </p:sp>
      <p:sp>
        <p:nvSpPr>
          <p:cNvPr id="5" name="Content Placeholder 4">
            <a:extLst>
              <a:ext uri="{FF2B5EF4-FFF2-40B4-BE49-F238E27FC236}">
                <a16:creationId xmlns:a16="http://schemas.microsoft.com/office/drawing/2014/main" id="{A61E98BF-2B74-1B2D-D68F-94D8BAA52983}"/>
              </a:ext>
            </a:extLst>
          </p:cNvPr>
          <p:cNvSpPr>
            <a:spLocks noGrp="1"/>
          </p:cNvSpPr>
          <p:nvPr>
            <p:ph idx="1"/>
          </p:nvPr>
        </p:nvSpPr>
        <p:spPr>
          <a:xfrm>
            <a:off x="838200" y="1825625"/>
            <a:ext cx="10906496" cy="4351338"/>
          </a:xfrm>
        </p:spPr>
        <p:txBody>
          <a:bodyPr>
            <a:normAutofit/>
          </a:bodyPr>
          <a:lstStyle/>
          <a:p>
            <a:pPr marL="0" indent="0">
              <a:buNone/>
            </a:pPr>
            <a:r>
              <a:rPr lang="en-US" dirty="0"/>
              <a:t>Core Threats: Unauthorized data access/leakage (T3), API abuse (DoS, cost overruns) (T4, T2), Compromised keys (T3, T9)</a:t>
            </a:r>
          </a:p>
          <a:p>
            <a:pPr marL="0" indent="0">
              <a:buNone/>
            </a:pPr>
            <a:endParaRPr lang="en-US" dirty="0"/>
          </a:p>
          <a:p>
            <a:pPr marL="0" indent="0">
              <a:buNone/>
            </a:pPr>
            <a:r>
              <a:rPr lang="en-US" dirty="0"/>
              <a:t>Controls</a:t>
            </a:r>
          </a:p>
          <a:p>
            <a:pPr marL="0" indent="0">
              <a:buNone/>
            </a:pPr>
            <a:r>
              <a:rPr lang="en-US" dirty="0"/>
              <a:t>Enforce least privilege </a:t>
            </a:r>
          </a:p>
          <a:p>
            <a:pPr marL="0" indent="0">
              <a:buNone/>
            </a:pPr>
            <a:endParaRPr lang="en-US" dirty="0"/>
          </a:p>
        </p:txBody>
      </p:sp>
    </p:spTree>
    <p:extLst>
      <p:ext uri="{BB962C8B-B14F-4D97-AF65-F5344CB8AC3E}">
        <p14:creationId xmlns:p14="http://schemas.microsoft.com/office/powerpoint/2010/main" val="35866360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AA5A-DDAE-E636-E98B-4E6C21430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D83C7-1A10-B73E-C143-7EB2C1C5BF7B}"/>
              </a:ext>
            </a:extLst>
          </p:cNvPr>
          <p:cNvSpPr>
            <a:spLocks noGrp="1"/>
          </p:cNvSpPr>
          <p:nvPr>
            <p:ph type="title"/>
          </p:nvPr>
        </p:nvSpPr>
        <p:spPr/>
        <p:txBody>
          <a:bodyPr/>
          <a:lstStyle/>
          <a:p>
            <a:r>
              <a:rPr lang="en-US" dirty="0"/>
              <a:t>KC6.2 Code Execution</a:t>
            </a:r>
          </a:p>
        </p:txBody>
      </p:sp>
      <p:sp>
        <p:nvSpPr>
          <p:cNvPr id="5" name="Content Placeholder 4">
            <a:extLst>
              <a:ext uri="{FF2B5EF4-FFF2-40B4-BE49-F238E27FC236}">
                <a16:creationId xmlns:a16="http://schemas.microsoft.com/office/drawing/2014/main" id="{77A6EDCC-3522-83E0-060F-DA02D66DD668}"/>
              </a:ext>
            </a:extLst>
          </p:cNvPr>
          <p:cNvSpPr>
            <a:spLocks noGrp="1"/>
          </p:cNvSpPr>
          <p:nvPr>
            <p:ph idx="1"/>
          </p:nvPr>
        </p:nvSpPr>
        <p:spPr>
          <a:xfrm>
            <a:off x="838200" y="1825625"/>
            <a:ext cx="10906496" cy="4351338"/>
          </a:xfrm>
        </p:spPr>
        <p:txBody>
          <a:bodyPr>
            <a:normAutofit fontScale="62500" lnSpcReduction="20000"/>
          </a:bodyPr>
          <a:lstStyle/>
          <a:p>
            <a:pPr marL="0" indent="0">
              <a:buNone/>
            </a:pPr>
            <a:r>
              <a:rPr lang="en-US" dirty="0"/>
              <a:t>Core Threats: Arbitrary code execution (RCE) (T11, T3), Code injection (T11, T2), DoS via resource exhaustion (T4), Leakage of confidential information (T6)</a:t>
            </a:r>
          </a:p>
          <a:p>
            <a:pPr marL="0" indent="0">
              <a:buNone/>
            </a:pPr>
            <a:endParaRPr lang="en-US" dirty="0"/>
          </a:p>
          <a:p>
            <a:pPr marL="0" indent="0">
              <a:buNone/>
            </a:pPr>
            <a:r>
              <a:rPr lang="en-US" dirty="0"/>
              <a:t>Controls </a:t>
            </a:r>
          </a:p>
          <a:p>
            <a:pPr marL="514350" indent="-514350">
              <a:buFont typeface="+mj-lt"/>
              <a:buAutoNum type="arabicPeriod"/>
            </a:pPr>
            <a:r>
              <a:rPr lang="en-US" dirty="0"/>
              <a:t>Implement mandatory sandboxing </a:t>
            </a:r>
          </a:p>
          <a:p>
            <a:pPr marL="971550" lvl="1" indent="-514350">
              <a:buFont typeface="+mj-lt"/>
              <a:buAutoNum type="arabicPeriod"/>
            </a:pPr>
            <a:r>
              <a:rPr lang="en-US" dirty="0"/>
              <a:t>OS-level isolation, containers, VMs, Web Assembly, or cloud solutions</a:t>
            </a:r>
          </a:p>
          <a:p>
            <a:pPr marL="514350" indent="-514350">
              <a:buFont typeface="+mj-lt"/>
              <a:buAutoNum type="arabicPeriod"/>
            </a:pPr>
            <a:r>
              <a:rPr lang="en-US" dirty="0"/>
              <a:t>Perform static analysis on agent generated code </a:t>
            </a:r>
          </a:p>
          <a:p>
            <a:pPr marL="514350" indent="-514350">
              <a:buFont typeface="+mj-lt"/>
              <a:buAutoNum type="arabicPeriod"/>
            </a:pPr>
            <a:r>
              <a:rPr lang="en-US" dirty="0"/>
              <a:t>Enforce resource limitations</a:t>
            </a:r>
          </a:p>
          <a:p>
            <a:pPr marL="971550" lvl="1" indent="-514350">
              <a:buFont typeface="+mj-lt"/>
              <a:buAutoNum type="arabicPeriod"/>
            </a:pPr>
            <a:r>
              <a:rPr lang="en-US" dirty="0"/>
              <a:t>Set strict CPU, memory and execution time limits</a:t>
            </a:r>
          </a:p>
          <a:p>
            <a:pPr marL="971550" lvl="1" indent="-514350">
              <a:buFont typeface="+mj-lt"/>
              <a:buAutoNum type="arabicPeriod"/>
            </a:pPr>
            <a:r>
              <a:rPr lang="en-US" dirty="0"/>
              <a:t>Implement timeouts for all operations </a:t>
            </a:r>
          </a:p>
          <a:p>
            <a:pPr marL="514350" indent="-514350">
              <a:buFont typeface="+mj-lt"/>
              <a:buAutoNum type="arabicPeriod"/>
            </a:pPr>
            <a:r>
              <a:rPr lang="en-US" dirty="0"/>
              <a:t>Additional security measure</a:t>
            </a:r>
          </a:p>
          <a:p>
            <a:pPr marL="971550" lvl="1" indent="-514350">
              <a:buFont typeface="+mj-lt"/>
              <a:buAutoNum type="arabicPeriod"/>
            </a:pPr>
            <a:r>
              <a:rPr lang="en-US" dirty="0"/>
              <a:t>Use code signing or verification when possible </a:t>
            </a:r>
          </a:p>
          <a:p>
            <a:pPr marL="971550" lvl="1" indent="-514350">
              <a:buFont typeface="+mj-lt"/>
              <a:buAutoNum type="arabicPeriod"/>
            </a:pPr>
            <a:r>
              <a:rPr lang="en-US" dirty="0"/>
              <a:t>Implement strict file system and network restrictions </a:t>
            </a:r>
          </a:p>
          <a:p>
            <a:pPr marL="971550" lvl="1" indent="-514350">
              <a:buFont typeface="+mj-lt"/>
              <a:buAutoNum type="arabicPeriod"/>
            </a:pPr>
            <a:r>
              <a:rPr lang="en-US" dirty="0"/>
              <a:t>Use allow lists for permitted commands </a:t>
            </a:r>
          </a:p>
          <a:p>
            <a:pPr marL="971550" lvl="1" indent="-514350">
              <a:buFont typeface="+mj-lt"/>
              <a:buAutoNum type="arabicPeriod"/>
            </a:pPr>
            <a:r>
              <a:rPr lang="en-US" dirty="0"/>
              <a:t>Sanitize all executed code output </a:t>
            </a:r>
          </a:p>
          <a:p>
            <a:pPr marL="971550" lvl="1" indent="-514350">
              <a:buFont typeface="+mj-lt"/>
              <a:buAutoNum type="arabicPeriod"/>
            </a:pPr>
            <a:r>
              <a:rPr lang="en-US" dirty="0"/>
              <a:t>Implement runtime monitoring during execution</a:t>
            </a:r>
          </a:p>
        </p:txBody>
      </p:sp>
    </p:spTree>
    <p:extLst>
      <p:ext uri="{BB962C8B-B14F-4D97-AF65-F5344CB8AC3E}">
        <p14:creationId xmlns:p14="http://schemas.microsoft.com/office/powerpoint/2010/main" val="41859984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65C04-3F84-0C35-C5D2-9946050738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57F47-4A10-4075-CE40-808AA70E7930}"/>
              </a:ext>
            </a:extLst>
          </p:cNvPr>
          <p:cNvSpPr>
            <a:spLocks noGrp="1"/>
          </p:cNvSpPr>
          <p:nvPr>
            <p:ph type="title"/>
          </p:nvPr>
        </p:nvSpPr>
        <p:spPr/>
        <p:txBody>
          <a:bodyPr/>
          <a:lstStyle/>
          <a:p>
            <a:r>
              <a:rPr lang="en-US" dirty="0"/>
              <a:t>KC6.3 Database Execution</a:t>
            </a:r>
          </a:p>
        </p:txBody>
      </p:sp>
      <p:sp>
        <p:nvSpPr>
          <p:cNvPr id="5" name="Content Placeholder 4">
            <a:extLst>
              <a:ext uri="{FF2B5EF4-FFF2-40B4-BE49-F238E27FC236}">
                <a16:creationId xmlns:a16="http://schemas.microsoft.com/office/drawing/2014/main" id="{1570FA83-E11D-ED09-7518-A4F8D87AA567}"/>
              </a:ext>
            </a:extLst>
          </p:cNvPr>
          <p:cNvSpPr>
            <a:spLocks noGrp="1"/>
          </p:cNvSpPr>
          <p:nvPr>
            <p:ph idx="1"/>
          </p:nvPr>
        </p:nvSpPr>
        <p:spPr>
          <a:xfrm>
            <a:off x="838200" y="1825625"/>
            <a:ext cx="10906496" cy="4351338"/>
          </a:xfrm>
        </p:spPr>
        <p:txBody>
          <a:bodyPr>
            <a:normAutofit fontScale="55000" lnSpcReduction="20000"/>
          </a:bodyPr>
          <a:lstStyle/>
          <a:p>
            <a:pPr marL="0" indent="0">
              <a:buNone/>
            </a:pPr>
            <a:r>
              <a:rPr lang="en-US" dirty="0"/>
              <a:t>Core Threats: SQL injection (T2), Unauthorized data exposure/modification (T3), RAG data poisoning/sensitive data retrieval (T1, T5, T3)</a:t>
            </a:r>
          </a:p>
          <a:p>
            <a:pPr marL="0" indent="0">
              <a:buNone/>
            </a:pPr>
            <a:endParaRPr lang="en-US" dirty="0"/>
          </a:p>
          <a:p>
            <a:pPr marL="0" indent="0">
              <a:buNone/>
            </a:pPr>
            <a:r>
              <a:rPr lang="en-US" dirty="0"/>
              <a:t>Controls </a:t>
            </a:r>
          </a:p>
          <a:p>
            <a:pPr marL="514350" indent="-514350">
              <a:buFont typeface="+mj-lt"/>
              <a:buAutoNum type="arabicPeriod"/>
            </a:pPr>
            <a:r>
              <a:rPr lang="en-US" dirty="0"/>
              <a:t>Use managed vector databases with Access controls </a:t>
            </a:r>
          </a:p>
          <a:p>
            <a:pPr marL="971550" lvl="1" indent="-514350">
              <a:buFont typeface="+mj-lt"/>
              <a:buAutoNum type="arabicPeriod"/>
            </a:pPr>
            <a:r>
              <a:rPr lang="en-US" dirty="0"/>
              <a:t>Restrict data ingest to match the access control capability </a:t>
            </a:r>
          </a:p>
          <a:p>
            <a:pPr marL="971550" lvl="1" indent="-514350">
              <a:buFont typeface="+mj-lt"/>
              <a:buAutoNum type="arabicPeriod"/>
            </a:pPr>
            <a:r>
              <a:rPr lang="en-US" dirty="0"/>
              <a:t>Apply data classification labels to enforce use privilege </a:t>
            </a:r>
          </a:p>
          <a:p>
            <a:pPr marL="514350" indent="-514350">
              <a:buFont typeface="+mj-lt"/>
              <a:buAutoNum type="arabicPeriod"/>
            </a:pPr>
            <a:r>
              <a:rPr lang="en-US" dirty="0"/>
              <a:t>Implement query safety measures </a:t>
            </a:r>
          </a:p>
          <a:p>
            <a:pPr marL="971550" lvl="1" indent="-514350">
              <a:buFont typeface="+mj-lt"/>
              <a:buAutoNum type="arabicPeriod"/>
            </a:pPr>
            <a:r>
              <a:rPr lang="en-US" dirty="0"/>
              <a:t>Use parameterized or template queries/ORMs exclusively. Never construct SQL using string concatenation.</a:t>
            </a:r>
          </a:p>
          <a:p>
            <a:pPr marL="971550" lvl="1" indent="-514350">
              <a:buFont typeface="+mj-lt"/>
              <a:buAutoNum type="arabicPeriod"/>
            </a:pPr>
            <a:r>
              <a:rPr lang="en-US" dirty="0"/>
              <a:t>Grant database access via least-privilege user accounts</a:t>
            </a:r>
          </a:p>
          <a:p>
            <a:pPr marL="971550" lvl="1" indent="-514350">
              <a:buFont typeface="+mj-lt"/>
              <a:buAutoNum type="arabicPeriod"/>
            </a:pPr>
            <a:r>
              <a:rPr lang="en-US" dirty="0"/>
              <a:t>Filter/block dangerous SQL keywords (e.g., DROP, TRUNCATE) </a:t>
            </a:r>
          </a:p>
          <a:p>
            <a:pPr marL="971550" lvl="1" indent="-514350">
              <a:buFont typeface="+mj-lt"/>
              <a:buAutoNum type="arabicPeriod"/>
            </a:pPr>
            <a:r>
              <a:rPr lang="en-US" dirty="0"/>
              <a:t>Validate all user inputs influencing queries - if possible, derive from controlled channels only vs context window.</a:t>
            </a:r>
          </a:p>
          <a:p>
            <a:pPr marL="514350" indent="-514350">
              <a:buFont typeface="+mj-lt"/>
              <a:buAutoNum type="arabicPeriod"/>
            </a:pPr>
            <a:r>
              <a:rPr lang="en-US" dirty="0"/>
              <a:t>RAG specific controls </a:t>
            </a:r>
          </a:p>
          <a:p>
            <a:pPr marL="971550" lvl="1" indent="-514350">
              <a:buFont typeface="+mj-lt"/>
              <a:buAutoNum type="arabicPeriod"/>
            </a:pPr>
            <a:r>
              <a:rPr lang="en-US" dirty="0"/>
              <a:t>Check for post retrieval check for PII before agent use</a:t>
            </a:r>
          </a:p>
          <a:p>
            <a:pPr marL="971550" lvl="1" indent="-514350">
              <a:buFont typeface="+mj-lt"/>
              <a:buAutoNum type="arabicPeriod"/>
            </a:pPr>
            <a:r>
              <a:rPr lang="en-US" dirty="0"/>
              <a:t>Apply content verification before embedding into vector stores</a:t>
            </a:r>
          </a:p>
          <a:p>
            <a:pPr marL="971550" lvl="1" indent="-514350">
              <a:buFont typeface="+mj-lt"/>
              <a:buAutoNum type="arabicPeriod"/>
            </a:pPr>
            <a:r>
              <a:rPr lang="en-US" dirty="0"/>
              <a:t>Rate limit retrieval operations</a:t>
            </a:r>
          </a:p>
          <a:p>
            <a:pPr marL="514350" indent="-514350">
              <a:buFont typeface="+mj-lt"/>
              <a:buAutoNum type="arabicPeriod"/>
            </a:pPr>
            <a:r>
              <a:rPr lang="en-US" dirty="0"/>
              <a:t>Limitation(excessive retrieval)</a:t>
            </a:r>
          </a:p>
        </p:txBody>
      </p:sp>
    </p:spTree>
    <p:extLst>
      <p:ext uri="{BB962C8B-B14F-4D97-AF65-F5344CB8AC3E}">
        <p14:creationId xmlns:p14="http://schemas.microsoft.com/office/powerpoint/2010/main" val="35833404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BE670-1680-D61D-7158-75E461894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A0A1F-A685-0D1C-FB0E-88EEBC4BB12A}"/>
              </a:ext>
            </a:extLst>
          </p:cNvPr>
          <p:cNvSpPr>
            <a:spLocks noGrp="1"/>
          </p:cNvSpPr>
          <p:nvPr>
            <p:ph type="title"/>
          </p:nvPr>
        </p:nvSpPr>
        <p:spPr/>
        <p:txBody>
          <a:bodyPr/>
          <a:lstStyle/>
          <a:p>
            <a:r>
              <a:rPr lang="en-US" dirty="0"/>
              <a:t>KC6.4 Web Use</a:t>
            </a:r>
          </a:p>
        </p:txBody>
      </p:sp>
      <p:sp>
        <p:nvSpPr>
          <p:cNvPr id="5" name="Content Placeholder 4">
            <a:extLst>
              <a:ext uri="{FF2B5EF4-FFF2-40B4-BE49-F238E27FC236}">
                <a16:creationId xmlns:a16="http://schemas.microsoft.com/office/drawing/2014/main" id="{1580AA12-96EE-1712-0FB8-C8A92EF599F6}"/>
              </a:ext>
            </a:extLst>
          </p:cNvPr>
          <p:cNvSpPr>
            <a:spLocks noGrp="1"/>
          </p:cNvSpPr>
          <p:nvPr>
            <p:ph idx="1"/>
          </p:nvPr>
        </p:nvSpPr>
        <p:spPr>
          <a:xfrm>
            <a:off x="838200" y="1825625"/>
            <a:ext cx="10906496" cy="4351338"/>
          </a:xfrm>
        </p:spPr>
        <p:txBody>
          <a:bodyPr>
            <a:normAutofit fontScale="47500" lnSpcReduction="20000"/>
          </a:bodyPr>
          <a:lstStyle/>
          <a:p>
            <a:pPr marL="0" indent="0">
              <a:buNone/>
            </a:pPr>
            <a:r>
              <a:rPr lang="en-US" dirty="0"/>
              <a:t>Core Threats: Malicious web content (XSS, exploits) (T11), Leakage of confidential information (T6), Phishing/deception (T7), Server-Side Request Forgery (SSRF) (T2, T3), Access to user's browser data - Sensitive Data Exposure (T3)</a:t>
            </a:r>
          </a:p>
          <a:p>
            <a:pPr marL="0" indent="0">
              <a:buNone/>
            </a:pPr>
            <a:endParaRPr lang="en-US" dirty="0"/>
          </a:p>
          <a:p>
            <a:pPr marL="0" indent="0">
              <a:buNone/>
            </a:pPr>
            <a:r>
              <a:rPr lang="en-US" dirty="0"/>
              <a:t>Controls</a:t>
            </a:r>
          </a:p>
          <a:p>
            <a:pPr marL="514350" indent="-514350">
              <a:buFont typeface="+mj-lt"/>
              <a:buAutoNum type="arabicPeriod"/>
            </a:pPr>
            <a:r>
              <a:rPr lang="en-US" dirty="0"/>
              <a:t>Sandbox Browser Components </a:t>
            </a:r>
          </a:p>
          <a:p>
            <a:pPr marL="971550" lvl="1" indent="-514350">
              <a:buFont typeface="+mj-lt"/>
              <a:buAutoNum type="arabicPeriod"/>
            </a:pPr>
            <a:r>
              <a:rPr lang="en-US" dirty="0"/>
              <a:t>Run in tightly controlled environments </a:t>
            </a:r>
          </a:p>
          <a:p>
            <a:pPr marL="971550" lvl="1" indent="-514350">
              <a:buFont typeface="+mj-lt"/>
              <a:buAutoNum type="arabicPeriod"/>
            </a:pPr>
            <a:r>
              <a:rPr lang="en-US" dirty="0"/>
              <a:t>Avoid using extensions or operating directly in the user’s browser </a:t>
            </a:r>
          </a:p>
          <a:p>
            <a:pPr marL="514350" indent="-514350">
              <a:buFont typeface="+mj-lt"/>
              <a:buAutoNum type="arabicPeriod"/>
            </a:pPr>
            <a:r>
              <a:rPr lang="en-US" dirty="0"/>
              <a:t>Implement URL security </a:t>
            </a:r>
          </a:p>
          <a:p>
            <a:pPr marL="971550" lvl="1" indent="-514350">
              <a:buFont typeface="+mj-lt"/>
              <a:buAutoNum type="arabicPeriod"/>
            </a:pPr>
            <a:r>
              <a:rPr lang="en-US" dirty="0" err="1"/>
              <a:t>Url</a:t>
            </a:r>
            <a:r>
              <a:rPr lang="en-US" dirty="0"/>
              <a:t> filtering with allow lists </a:t>
            </a:r>
          </a:p>
          <a:p>
            <a:pPr marL="971550" lvl="1" indent="-514350">
              <a:buFont typeface="+mj-lt"/>
              <a:buAutoNum type="arabicPeriod"/>
            </a:pPr>
            <a:r>
              <a:rPr lang="en-US" dirty="0"/>
              <a:t>Leverage secure web gateway or Data loss Prevention </a:t>
            </a:r>
          </a:p>
          <a:p>
            <a:pPr marL="971550" lvl="1" indent="-514350">
              <a:buFont typeface="+mj-lt"/>
              <a:buAutoNum type="arabicPeriod"/>
            </a:pPr>
            <a:r>
              <a:rPr lang="en-US" dirty="0"/>
              <a:t>Perform reputation check on target domains</a:t>
            </a:r>
          </a:p>
          <a:p>
            <a:pPr marL="971550" lvl="1" indent="-514350">
              <a:buFont typeface="+mj-lt"/>
              <a:buAutoNum type="arabicPeriod"/>
            </a:pPr>
            <a:r>
              <a:rPr lang="en-US" dirty="0"/>
              <a:t>Enforce proper TLS verification</a:t>
            </a:r>
          </a:p>
          <a:p>
            <a:pPr marL="971550" lvl="1" indent="-514350">
              <a:buFont typeface="+mj-lt"/>
              <a:buAutoNum type="arabicPeriod"/>
            </a:pPr>
            <a:r>
              <a:rPr lang="en-US" dirty="0"/>
              <a:t>Detects and blocks open redirects or excessive redirection chains. Further, use DNS-based filtering in addition to HTTP-level filtering.</a:t>
            </a:r>
          </a:p>
          <a:p>
            <a:pPr marL="514350" indent="-514350">
              <a:buFont typeface="+mj-lt"/>
              <a:buAutoNum type="arabicPeriod"/>
            </a:pPr>
            <a:r>
              <a:rPr lang="en-US" dirty="0"/>
              <a:t>Apply Protective Measures</a:t>
            </a:r>
          </a:p>
          <a:p>
            <a:pPr marL="971550" lvl="1" indent="-514350">
              <a:buFont typeface="+mj-lt"/>
              <a:buAutoNum type="arabicPeriod"/>
            </a:pPr>
            <a:r>
              <a:rPr lang="en-US" dirty="0"/>
              <a:t>Use network segmentation to prevent access to internal systems (mitigating SSRF)</a:t>
            </a:r>
          </a:p>
          <a:p>
            <a:pPr marL="971550" lvl="1" indent="-514350">
              <a:buFont typeface="+mj-lt"/>
              <a:buAutoNum type="arabicPeriod"/>
            </a:pPr>
            <a:r>
              <a:rPr lang="en-US" dirty="0"/>
              <a:t>Throttle web access rate</a:t>
            </a:r>
          </a:p>
          <a:p>
            <a:pPr marL="971550" lvl="1" indent="-514350">
              <a:buFont typeface="+mj-lt"/>
              <a:buAutoNum type="arabicPeriod"/>
            </a:pPr>
            <a:r>
              <a:rPr lang="en-US" dirty="0"/>
              <a:t>Restrict downloadable file types </a:t>
            </a:r>
          </a:p>
          <a:p>
            <a:pPr marL="971550" lvl="1" indent="-514350">
              <a:buFont typeface="+mj-lt"/>
              <a:buAutoNum type="arabicPeriod"/>
            </a:pPr>
            <a:r>
              <a:rPr lang="en-US" dirty="0"/>
              <a:t>Inspect embedded/linked content (e.g., </a:t>
            </a:r>
            <a:r>
              <a:rPr lang="en-US" dirty="0" err="1"/>
              <a:t>iframes</a:t>
            </a:r>
            <a:r>
              <a:rPr lang="en-US" dirty="0"/>
              <a:t>, JS-injected sources)</a:t>
            </a:r>
          </a:p>
          <a:p>
            <a:pPr marL="514350" indent="-514350">
              <a:buFont typeface="+mj-lt"/>
              <a:buAutoNum type="arabicPeriod"/>
            </a:pPr>
            <a:r>
              <a:rPr lang="en-US" dirty="0"/>
              <a:t>Logging and monitoring </a:t>
            </a:r>
          </a:p>
          <a:p>
            <a:pPr marL="971550" lvl="1" indent="-514350">
              <a:buFont typeface="+mj-lt"/>
              <a:buAutoNum type="arabicPeriod"/>
            </a:pPr>
            <a:r>
              <a:rPr lang="en-US" dirty="0"/>
              <a:t>Log all URL accesses and HTTP responses </a:t>
            </a:r>
          </a:p>
        </p:txBody>
      </p:sp>
    </p:spTree>
    <p:extLst>
      <p:ext uri="{BB962C8B-B14F-4D97-AF65-F5344CB8AC3E}">
        <p14:creationId xmlns:p14="http://schemas.microsoft.com/office/powerpoint/2010/main" val="11013729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1FCCF-0339-44C1-C4B4-DFA3EE675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BB768-2085-C535-4299-A89598A6DAA5}"/>
              </a:ext>
            </a:extLst>
          </p:cNvPr>
          <p:cNvSpPr>
            <a:spLocks noGrp="1"/>
          </p:cNvSpPr>
          <p:nvPr>
            <p:ph type="title"/>
          </p:nvPr>
        </p:nvSpPr>
        <p:spPr/>
        <p:txBody>
          <a:bodyPr/>
          <a:lstStyle/>
          <a:p>
            <a:r>
              <a:rPr lang="en-US" dirty="0"/>
              <a:t>KC6.5 Controlling PC Operations (Filesystem, OS commands)</a:t>
            </a:r>
          </a:p>
        </p:txBody>
      </p:sp>
      <p:sp>
        <p:nvSpPr>
          <p:cNvPr id="5" name="Content Placeholder 4">
            <a:extLst>
              <a:ext uri="{FF2B5EF4-FFF2-40B4-BE49-F238E27FC236}">
                <a16:creationId xmlns:a16="http://schemas.microsoft.com/office/drawing/2014/main" id="{A4544258-063D-B729-569C-EA066C8C9103}"/>
              </a:ext>
            </a:extLst>
          </p:cNvPr>
          <p:cNvSpPr>
            <a:spLocks noGrp="1"/>
          </p:cNvSpPr>
          <p:nvPr>
            <p:ph idx="1"/>
          </p:nvPr>
        </p:nvSpPr>
        <p:spPr>
          <a:xfrm>
            <a:off x="838200" y="1825625"/>
            <a:ext cx="10906496" cy="4351338"/>
          </a:xfrm>
        </p:spPr>
        <p:txBody>
          <a:bodyPr>
            <a:normAutofit fontScale="70000" lnSpcReduction="20000"/>
          </a:bodyPr>
          <a:lstStyle/>
          <a:p>
            <a:pPr marL="0" indent="0">
              <a:buNone/>
            </a:pPr>
            <a:r>
              <a:rPr lang="en-US" dirty="0"/>
              <a:t>Core Threats: Unauthorized file access/modification (T3), Arbitrary OS command execution (T11, T3, T2), Lateral movement (T3)</a:t>
            </a:r>
          </a:p>
          <a:p>
            <a:pPr marL="0" indent="0">
              <a:buNone/>
            </a:pPr>
            <a:r>
              <a:rPr lang="en-US" dirty="0"/>
              <a:t>Controls</a:t>
            </a:r>
          </a:p>
          <a:p>
            <a:pPr marL="514350" indent="-514350">
              <a:buFont typeface="+mj-lt"/>
              <a:buAutoNum type="arabicPeriod"/>
            </a:pPr>
            <a:r>
              <a:rPr lang="en-US" dirty="0"/>
              <a:t>Apply strict isolation </a:t>
            </a:r>
          </a:p>
          <a:p>
            <a:pPr marL="971550" lvl="1" indent="-514350">
              <a:buFont typeface="+mj-lt"/>
              <a:buAutoNum type="arabicPeriod"/>
            </a:pPr>
            <a:r>
              <a:rPr lang="en-US" dirty="0"/>
              <a:t>OS level sandboxing </a:t>
            </a:r>
          </a:p>
          <a:p>
            <a:pPr marL="971550" lvl="1" indent="-514350">
              <a:buFont typeface="+mj-lt"/>
              <a:buAutoNum type="arabicPeriod"/>
            </a:pPr>
            <a:r>
              <a:rPr lang="en-US" dirty="0"/>
              <a:t>Consider dedicated containers or VMs for isolation</a:t>
            </a:r>
          </a:p>
          <a:p>
            <a:pPr marL="971550" lvl="1" indent="-514350">
              <a:buFont typeface="+mj-lt"/>
              <a:buAutoNum type="arabicPeriod"/>
            </a:pPr>
            <a:r>
              <a:rPr lang="en-US" dirty="0"/>
              <a:t>Run agents as restricted users with minimal privileges</a:t>
            </a:r>
          </a:p>
          <a:p>
            <a:pPr marL="514350" indent="-514350">
              <a:buFont typeface="+mj-lt"/>
              <a:buAutoNum type="arabicPeriod"/>
            </a:pPr>
            <a:r>
              <a:rPr lang="en-US" dirty="0"/>
              <a:t>Implement access controls </a:t>
            </a:r>
          </a:p>
          <a:p>
            <a:pPr marL="971550" lvl="1" indent="-514350">
              <a:buFont typeface="+mj-lt"/>
              <a:buAutoNum type="arabicPeriod"/>
            </a:pPr>
            <a:r>
              <a:rPr lang="en-US" dirty="0"/>
              <a:t>Define strict allow/deny lists for permitted OS operations and file paths</a:t>
            </a:r>
          </a:p>
          <a:p>
            <a:pPr marL="971550" lvl="1" indent="-514350">
              <a:buFont typeface="+mj-lt"/>
              <a:buAutoNum type="arabicPeriod"/>
            </a:pPr>
            <a:r>
              <a:rPr lang="en-US" dirty="0"/>
              <a:t>Use virtual filesystem interfaces where appropriate</a:t>
            </a:r>
          </a:p>
          <a:p>
            <a:pPr marL="514350" indent="-514350">
              <a:buFont typeface="+mj-lt"/>
              <a:buAutoNum type="arabicPeriod"/>
            </a:pPr>
            <a:r>
              <a:rPr lang="en-US" dirty="0"/>
              <a:t>Limit accumulation of sensitive data</a:t>
            </a:r>
          </a:p>
          <a:p>
            <a:pPr marL="514350" indent="-514350">
              <a:buFont typeface="+mj-lt"/>
              <a:buAutoNum type="arabicPeriod"/>
            </a:pPr>
            <a:r>
              <a:rPr lang="en-US" dirty="0"/>
              <a:t>Enhance Monitoring and Oversight </a:t>
            </a:r>
          </a:p>
          <a:p>
            <a:pPr marL="971550" lvl="1" indent="-514350">
              <a:buFont typeface="+mj-lt"/>
              <a:buAutoNum type="arabicPeriod"/>
            </a:pPr>
            <a:r>
              <a:rPr lang="en-US" dirty="0"/>
              <a:t>Log all OS-level actions performed by the agent </a:t>
            </a:r>
          </a:p>
          <a:p>
            <a:pPr marL="971550" lvl="1" indent="-514350">
              <a:buFont typeface="+mj-lt"/>
              <a:buAutoNum type="arabicPeriod"/>
            </a:pPr>
            <a:r>
              <a:rPr lang="en-US" dirty="0"/>
              <a:t>Consider HITL approval for critical operations </a:t>
            </a:r>
          </a:p>
          <a:p>
            <a:pPr marL="971550" lvl="1" indent="-514350">
              <a:buFont typeface="+mj-lt"/>
              <a:buAutoNum type="arabicPeriod"/>
            </a:pPr>
            <a:r>
              <a:rPr lang="en-US" dirty="0"/>
              <a:t>Command validation before execution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6680125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E5E04-5A9E-23BF-968D-2C167116C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30AF2-3394-B7E8-CAA5-EA6FDF090598}"/>
              </a:ext>
            </a:extLst>
          </p:cNvPr>
          <p:cNvSpPr>
            <a:spLocks noGrp="1"/>
          </p:cNvSpPr>
          <p:nvPr>
            <p:ph type="title"/>
          </p:nvPr>
        </p:nvSpPr>
        <p:spPr/>
        <p:txBody>
          <a:bodyPr/>
          <a:lstStyle/>
          <a:p>
            <a:r>
              <a:rPr lang="en-US" dirty="0"/>
              <a:t>KC6.6 Operating Critical Systems </a:t>
            </a:r>
          </a:p>
        </p:txBody>
      </p:sp>
      <p:sp>
        <p:nvSpPr>
          <p:cNvPr id="5" name="Content Placeholder 4">
            <a:extLst>
              <a:ext uri="{FF2B5EF4-FFF2-40B4-BE49-F238E27FC236}">
                <a16:creationId xmlns:a16="http://schemas.microsoft.com/office/drawing/2014/main" id="{C4A20342-0883-D0AA-6CA8-82CAE3E21ACD}"/>
              </a:ext>
            </a:extLst>
          </p:cNvPr>
          <p:cNvSpPr>
            <a:spLocks noGrp="1"/>
          </p:cNvSpPr>
          <p:nvPr>
            <p:ph idx="1"/>
          </p:nvPr>
        </p:nvSpPr>
        <p:spPr>
          <a:xfrm>
            <a:off x="838200" y="1825625"/>
            <a:ext cx="10906496" cy="4351338"/>
          </a:xfrm>
        </p:spPr>
        <p:txBody>
          <a:bodyPr>
            <a:normAutofit fontScale="77500" lnSpcReduction="20000"/>
          </a:bodyPr>
          <a:lstStyle/>
          <a:p>
            <a:pPr marL="0" indent="0">
              <a:buNone/>
            </a:pPr>
            <a:r>
              <a:rPr lang="en-US" dirty="0"/>
              <a:t>Core Threats: Catastrophic physical outcomes (T2, T3, T6, T7), Malicious control injection (T2, T6), False data influencing decisions (T1, T5)</a:t>
            </a:r>
          </a:p>
          <a:p>
            <a:pPr marL="0" indent="0">
              <a:buNone/>
            </a:pPr>
            <a:endParaRPr lang="en-US" dirty="0"/>
          </a:p>
          <a:p>
            <a:pPr marL="0" indent="0">
              <a:buNone/>
            </a:pPr>
            <a:r>
              <a:rPr lang="en-US" dirty="0"/>
              <a:t>Controls:</a:t>
            </a:r>
          </a:p>
          <a:p>
            <a:pPr marL="514350" indent="-514350">
              <a:buFont typeface="+mj-lt"/>
              <a:buAutoNum type="arabicPeriod"/>
            </a:pPr>
            <a:r>
              <a:rPr lang="en-US" dirty="0"/>
              <a:t>Apply max isolation</a:t>
            </a:r>
          </a:p>
          <a:p>
            <a:pPr marL="971550" lvl="1" indent="-514350">
              <a:buFont typeface="+mj-lt"/>
              <a:buAutoNum type="arabicPeriod"/>
            </a:pPr>
            <a:r>
              <a:rPr lang="en-US" dirty="0"/>
              <a:t>Use air gapped or highly segmented networks</a:t>
            </a:r>
          </a:p>
          <a:p>
            <a:pPr marL="971550" lvl="1" indent="-514350">
              <a:buFont typeface="+mj-lt"/>
              <a:buAutoNum type="arabicPeriod"/>
            </a:pPr>
            <a:r>
              <a:rPr lang="en-US" dirty="0"/>
              <a:t>Implement physical security measures </a:t>
            </a:r>
          </a:p>
          <a:p>
            <a:pPr marL="514350" indent="-514350">
              <a:buFont typeface="+mj-lt"/>
              <a:buAutoNum type="arabicPeriod"/>
            </a:pPr>
            <a:r>
              <a:rPr lang="en-US" dirty="0"/>
              <a:t>Enforce MFA</a:t>
            </a:r>
          </a:p>
          <a:p>
            <a:pPr marL="971550" lvl="1" indent="-514350">
              <a:buFont typeface="+mj-lt"/>
              <a:buAutoNum type="arabicPeriod"/>
            </a:pPr>
            <a:r>
              <a:rPr lang="en-US" dirty="0"/>
              <a:t>Do not use agent to mediate MFA flow or retain privileged session</a:t>
            </a:r>
          </a:p>
          <a:p>
            <a:pPr marL="971550" lvl="1" indent="-514350">
              <a:buFont typeface="+mj-lt"/>
              <a:buAutoNum type="arabicPeriod"/>
            </a:pPr>
            <a:r>
              <a:rPr lang="en-US" dirty="0"/>
              <a:t>Implement mandatory HITL for every critical action, succinct and engaging enough to retain the user’s attention each time</a:t>
            </a:r>
          </a:p>
          <a:p>
            <a:pPr marL="514350" indent="-514350">
              <a:buFont typeface="+mj-lt"/>
              <a:buAutoNum type="arabicPeriod"/>
            </a:pPr>
            <a:r>
              <a:rPr lang="en-US" dirty="0"/>
              <a:t>Implement Safety Mechanism</a:t>
            </a:r>
          </a:p>
          <a:p>
            <a:pPr marL="971550" lvl="1" indent="-514350">
              <a:buFont typeface="+mj-lt"/>
              <a:buAutoNum type="arabicPeriod"/>
            </a:pPr>
            <a:r>
              <a:rPr lang="en-US" dirty="0"/>
              <a:t>Default agent permissions to read only monitoring </a:t>
            </a:r>
          </a:p>
          <a:p>
            <a:pPr marL="971550" lvl="1" indent="-514350">
              <a:buFont typeface="+mj-lt"/>
              <a:buAutoNum type="arabicPeriod"/>
            </a:pPr>
            <a:r>
              <a:rPr lang="en-US" dirty="0"/>
              <a:t>Ensure physical Interlocks and emergency overrides exist</a:t>
            </a:r>
          </a:p>
        </p:txBody>
      </p:sp>
    </p:spTree>
    <p:extLst>
      <p:ext uri="{BB962C8B-B14F-4D97-AF65-F5344CB8AC3E}">
        <p14:creationId xmlns:p14="http://schemas.microsoft.com/office/powerpoint/2010/main" val="9984404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621D5-CB23-8C3D-2CF7-33473C0D3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EAB49-DF31-D5E6-C4D2-00CCE16F27DF}"/>
              </a:ext>
            </a:extLst>
          </p:cNvPr>
          <p:cNvSpPr>
            <a:spLocks noGrp="1"/>
          </p:cNvSpPr>
          <p:nvPr>
            <p:ph type="ctrTitle"/>
          </p:nvPr>
        </p:nvSpPr>
        <p:spPr/>
        <p:txBody>
          <a:bodyPr/>
          <a:lstStyle/>
          <a:p>
            <a:r>
              <a:rPr lang="en-US" dirty="0"/>
              <a:t>Agentic AI and the Supply Chain</a:t>
            </a:r>
          </a:p>
        </p:txBody>
      </p:sp>
      <p:sp>
        <p:nvSpPr>
          <p:cNvPr id="3" name="Subtitle 2">
            <a:extLst>
              <a:ext uri="{FF2B5EF4-FFF2-40B4-BE49-F238E27FC236}">
                <a16:creationId xmlns:a16="http://schemas.microsoft.com/office/drawing/2014/main" id="{CFB1E8B6-67BE-1C66-96AF-B5CB9C9D9FE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8481937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30836-0B83-31F3-9EEE-07C2120C307B}"/>
              </a:ext>
            </a:extLst>
          </p:cNvPr>
          <p:cNvSpPr>
            <a:spLocks noGrp="1"/>
          </p:cNvSpPr>
          <p:nvPr>
            <p:ph type="title"/>
          </p:nvPr>
        </p:nvSpPr>
        <p:spPr/>
        <p:txBody>
          <a:bodyPr/>
          <a:lstStyle/>
          <a:p>
            <a:r>
              <a:rPr lang="en-US" dirty="0"/>
              <a:t>Code Security</a:t>
            </a:r>
          </a:p>
        </p:txBody>
      </p:sp>
      <p:sp>
        <p:nvSpPr>
          <p:cNvPr id="3" name="Content Placeholder 2">
            <a:extLst>
              <a:ext uri="{FF2B5EF4-FFF2-40B4-BE49-F238E27FC236}">
                <a16:creationId xmlns:a16="http://schemas.microsoft.com/office/drawing/2014/main" id="{1090CBAB-45E4-8BE8-035D-502D31744EB4}"/>
              </a:ext>
            </a:extLst>
          </p:cNvPr>
          <p:cNvSpPr>
            <a:spLocks noGrp="1"/>
          </p:cNvSpPr>
          <p:nvPr>
            <p:ph idx="1"/>
          </p:nvPr>
        </p:nvSpPr>
        <p:spPr/>
        <p:txBody>
          <a:bodyPr/>
          <a:lstStyle/>
          <a:p>
            <a:pPr marL="0" indent="0">
              <a:buNone/>
            </a:pPr>
            <a:r>
              <a:rPr lang="en-US" dirty="0"/>
              <a:t>Third party libraries and frameworks  needs to be secured using supply chain best practices, SCA scanning, Hashes and package locks for 3</a:t>
            </a:r>
            <a:r>
              <a:rPr lang="en-US" baseline="30000" dirty="0"/>
              <a:t>rd</a:t>
            </a:r>
            <a:r>
              <a:rPr lang="en-US" dirty="0"/>
              <a:t> party versioning, SBOMs</a:t>
            </a:r>
          </a:p>
          <a:p>
            <a:pPr marL="0" indent="0">
              <a:buNone/>
            </a:pPr>
            <a:endParaRPr lang="en-US" dirty="0"/>
          </a:p>
          <a:p>
            <a:pPr marL="0" indent="0">
              <a:buNone/>
            </a:pPr>
            <a:r>
              <a:rPr lang="en-US" dirty="0"/>
              <a:t>LLM/Agent – Generated code </a:t>
            </a:r>
          </a:p>
          <a:p>
            <a:r>
              <a:rPr lang="en-US" dirty="0"/>
              <a:t>Utilize sandboxing for any agent-generated/run code </a:t>
            </a:r>
          </a:p>
          <a:p>
            <a:r>
              <a:rPr lang="en-US" dirty="0"/>
              <a:t>Validate packages before running generated code </a:t>
            </a:r>
          </a:p>
          <a:p>
            <a:r>
              <a:rPr lang="en-US" dirty="0"/>
              <a:t>HITL for high risk code execution operations </a:t>
            </a:r>
          </a:p>
          <a:p>
            <a:endParaRPr lang="en-US" dirty="0"/>
          </a:p>
        </p:txBody>
      </p:sp>
    </p:spTree>
    <p:extLst>
      <p:ext uri="{BB962C8B-B14F-4D97-AF65-F5344CB8AC3E}">
        <p14:creationId xmlns:p14="http://schemas.microsoft.com/office/powerpoint/2010/main" val="18538518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51EE-6E44-86D2-4291-8D2ADF58C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C874E-3635-9755-E1CC-699B403AB7ED}"/>
              </a:ext>
            </a:extLst>
          </p:cNvPr>
          <p:cNvSpPr>
            <a:spLocks noGrp="1"/>
          </p:cNvSpPr>
          <p:nvPr>
            <p:ph type="title"/>
          </p:nvPr>
        </p:nvSpPr>
        <p:spPr/>
        <p:txBody>
          <a:bodyPr/>
          <a:lstStyle/>
          <a:p>
            <a:r>
              <a:rPr lang="en-US" dirty="0"/>
              <a:t>Environments and Development</a:t>
            </a:r>
          </a:p>
        </p:txBody>
      </p:sp>
      <p:sp>
        <p:nvSpPr>
          <p:cNvPr id="3" name="Content Placeholder 2">
            <a:extLst>
              <a:ext uri="{FF2B5EF4-FFF2-40B4-BE49-F238E27FC236}">
                <a16:creationId xmlns:a16="http://schemas.microsoft.com/office/drawing/2014/main" id="{D7604E43-19A2-B467-9932-9560922D1BDC}"/>
              </a:ext>
            </a:extLst>
          </p:cNvPr>
          <p:cNvSpPr>
            <a:spLocks noGrp="1"/>
          </p:cNvSpPr>
          <p:nvPr>
            <p:ph idx="1"/>
          </p:nvPr>
        </p:nvSpPr>
        <p:spPr/>
        <p:txBody>
          <a:bodyPr>
            <a:normAutofit fontScale="77500" lnSpcReduction="20000"/>
          </a:bodyPr>
          <a:lstStyle/>
          <a:p>
            <a:pPr marL="0" indent="0">
              <a:buNone/>
            </a:pPr>
            <a:r>
              <a:rPr lang="en-US" dirty="0"/>
              <a:t>LLM/Login System </a:t>
            </a:r>
          </a:p>
          <a:p>
            <a:r>
              <a:rPr lang="en-US" dirty="0"/>
              <a:t>Ensure provenance of LLMs in public registry by verifying hashes and contributors </a:t>
            </a:r>
          </a:p>
          <a:p>
            <a:r>
              <a:rPr lang="en-US" dirty="0"/>
              <a:t>Use LLM and SCA scanners to scan for both third-party package vulnerabilities and security issues within LLM code</a:t>
            </a:r>
          </a:p>
          <a:p>
            <a:pPr marL="0" indent="0">
              <a:buNone/>
            </a:pPr>
            <a:endParaRPr lang="en-US" dirty="0"/>
          </a:p>
          <a:p>
            <a:pPr marL="0" indent="0">
              <a:buNone/>
            </a:pPr>
            <a:r>
              <a:rPr lang="en-US" dirty="0"/>
              <a:t>Version Control and Code Management </a:t>
            </a:r>
          </a:p>
          <a:p>
            <a:r>
              <a:rPr lang="en-US" dirty="0"/>
              <a:t>Utilize version control with LLMs and logic systems to track behavior </a:t>
            </a:r>
          </a:p>
          <a:p>
            <a:r>
              <a:rPr lang="en-US" dirty="0"/>
              <a:t>Version control prompts and instructions to increase reliability and auditability </a:t>
            </a:r>
          </a:p>
          <a:p>
            <a:r>
              <a:rPr lang="en-US" dirty="0"/>
              <a:t>User commit IDs and hashes for data changes </a:t>
            </a:r>
          </a:p>
          <a:p>
            <a:pPr marL="0" indent="0">
              <a:buNone/>
            </a:pPr>
            <a:endParaRPr lang="en-US" dirty="0"/>
          </a:p>
          <a:p>
            <a:pPr marL="0" indent="0">
              <a:buNone/>
            </a:pPr>
            <a:r>
              <a:rPr lang="en-US" dirty="0"/>
              <a:t>Permission Management </a:t>
            </a:r>
          </a:p>
          <a:p>
            <a:r>
              <a:rPr lang="en-US" dirty="0"/>
              <a:t>Don’t give agents access to the repositories/data sources that build/deploy them </a:t>
            </a:r>
          </a:p>
          <a:p>
            <a:endParaRPr lang="en-US" dirty="0"/>
          </a:p>
        </p:txBody>
      </p:sp>
    </p:spTree>
    <p:extLst>
      <p:ext uri="{BB962C8B-B14F-4D97-AF65-F5344CB8AC3E}">
        <p14:creationId xmlns:p14="http://schemas.microsoft.com/office/powerpoint/2010/main" val="8594009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B7AE8-E535-5A43-E1B0-2E8820675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DC5E5-E3A9-6FF0-5AF7-4D8F90BD821E}"/>
              </a:ext>
            </a:extLst>
          </p:cNvPr>
          <p:cNvSpPr>
            <a:spLocks noGrp="1"/>
          </p:cNvSpPr>
          <p:nvPr>
            <p:ph type="title"/>
          </p:nvPr>
        </p:nvSpPr>
        <p:spPr/>
        <p:txBody>
          <a:bodyPr/>
          <a:lstStyle/>
          <a:p>
            <a:r>
              <a:rPr lang="en-US" dirty="0"/>
              <a:t>Agent and Tool Discovery</a:t>
            </a:r>
          </a:p>
        </p:txBody>
      </p:sp>
      <p:sp>
        <p:nvSpPr>
          <p:cNvPr id="3" name="Content Placeholder 2">
            <a:extLst>
              <a:ext uri="{FF2B5EF4-FFF2-40B4-BE49-F238E27FC236}">
                <a16:creationId xmlns:a16="http://schemas.microsoft.com/office/drawing/2014/main" id="{A762577C-9C33-3E84-21EF-0BD0A6978A33}"/>
              </a:ext>
            </a:extLst>
          </p:cNvPr>
          <p:cNvSpPr>
            <a:spLocks noGrp="1"/>
          </p:cNvSpPr>
          <p:nvPr>
            <p:ph idx="1"/>
          </p:nvPr>
        </p:nvSpPr>
        <p:spPr/>
        <p:txBody>
          <a:bodyPr>
            <a:normAutofit fontScale="85000" lnSpcReduction="20000"/>
          </a:bodyPr>
          <a:lstStyle/>
          <a:p>
            <a:pPr marL="0" indent="0">
              <a:buNone/>
            </a:pPr>
            <a:r>
              <a:rPr lang="en-US" b="1" dirty="0"/>
              <a:t>Agent Cards</a:t>
            </a:r>
          </a:p>
          <a:p>
            <a:r>
              <a:rPr lang="en-US" dirty="0"/>
              <a:t>Minimize trust with unvalidated agent systems</a:t>
            </a:r>
          </a:p>
          <a:p>
            <a:r>
              <a:rPr lang="en-US" dirty="0"/>
              <a:t>Employ DIDs for agent verification and authentication </a:t>
            </a:r>
          </a:p>
          <a:p>
            <a:pPr marL="0" indent="0">
              <a:buNone/>
            </a:pPr>
            <a:endParaRPr lang="en-US" dirty="0"/>
          </a:p>
          <a:p>
            <a:pPr marL="0" indent="0">
              <a:buNone/>
            </a:pPr>
            <a:r>
              <a:rPr lang="en-US" b="1" dirty="0"/>
              <a:t>Local Vs Remote Agent Registries</a:t>
            </a:r>
          </a:p>
          <a:p>
            <a:r>
              <a:rPr lang="en-US" dirty="0"/>
              <a:t>Use logical or network barrier between local &amp; remote registries to prevent registry confusion and accidental agent boundary traversal</a:t>
            </a:r>
          </a:p>
          <a:p>
            <a:r>
              <a:rPr lang="en-US" dirty="0"/>
              <a:t>Classify and separate private and public agents, data and actions. </a:t>
            </a:r>
          </a:p>
          <a:p>
            <a:r>
              <a:rPr lang="en-US" dirty="0"/>
              <a:t>Prevent agents from sharing data or performing actions across these boundaries </a:t>
            </a:r>
          </a:p>
          <a:p>
            <a:r>
              <a:rPr lang="en-US" dirty="0"/>
              <a:t>Use trust relationship and controls like certificate pinning to ensure agents only communicate with approved registries and environments</a:t>
            </a:r>
          </a:p>
          <a:p>
            <a:pPr marL="0" indent="0">
              <a:buNone/>
            </a:pPr>
            <a:endParaRPr lang="en-US" dirty="0"/>
          </a:p>
        </p:txBody>
      </p:sp>
    </p:spTree>
    <p:extLst>
      <p:ext uri="{BB962C8B-B14F-4D97-AF65-F5344CB8AC3E}">
        <p14:creationId xmlns:p14="http://schemas.microsoft.com/office/powerpoint/2010/main" val="6452742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FD93-C989-A6AD-1327-39D6AA9641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1DFF4-ECE3-4351-846A-CE86433FD80D}"/>
              </a:ext>
            </a:extLst>
          </p:cNvPr>
          <p:cNvSpPr>
            <a:spLocks noGrp="1"/>
          </p:cNvSpPr>
          <p:nvPr>
            <p:ph type="ctrTitle"/>
          </p:nvPr>
        </p:nvSpPr>
        <p:spPr/>
        <p:txBody>
          <a:bodyPr/>
          <a:lstStyle/>
          <a:p>
            <a:r>
              <a:rPr lang="en-US" dirty="0"/>
              <a:t>Secure Agentic Deployments</a:t>
            </a:r>
          </a:p>
        </p:txBody>
      </p:sp>
      <p:sp>
        <p:nvSpPr>
          <p:cNvPr id="3" name="Subtitle 2">
            <a:extLst>
              <a:ext uri="{FF2B5EF4-FFF2-40B4-BE49-F238E27FC236}">
                <a16:creationId xmlns:a16="http://schemas.microsoft.com/office/drawing/2014/main" id="{D7604658-028A-44EF-A161-D4CFD73542B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943041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1617-B564-7D2F-9BEE-68B36CE92C1B}"/>
              </a:ext>
            </a:extLst>
          </p:cNvPr>
          <p:cNvSpPr>
            <a:spLocks noGrp="1"/>
          </p:cNvSpPr>
          <p:nvPr>
            <p:ph type="title"/>
          </p:nvPr>
        </p:nvSpPr>
        <p:spPr/>
        <p:txBody>
          <a:bodyPr/>
          <a:lstStyle/>
          <a:p>
            <a:r>
              <a:rPr lang="en-US" dirty="0"/>
              <a:t>Principles and Practices</a:t>
            </a:r>
          </a:p>
        </p:txBody>
      </p:sp>
      <p:sp>
        <p:nvSpPr>
          <p:cNvPr id="3" name="Content Placeholder 2">
            <a:extLst>
              <a:ext uri="{FF2B5EF4-FFF2-40B4-BE49-F238E27FC236}">
                <a16:creationId xmlns:a16="http://schemas.microsoft.com/office/drawing/2014/main" id="{694C744F-633D-4D1C-22DF-2EF74E30A8F0}"/>
              </a:ext>
            </a:extLst>
          </p:cNvPr>
          <p:cNvSpPr>
            <a:spLocks noGrp="1"/>
          </p:cNvSpPr>
          <p:nvPr>
            <p:ph idx="1"/>
          </p:nvPr>
        </p:nvSpPr>
        <p:spPr>
          <a:xfrm>
            <a:off x="838200" y="1484416"/>
            <a:ext cx="11084626" cy="5177641"/>
          </a:xfrm>
        </p:spPr>
        <p:txBody>
          <a:bodyPr>
            <a:normAutofit fontScale="62500" lnSpcReduction="20000"/>
          </a:bodyPr>
          <a:lstStyle/>
          <a:p>
            <a:r>
              <a:rPr lang="en-US" dirty="0"/>
              <a:t>Secure pipelines and check for rogue agents: </a:t>
            </a:r>
            <a:r>
              <a:rPr lang="en-US" dirty="0" err="1"/>
              <a:t>Iplementing</a:t>
            </a:r>
            <a:r>
              <a:rPr lang="en-US" dirty="0"/>
              <a:t> rigorous CI/CD with code checks must incorporate automated vulnerability scanning of dependencies, static analysis focusing on potential insecure Agent’s tool usage patterns, and dynamic testing specifically designed to probe for prompt injection vulnerabilities or unintended goal deviation before deployment. Incorporating code signing, provenance tracking for agent versions, and potentially manual security reviews for agents handling high-risk tasks helps ensure that only vetted and approved agent logic reaches production, preventing deliberately malicious or inadvertently vulnerable agents from being deployed. </a:t>
            </a:r>
          </a:p>
          <a:p>
            <a:r>
              <a:rPr lang="en-US" dirty="0"/>
              <a:t>Role containerization or Function as a service (</a:t>
            </a:r>
            <a:r>
              <a:rPr lang="en-US" dirty="0" err="1"/>
              <a:t>FaaS</a:t>
            </a:r>
            <a:r>
              <a:rPr lang="en-US" dirty="0"/>
              <a:t>): To limit the blast radius, all agents should be deployed in isolation. strict resource limits (CPU, memory, network), network segmentation policies, and ephemeral execution contexts – least privilege at the infrastructure level. </a:t>
            </a:r>
          </a:p>
          <a:p>
            <a:r>
              <a:rPr lang="en-US" dirty="0"/>
              <a:t>API access control, Rate-limits and API </a:t>
            </a:r>
            <a:r>
              <a:rPr lang="en-US" dirty="0" err="1"/>
              <a:t>gateways:An</a:t>
            </a:r>
            <a:r>
              <a:rPr lang="en-US" dirty="0"/>
              <a:t> API/Agent Gateway should mediate all tool invocations, enforcing strict authentication (verifying the agent's identity) and authorization (confirming the agent has permission to call that specific tool with those parameters). Implementing granular rate limiting per agent or per tool prevents denial-of-service attacks (intentional or accidental) and controls costs associated with API usage. Gateway is the vital point for logging and auditing.</a:t>
            </a:r>
          </a:p>
          <a:p>
            <a:r>
              <a:rPr lang="en-US" dirty="0"/>
              <a:t>Altering on Anomalous behavior: Systems should baseline normal agent behavior (e.g., typical tool usage frequency and sequences, resource consumption, data access, external communication) and trigger alerts upon significant deviations.</a:t>
            </a:r>
          </a:p>
          <a:p>
            <a:r>
              <a:rPr lang="en-US" dirty="0"/>
              <a:t>Human oversight in high stakes environment: Adaptive trust mechanisms can dynamically adjust the level of required oversight based on the agent's performance, context, and the risk associated with the specific action.</a:t>
            </a:r>
          </a:p>
          <a:p>
            <a:r>
              <a:rPr lang="en-US" dirty="0"/>
              <a:t>Managing non-human Identities: Treated the same rigor as human identities, involving secure provisioning processes, robust credential management, clear ownership, reliable de-provisioning.</a:t>
            </a:r>
          </a:p>
        </p:txBody>
      </p:sp>
    </p:spTree>
    <p:extLst>
      <p:ext uri="{BB962C8B-B14F-4D97-AF65-F5344CB8AC3E}">
        <p14:creationId xmlns:p14="http://schemas.microsoft.com/office/powerpoint/2010/main" val="10657260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F9E47-A0FC-54A4-E691-B56CBA316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3CDA2-AD8B-EF39-DCA5-5AA8204CC277}"/>
              </a:ext>
            </a:extLst>
          </p:cNvPr>
          <p:cNvSpPr>
            <a:spLocks noGrp="1"/>
          </p:cNvSpPr>
          <p:nvPr>
            <p:ph type="ctrTitle"/>
          </p:nvPr>
        </p:nvSpPr>
        <p:spPr/>
        <p:txBody>
          <a:bodyPr/>
          <a:lstStyle/>
          <a:p>
            <a:r>
              <a:rPr lang="en-US" dirty="0"/>
              <a:t>Runtime Hardening</a:t>
            </a:r>
          </a:p>
        </p:txBody>
      </p:sp>
      <p:sp>
        <p:nvSpPr>
          <p:cNvPr id="3" name="Subtitle 2">
            <a:extLst>
              <a:ext uri="{FF2B5EF4-FFF2-40B4-BE49-F238E27FC236}">
                <a16:creationId xmlns:a16="http://schemas.microsoft.com/office/drawing/2014/main" id="{7FFCFA51-F3DC-233B-C013-57439EF611C5}"/>
              </a:ext>
            </a:extLst>
          </p:cNvPr>
          <p:cNvSpPr>
            <a:spLocks noGrp="1"/>
          </p:cNvSpPr>
          <p:nvPr>
            <p:ph type="subTitle" idx="1"/>
          </p:nvPr>
        </p:nvSpPr>
        <p:spPr/>
        <p:txBody>
          <a:bodyPr/>
          <a:lstStyle/>
          <a:p>
            <a:r>
              <a:rPr lang="en-US" dirty="0"/>
              <a:t>Traditional VM security hardening  and Agentic specific controls such as sandboxing, auditability, capability constraints and runtime behavioral monitoring </a:t>
            </a:r>
          </a:p>
          <a:p>
            <a:endParaRPr lang="en-US" dirty="0"/>
          </a:p>
        </p:txBody>
      </p:sp>
    </p:spTree>
    <p:extLst>
      <p:ext uri="{BB962C8B-B14F-4D97-AF65-F5344CB8AC3E}">
        <p14:creationId xmlns:p14="http://schemas.microsoft.com/office/powerpoint/2010/main" val="4245215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5F8A4-5962-8388-1E59-19EDDDBFB109}"/>
              </a:ext>
            </a:extLst>
          </p:cNvPr>
          <p:cNvSpPr>
            <a:spLocks noGrp="1"/>
          </p:cNvSpPr>
          <p:nvPr>
            <p:ph type="title"/>
          </p:nvPr>
        </p:nvSpPr>
        <p:spPr/>
        <p:txBody>
          <a:bodyPr/>
          <a:lstStyle/>
          <a:p>
            <a:r>
              <a:rPr lang="en-US" dirty="0"/>
              <a:t>Harden the Virtual Machine</a:t>
            </a:r>
          </a:p>
        </p:txBody>
      </p:sp>
      <p:sp>
        <p:nvSpPr>
          <p:cNvPr id="3" name="Content Placeholder 2">
            <a:extLst>
              <a:ext uri="{FF2B5EF4-FFF2-40B4-BE49-F238E27FC236}">
                <a16:creationId xmlns:a16="http://schemas.microsoft.com/office/drawing/2014/main" id="{A1842413-6EB4-8213-DB32-F9A9FC16F27B}"/>
              </a:ext>
            </a:extLst>
          </p:cNvPr>
          <p:cNvSpPr>
            <a:spLocks noGrp="1"/>
          </p:cNvSpPr>
          <p:nvPr>
            <p:ph idx="1"/>
          </p:nvPr>
        </p:nvSpPr>
        <p:spPr/>
        <p:txBody>
          <a:bodyPr>
            <a:normAutofit fontScale="70000" lnSpcReduction="20000"/>
          </a:bodyPr>
          <a:lstStyle/>
          <a:p>
            <a:pPr marL="0" indent="0">
              <a:buNone/>
            </a:pPr>
            <a:r>
              <a:rPr lang="en-US" dirty="0"/>
              <a:t>Baseline VM Hardening </a:t>
            </a:r>
          </a:p>
          <a:p>
            <a:r>
              <a:rPr lang="en-US" dirty="0"/>
              <a:t>Use minimal base images (e.g., </a:t>
            </a:r>
            <a:r>
              <a:rPr lang="en-US" dirty="0" err="1"/>
              <a:t>distroless</a:t>
            </a:r>
            <a:r>
              <a:rPr lang="en-US" dirty="0"/>
              <a:t>, Alpine, </a:t>
            </a:r>
            <a:r>
              <a:rPr lang="en-US" dirty="0" err="1"/>
              <a:t>microVMs</a:t>
            </a:r>
            <a:r>
              <a:rPr lang="en-US" dirty="0"/>
              <a:t>).  </a:t>
            </a:r>
          </a:p>
          <a:p>
            <a:r>
              <a:rPr lang="en-US" dirty="0"/>
              <a:t>Enable Secure Boot, TPM-backed disk encryption (e.g., via dm-crypt/LUKS).</a:t>
            </a:r>
          </a:p>
          <a:p>
            <a:r>
              <a:rPr lang="en-US" dirty="0"/>
              <a:t>Disable all unnecessary services (</a:t>
            </a:r>
            <a:r>
              <a:rPr lang="en-US" dirty="0" err="1"/>
              <a:t>sshd</a:t>
            </a:r>
            <a:r>
              <a:rPr lang="en-US" dirty="0"/>
              <a:t>, </a:t>
            </a:r>
            <a:r>
              <a:rPr lang="en-US" dirty="0" err="1"/>
              <a:t>cron</a:t>
            </a:r>
            <a:r>
              <a:rPr lang="en-US" dirty="0"/>
              <a:t>, etc.). </a:t>
            </a:r>
          </a:p>
          <a:p>
            <a:r>
              <a:rPr lang="en-US" dirty="0"/>
              <a:t>Apply firewall rules (iptables/</a:t>
            </a:r>
            <a:r>
              <a:rPr lang="en-US" dirty="0" err="1"/>
              <a:t>nftables</a:t>
            </a:r>
            <a:r>
              <a:rPr lang="en-US" dirty="0"/>
              <a:t>) to restrict ingress/egress by default. </a:t>
            </a:r>
          </a:p>
          <a:p>
            <a:r>
              <a:rPr lang="en-US" dirty="0"/>
              <a:t>Patch regularly using automation (e.g., unattended upgrades or </a:t>
            </a:r>
            <a:r>
              <a:rPr lang="en-US" dirty="0" err="1"/>
              <a:t>distroless</a:t>
            </a:r>
            <a:r>
              <a:rPr lang="en-US" dirty="0"/>
              <a:t> image re-pulls).</a:t>
            </a:r>
          </a:p>
          <a:p>
            <a:pPr marL="0" indent="0">
              <a:buNone/>
            </a:pPr>
            <a:endParaRPr lang="en-US" dirty="0"/>
          </a:p>
          <a:p>
            <a:pPr marL="0" indent="0">
              <a:buNone/>
            </a:pPr>
            <a:r>
              <a:rPr lang="en-US" dirty="0"/>
              <a:t>Network Isolation </a:t>
            </a:r>
          </a:p>
          <a:p>
            <a:r>
              <a:rPr lang="en-US" dirty="0"/>
              <a:t>Put VM inside a private subset or VPC </a:t>
            </a:r>
          </a:p>
          <a:p>
            <a:r>
              <a:rPr lang="en-US" dirty="0"/>
              <a:t>Use Service Meshes or API Gateways for controlled inter-agent communication.</a:t>
            </a:r>
          </a:p>
          <a:p>
            <a:r>
              <a:rPr lang="en-US" dirty="0"/>
              <a:t>Prevent direct internet access unless needed (Monitor it)</a:t>
            </a:r>
            <a:r>
              <a:rPr lang="en-US" i="1" dirty="0">
                <a:effectLst/>
                <a:latin typeface="Helvetica" pitchFamily="2" charset="0"/>
              </a:rPr>
              <a:t> Enable Secure Boot, TPM-backed disk encryption (e.g., via dm-crypt/LUKS).</a:t>
            </a:r>
            <a:endParaRPr lang="en-US" dirty="0">
              <a:effectLst/>
              <a:latin typeface="Helvetica" pitchFamily="2" charset="0"/>
            </a:endParaRPr>
          </a:p>
          <a:p>
            <a:endParaRPr lang="en-US" dirty="0"/>
          </a:p>
        </p:txBody>
      </p:sp>
    </p:spTree>
    <p:extLst>
      <p:ext uri="{BB962C8B-B14F-4D97-AF65-F5344CB8AC3E}">
        <p14:creationId xmlns:p14="http://schemas.microsoft.com/office/powerpoint/2010/main" val="26282576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468E9-94EF-73AA-8F8F-ECDDCBBC91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B7D54-91AF-9C1E-7505-73FE0C664C3F}"/>
              </a:ext>
            </a:extLst>
          </p:cNvPr>
          <p:cNvSpPr>
            <a:spLocks noGrp="1"/>
          </p:cNvSpPr>
          <p:nvPr>
            <p:ph type="title"/>
          </p:nvPr>
        </p:nvSpPr>
        <p:spPr/>
        <p:txBody>
          <a:bodyPr/>
          <a:lstStyle/>
          <a:p>
            <a:r>
              <a:rPr lang="en-US" dirty="0"/>
              <a:t>Contain the Agentic Runtime</a:t>
            </a:r>
          </a:p>
        </p:txBody>
      </p:sp>
      <p:sp>
        <p:nvSpPr>
          <p:cNvPr id="3" name="Content Placeholder 2">
            <a:extLst>
              <a:ext uri="{FF2B5EF4-FFF2-40B4-BE49-F238E27FC236}">
                <a16:creationId xmlns:a16="http://schemas.microsoft.com/office/drawing/2014/main" id="{948A50DA-2106-9427-B63B-FAA909F63F3A}"/>
              </a:ext>
            </a:extLst>
          </p:cNvPr>
          <p:cNvSpPr>
            <a:spLocks noGrp="1"/>
          </p:cNvSpPr>
          <p:nvPr>
            <p:ph idx="1"/>
          </p:nvPr>
        </p:nvSpPr>
        <p:spPr/>
        <p:txBody>
          <a:bodyPr>
            <a:normAutofit fontScale="85000" lnSpcReduction="10000"/>
          </a:bodyPr>
          <a:lstStyle/>
          <a:p>
            <a:pPr marL="0" indent="0">
              <a:buNone/>
            </a:pPr>
            <a:r>
              <a:rPr lang="en-US" dirty="0"/>
              <a:t>Sandbox the Agent Processes</a:t>
            </a:r>
          </a:p>
          <a:p>
            <a:r>
              <a:rPr lang="en-US" dirty="0"/>
              <a:t>Run each agent or tool in its own restricted namespace or container</a:t>
            </a:r>
          </a:p>
          <a:p>
            <a:r>
              <a:rPr lang="en-US" dirty="0"/>
              <a:t>Use tools to restrict </a:t>
            </a:r>
            <a:r>
              <a:rPr lang="en-US" dirty="0" err="1"/>
              <a:t>syscalls</a:t>
            </a:r>
            <a:r>
              <a:rPr lang="en-US" dirty="0"/>
              <a:t> (</a:t>
            </a:r>
            <a:r>
              <a:rPr lang="en-US" dirty="0" err="1"/>
              <a:t>AppArmor</a:t>
            </a:r>
            <a:r>
              <a:rPr lang="en-US" dirty="0"/>
              <a:t>/</a:t>
            </a:r>
            <a:r>
              <a:rPr lang="en-US" dirty="0" err="1"/>
              <a:t>SeLInux</a:t>
            </a:r>
            <a:r>
              <a:rPr lang="en-US" dirty="0"/>
              <a:t> or seccomp namespace)</a:t>
            </a:r>
          </a:p>
          <a:p>
            <a:r>
              <a:rPr lang="en-US" dirty="0"/>
              <a:t>Limit file system access using mount namespaces and read only access</a:t>
            </a:r>
          </a:p>
          <a:p>
            <a:r>
              <a:rPr lang="en-US" dirty="0"/>
              <a:t>Inject ephemeral storage for memory-sensitive LLM tools.</a:t>
            </a:r>
          </a:p>
          <a:p>
            <a:pPr marL="0" indent="0">
              <a:buNone/>
            </a:pPr>
            <a:endParaRPr lang="en-US" dirty="0"/>
          </a:p>
          <a:p>
            <a:pPr marL="0" indent="0">
              <a:buNone/>
            </a:pPr>
            <a:r>
              <a:rPr lang="en-US" dirty="0"/>
              <a:t>Scoped Capabilities</a:t>
            </a:r>
          </a:p>
          <a:p>
            <a:r>
              <a:rPr lang="en-US" dirty="0"/>
              <a:t>Use an AGNTCY-like capability control layer</a:t>
            </a:r>
          </a:p>
          <a:p>
            <a:pPr lvl="1"/>
            <a:r>
              <a:rPr lang="en-US" dirty="0"/>
              <a:t>Use JSON-RPC wrappers to enforce capability boundaries </a:t>
            </a:r>
          </a:p>
          <a:p>
            <a:pPr lvl="1"/>
            <a:r>
              <a:rPr lang="en-US" dirty="0"/>
              <a:t>Introduce capability tokens scoped per session</a:t>
            </a:r>
          </a:p>
          <a:p>
            <a:pPr lvl="1"/>
            <a:r>
              <a:rPr lang="en-US" dirty="0"/>
              <a:t>Allow use of only explicitly declared tools </a:t>
            </a:r>
          </a:p>
        </p:txBody>
      </p:sp>
    </p:spTree>
    <p:extLst>
      <p:ext uri="{BB962C8B-B14F-4D97-AF65-F5344CB8AC3E}">
        <p14:creationId xmlns:p14="http://schemas.microsoft.com/office/powerpoint/2010/main" val="28724176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EE01-8826-CF0A-D85D-F831E691B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3F620-90F0-8EBB-2664-770955096196}"/>
              </a:ext>
            </a:extLst>
          </p:cNvPr>
          <p:cNvSpPr>
            <a:spLocks noGrp="1"/>
          </p:cNvSpPr>
          <p:nvPr>
            <p:ph type="title"/>
          </p:nvPr>
        </p:nvSpPr>
        <p:spPr/>
        <p:txBody>
          <a:bodyPr/>
          <a:lstStyle/>
          <a:p>
            <a:r>
              <a:rPr lang="en-US" dirty="0"/>
              <a:t>Secure the Agent’s Memory, Tools, and Context</a:t>
            </a:r>
          </a:p>
        </p:txBody>
      </p:sp>
      <p:sp>
        <p:nvSpPr>
          <p:cNvPr id="3" name="Content Placeholder 2">
            <a:extLst>
              <a:ext uri="{FF2B5EF4-FFF2-40B4-BE49-F238E27FC236}">
                <a16:creationId xmlns:a16="http://schemas.microsoft.com/office/drawing/2014/main" id="{F4C9113B-C4CB-DE8F-DC5A-43670EF37911}"/>
              </a:ext>
            </a:extLst>
          </p:cNvPr>
          <p:cNvSpPr>
            <a:spLocks noGrp="1"/>
          </p:cNvSpPr>
          <p:nvPr>
            <p:ph idx="1"/>
          </p:nvPr>
        </p:nvSpPr>
        <p:spPr/>
        <p:txBody>
          <a:bodyPr>
            <a:normAutofit/>
          </a:bodyPr>
          <a:lstStyle/>
          <a:p>
            <a:pPr marL="0" indent="0">
              <a:buNone/>
            </a:pPr>
            <a:r>
              <a:rPr lang="en-US" b="1" dirty="0"/>
              <a:t>Memory and State Hygiene </a:t>
            </a:r>
          </a:p>
          <a:p>
            <a:r>
              <a:rPr lang="en-US" dirty="0"/>
              <a:t>Encrypt in memory state (where feasible)</a:t>
            </a:r>
          </a:p>
          <a:p>
            <a:r>
              <a:rPr lang="en-US" dirty="0"/>
              <a:t>Auto-clear memory on session ends </a:t>
            </a:r>
          </a:p>
          <a:p>
            <a:r>
              <a:rPr lang="en-US" dirty="0"/>
              <a:t>Use VM hooks to flush memory or rotate keys</a:t>
            </a:r>
          </a:p>
          <a:p>
            <a:pPr marL="0" indent="0">
              <a:buNone/>
            </a:pPr>
            <a:endParaRPr lang="en-US" dirty="0"/>
          </a:p>
          <a:p>
            <a:pPr marL="0" indent="0">
              <a:buNone/>
            </a:pPr>
            <a:r>
              <a:rPr lang="en-US" b="1" dirty="0"/>
              <a:t>Tool Execution Control </a:t>
            </a:r>
          </a:p>
          <a:p>
            <a:r>
              <a:rPr lang="en-US" dirty="0"/>
              <a:t>Implement runtime guards for tool calls: </a:t>
            </a:r>
          </a:p>
          <a:p>
            <a:pPr lvl="1"/>
            <a:r>
              <a:rPr lang="en-US" dirty="0"/>
              <a:t>validate input and output. </a:t>
            </a:r>
          </a:p>
          <a:p>
            <a:pPr lvl="1"/>
            <a:r>
              <a:rPr lang="en-US" dirty="0"/>
              <a:t>Scan for prompt injection or malicious redirection attempts</a:t>
            </a:r>
          </a:p>
          <a:p>
            <a:pPr marL="0" indent="0">
              <a:buNone/>
            </a:pPr>
            <a:endParaRPr lang="en-US" dirty="0"/>
          </a:p>
        </p:txBody>
      </p:sp>
    </p:spTree>
    <p:extLst>
      <p:ext uri="{BB962C8B-B14F-4D97-AF65-F5344CB8AC3E}">
        <p14:creationId xmlns:p14="http://schemas.microsoft.com/office/powerpoint/2010/main" val="30113150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F696-D582-1769-DE56-68DF73923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82D6E-E04B-6137-FEE6-5ABEB92629B6}"/>
              </a:ext>
            </a:extLst>
          </p:cNvPr>
          <p:cNvSpPr>
            <a:spLocks noGrp="1"/>
          </p:cNvSpPr>
          <p:nvPr>
            <p:ph type="title"/>
          </p:nvPr>
        </p:nvSpPr>
        <p:spPr/>
        <p:txBody>
          <a:bodyPr/>
          <a:lstStyle/>
          <a:p>
            <a:r>
              <a:rPr lang="en-US" dirty="0"/>
              <a:t>Observability and Forensics</a:t>
            </a:r>
          </a:p>
        </p:txBody>
      </p:sp>
      <p:sp>
        <p:nvSpPr>
          <p:cNvPr id="3" name="Content Placeholder 2">
            <a:extLst>
              <a:ext uri="{FF2B5EF4-FFF2-40B4-BE49-F238E27FC236}">
                <a16:creationId xmlns:a16="http://schemas.microsoft.com/office/drawing/2014/main" id="{54265DDC-69F7-6D0E-DAA3-B0ED0FCC6487}"/>
              </a:ext>
            </a:extLst>
          </p:cNvPr>
          <p:cNvSpPr>
            <a:spLocks noGrp="1"/>
          </p:cNvSpPr>
          <p:nvPr>
            <p:ph idx="1"/>
          </p:nvPr>
        </p:nvSpPr>
        <p:spPr/>
        <p:txBody>
          <a:bodyPr>
            <a:normAutofit fontScale="85000" lnSpcReduction="20000"/>
          </a:bodyPr>
          <a:lstStyle/>
          <a:p>
            <a:pPr marL="0" indent="0">
              <a:buNone/>
            </a:pPr>
            <a:r>
              <a:rPr lang="en-US" b="1" dirty="0"/>
              <a:t>Audit Everything </a:t>
            </a:r>
          </a:p>
          <a:p>
            <a:r>
              <a:rPr lang="en-US" dirty="0"/>
              <a:t>Every agent action (tool use, messages, memory write) should be logged with timestamp, </a:t>
            </a:r>
            <a:r>
              <a:rPr lang="en-US" dirty="0" err="1"/>
              <a:t>sessionID</a:t>
            </a:r>
            <a:r>
              <a:rPr lang="en-US" dirty="0"/>
              <a:t>, </a:t>
            </a:r>
            <a:r>
              <a:rPr lang="en-US" dirty="0" err="1"/>
              <a:t>agentID</a:t>
            </a:r>
            <a:r>
              <a:rPr lang="en-US" dirty="0"/>
              <a:t>, payload hash. </a:t>
            </a:r>
          </a:p>
          <a:p>
            <a:r>
              <a:rPr lang="en-US" dirty="0"/>
              <a:t>Log input/output signature fingerprints</a:t>
            </a:r>
          </a:p>
          <a:p>
            <a:r>
              <a:rPr lang="en-US" dirty="0"/>
              <a:t>Store logs securely with forward integrity (Append only + Merkle proofs or signed logs)</a:t>
            </a:r>
          </a:p>
          <a:p>
            <a:pPr marL="0" indent="0">
              <a:buNone/>
            </a:pPr>
            <a:endParaRPr lang="en-US" dirty="0"/>
          </a:p>
          <a:p>
            <a:pPr marL="0" indent="0">
              <a:buNone/>
            </a:pPr>
            <a:r>
              <a:rPr lang="en-US" b="1" dirty="0"/>
              <a:t>Behavioral Anomaly Detection: </a:t>
            </a:r>
            <a:r>
              <a:rPr lang="en-US" dirty="0"/>
              <a:t>Use runtime policy engines (e.g., Open Policy Agent) or integrate LLM anomaly detectors to spot: </a:t>
            </a:r>
          </a:p>
          <a:p>
            <a:r>
              <a:rPr lang="en-US" dirty="0"/>
              <a:t>Unusual tool invocation patterns. </a:t>
            </a:r>
          </a:p>
          <a:p>
            <a:r>
              <a:rPr lang="en-US" dirty="0"/>
              <a:t>Cross-agent communication deviations. </a:t>
            </a:r>
          </a:p>
          <a:p>
            <a:r>
              <a:rPr lang="en-US" dirty="0"/>
              <a:t>Memory bloat or frequent memory peeks.</a:t>
            </a:r>
          </a:p>
          <a:p>
            <a:pPr marL="0" indent="0">
              <a:buNone/>
            </a:pPr>
            <a:endParaRPr lang="en-US" dirty="0"/>
          </a:p>
        </p:txBody>
      </p:sp>
    </p:spTree>
    <p:extLst>
      <p:ext uri="{BB962C8B-B14F-4D97-AF65-F5344CB8AC3E}">
        <p14:creationId xmlns:p14="http://schemas.microsoft.com/office/powerpoint/2010/main" val="999060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5A0C-DA49-5B15-6C82-6A9D68235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85094-32EE-1999-2329-4E60CFCFF8AF}"/>
              </a:ext>
            </a:extLst>
          </p:cNvPr>
          <p:cNvSpPr>
            <a:spLocks noGrp="1"/>
          </p:cNvSpPr>
          <p:nvPr>
            <p:ph type="title"/>
          </p:nvPr>
        </p:nvSpPr>
        <p:spPr/>
        <p:txBody>
          <a:bodyPr/>
          <a:lstStyle/>
          <a:p>
            <a:r>
              <a:rPr lang="en-US" dirty="0"/>
              <a:t>Identity, Authentication and Agent Authorization</a:t>
            </a:r>
          </a:p>
        </p:txBody>
      </p:sp>
      <p:sp>
        <p:nvSpPr>
          <p:cNvPr id="3" name="Content Placeholder 2">
            <a:extLst>
              <a:ext uri="{FF2B5EF4-FFF2-40B4-BE49-F238E27FC236}">
                <a16:creationId xmlns:a16="http://schemas.microsoft.com/office/drawing/2014/main" id="{3B624889-CB69-E049-D471-C9AD75085DF5}"/>
              </a:ext>
            </a:extLst>
          </p:cNvPr>
          <p:cNvSpPr>
            <a:spLocks noGrp="1"/>
          </p:cNvSpPr>
          <p:nvPr>
            <p:ph idx="1"/>
          </p:nvPr>
        </p:nvSpPr>
        <p:spPr/>
        <p:txBody>
          <a:bodyPr/>
          <a:lstStyle/>
          <a:p>
            <a:pPr marL="0" indent="0">
              <a:buNone/>
            </a:pPr>
            <a:r>
              <a:rPr lang="en-US" dirty="0"/>
              <a:t>Identity and Session Management</a:t>
            </a:r>
          </a:p>
          <a:p>
            <a:r>
              <a:rPr lang="en-US" dirty="0"/>
              <a:t>Use JWTs, </a:t>
            </a:r>
            <a:r>
              <a:rPr lang="en-US" dirty="0" err="1"/>
              <a:t>mTLS</a:t>
            </a:r>
            <a:r>
              <a:rPr lang="en-US" dirty="0"/>
              <a:t>, or HMAC-based auth per agent session.</a:t>
            </a:r>
          </a:p>
          <a:p>
            <a:pPr marL="0" indent="0">
              <a:buNone/>
            </a:pPr>
            <a:endParaRPr lang="en-US" dirty="0"/>
          </a:p>
          <a:p>
            <a:pPr marL="0" indent="0">
              <a:buNone/>
            </a:pPr>
            <a:endParaRPr lang="en-US" dirty="0"/>
          </a:p>
          <a:p>
            <a:pPr marL="0" indent="0">
              <a:buNone/>
            </a:pPr>
            <a:r>
              <a:rPr lang="en-US" dirty="0"/>
              <a:t>Role based + Capability-based Access</a:t>
            </a:r>
          </a:p>
          <a:p>
            <a:r>
              <a:rPr lang="en-US" dirty="0"/>
              <a:t>Combine RBAC (agent classes) with capability tokens </a:t>
            </a:r>
          </a:p>
        </p:txBody>
      </p:sp>
    </p:spTree>
    <p:extLst>
      <p:ext uri="{BB962C8B-B14F-4D97-AF65-F5344CB8AC3E}">
        <p14:creationId xmlns:p14="http://schemas.microsoft.com/office/powerpoint/2010/main" val="40614721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A7FB-FA70-7DDC-6535-0F620C6EA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4BB91-D2FE-02D6-CBFA-798F29B70C0D}"/>
              </a:ext>
            </a:extLst>
          </p:cNvPr>
          <p:cNvSpPr>
            <a:spLocks noGrp="1"/>
          </p:cNvSpPr>
          <p:nvPr>
            <p:ph type="title"/>
          </p:nvPr>
        </p:nvSpPr>
        <p:spPr/>
        <p:txBody>
          <a:bodyPr/>
          <a:lstStyle/>
          <a:p>
            <a:r>
              <a:rPr lang="en-US" dirty="0"/>
              <a:t>Cloud Specific Hardening</a:t>
            </a:r>
          </a:p>
        </p:txBody>
      </p:sp>
      <p:sp>
        <p:nvSpPr>
          <p:cNvPr id="3" name="Content Placeholder 2">
            <a:extLst>
              <a:ext uri="{FF2B5EF4-FFF2-40B4-BE49-F238E27FC236}">
                <a16:creationId xmlns:a16="http://schemas.microsoft.com/office/drawing/2014/main" id="{60A171B1-F3A4-1A80-85B8-83116259385E}"/>
              </a:ext>
            </a:extLst>
          </p:cNvPr>
          <p:cNvSpPr>
            <a:spLocks noGrp="1"/>
          </p:cNvSpPr>
          <p:nvPr>
            <p:ph idx="1"/>
          </p:nvPr>
        </p:nvSpPr>
        <p:spPr/>
        <p:txBody>
          <a:bodyPr/>
          <a:lstStyle/>
          <a:p>
            <a:pPr marL="0" indent="0">
              <a:buNone/>
            </a:pPr>
            <a:r>
              <a:rPr lang="en-US" dirty="0"/>
              <a:t>If your VM is running in AWS/GCP/Azure: </a:t>
            </a:r>
          </a:p>
          <a:p>
            <a:r>
              <a:rPr lang="en-US" dirty="0"/>
              <a:t>Restrict metadata service access (e.g., IMDSv2 in AWS).  </a:t>
            </a:r>
          </a:p>
          <a:p>
            <a:r>
              <a:rPr lang="en-US" dirty="0"/>
              <a:t>Use IAM roles scoped per VM, not global. </a:t>
            </a:r>
          </a:p>
          <a:p>
            <a:r>
              <a:rPr lang="en-US" dirty="0"/>
              <a:t>Enable Confidential Computing if supported/feasible</a:t>
            </a:r>
          </a:p>
          <a:p>
            <a:endParaRPr lang="en-US" dirty="0"/>
          </a:p>
          <a:p>
            <a:pPr marL="0" indent="0">
              <a:buNone/>
            </a:pPr>
            <a:endParaRPr lang="en-US" dirty="0"/>
          </a:p>
        </p:txBody>
      </p:sp>
    </p:spTree>
    <p:extLst>
      <p:ext uri="{BB962C8B-B14F-4D97-AF65-F5344CB8AC3E}">
        <p14:creationId xmlns:p14="http://schemas.microsoft.com/office/powerpoint/2010/main" val="1825487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7846</TotalTime>
  <Words>7574</Words>
  <Application>Microsoft Macintosh PowerPoint</Application>
  <PresentationFormat>Widescreen</PresentationFormat>
  <Paragraphs>721</Paragraphs>
  <Slides>84</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84</vt:i4>
      </vt:variant>
    </vt:vector>
  </HeadingPairs>
  <TitlesOfParts>
    <vt:vector size="89" baseType="lpstr">
      <vt:lpstr>Aptos</vt:lpstr>
      <vt:lpstr>Aptos Display</vt:lpstr>
      <vt:lpstr>Arial</vt:lpstr>
      <vt:lpstr>Helvetica</vt:lpstr>
      <vt:lpstr>Office Theme</vt:lpstr>
      <vt:lpstr>Securing Agentic Application Guide V1.0</vt:lpstr>
      <vt:lpstr>Introduction</vt:lpstr>
      <vt:lpstr>Scope</vt:lpstr>
      <vt:lpstr>Key Components of Secure Agentic Architecture and Attack Surface</vt:lpstr>
      <vt:lpstr>Generative Language Model</vt:lpstr>
      <vt:lpstr>Generative Language Model – Attack Surface</vt:lpstr>
      <vt:lpstr>Orchestrator </vt:lpstr>
      <vt:lpstr>Orchestrator – Attack Surface </vt:lpstr>
      <vt:lpstr>Reasoning/Planning Paradigm </vt:lpstr>
      <vt:lpstr>Reasoning/Planning Paradigm – Attack Surface </vt:lpstr>
      <vt:lpstr>Memory Modules </vt:lpstr>
      <vt:lpstr>Memory Modules – Attack Surface </vt:lpstr>
      <vt:lpstr>Tool Integration Frameworks </vt:lpstr>
      <vt:lpstr>Tool Integration Frameworks – Attack Surface </vt:lpstr>
      <vt:lpstr>Operational Environment (Agencies) </vt:lpstr>
      <vt:lpstr>Operational Environment – Attack Surface </vt:lpstr>
      <vt:lpstr>Secure Architecture Patterns</vt:lpstr>
      <vt:lpstr>Tool use Pattern Interactions </vt:lpstr>
      <vt:lpstr>Reflection Pattern</vt:lpstr>
      <vt:lpstr>RAG Pattern</vt:lpstr>
      <vt:lpstr>User Privilege/Auth Assumption pattern for execution</vt:lpstr>
      <vt:lpstr>Sequential Agent Architecture</vt:lpstr>
      <vt:lpstr>Hierarchical Agent Architecture/Role Based Multi Agent Systems</vt:lpstr>
      <vt:lpstr>Collaborative Agent Swarm/Distributed Agent Mesh</vt:lpstr>
      <vt:lpstr>Agentic Developer Guidelines</vt:lpstr>
      <vt:lpstr>System Prompt Engineering and Hardening</vt:lpstr>
      <vt:lpstr>Secure Coding Practices</vt:lpstr>
      <vt:lpstr>Content Moderation Integration (Design)</vt:lpstr>
      <vt:lpstr>Human-in-the-Loop (HITL) Design</vt:lpstr>
      <vt:lpstr>Memory Security Design </vt:lpstr>
      <vt:lpstr>Input/Output Validation and Sanitization Design </vt:lpstr>
      <vt:lpstr>Authorization and Authentication</vt:lpstr>
      <vt:lpstr>Agentic Developer Guidelines</vt:lpstr>
      <vt:lpstr>Static Analysis and Code Scanning (SAST)</vt:lpstr>
      <vt:lpstr>Dependency Vulnerability Scanning (SCA)</vt:lpstr>
      <vt:lpstr>Environment Hardening and Sandboxing</vt:lpstr>
      <vt:lpstr>Secure Configuration Management </vt:lpstr>
      <vt:lpstr>Pre-Deployment Testing (Fuzzing, Pen testing)</vt:lpstr>
      <vt:lpstr>Runtime Security with Memory Isolation</vt:lpstr>
      <vt:lpstr>Separating Data Planes from Control Panes (Multi-agent Architectures)</vt:lpstr>
      <vt:lpstr>Just-in-Time Access and Ephemeral Credentials </vt:lpstr>
      <vt:lpstr>Agentic Developer Guidelines</vt:lpstr>
      <vt:lpstr>Continuous Monitoring and Anomaly Detection</vt:lpstr>
      <vt:lpstr>Runtime Guardrails and Automated Moderation</vt:lpstr>
      <vt:lpstr>Logging, Auditing and Traceability</vt:lpstr>
      <vt:lpstr>Vulnerability Scanning (Runtime)</vt:lpstr>
      <vt:lpstr>Incident Response Planning</vt:lpstr>
      <vt:lpstr>AI Bot Mitigation and Control</vt:lpstr>
      <vt:lpstr>Enhanced Security Actions for Agentic AI Systems</vt:lpstr>
      <vt:lpstr>Authentication and Authorization</vt:lpstr>
      <vt:lpstr>Data Protection</vt:lpstr>
      <vt:lpstr>Code Security</vt:lpstr>
      <vt:lpstr>Monitoring and Incident Response</vt:lpstr>
      <vt:lpstr>Prompt Security</vt:lpstr>
      <vt:lpstr>Enhanced Security Actions for Agentic AI Systems</vt:lpstr>
      <vt:lpstr>Authentication and Authorization</vt:lpstr>
      <vt:lpstr>Orchestrator Security</vt:lpstr>
      <vt:lpstr>Inter-Agent Communication</vt:lpstr>
      <vt:lpstr>Trust Boundaries</vt:lpstr>
      <vt:lpstr>Enhanced Security Actions for Agentic AI Systems</vt:lpstr>
      <vt:lpstr>Authentication and Authorization</vt:lpstr>
      <vt:lpstr>Decentralized Identity and Trust</vt:lpstr>
      <vt:lpstr>Secure Peer to Peer Communication</vt:lpstr>
      <vt:lpstr>Cross Architecture Security Considerations</vt:lpstr>
      <vt:lpstr>Key Operational Capability</vt:lpstr>
      <vt:lpstr>KC6.1 API Access</vt:lpstr>
      <vt:lpstr>KC6.2 Code Execution</vt:lpstr>
      <vt:lpstr>KC6.3 Database Execution</vt:lpstr>
      <vt:lpstr>KC6.4 Web Use</vt:lpstr>
      <vt:lpstr>KC6.5 Controlling PC Operations (Filesystem, OS commands)</vt:lpstr>
      <vt:lpstr>KC6.6 Operating Critical Systems </vt:lpstr>
      <vt:lpstr>Agentic AI and the Supply Chain</vt:lpstr>
      <vt:lpstr>Code Security</vt:lpstr>
      <vt:lpstr>Environments and Development</vt:lpstr>
      <vt:lpstr>Agent and Tool Discovery</vt:lpstr>
      <vt:lpstr>Secure Agentic Deployments</vt:lpstr>
      <vt:lpstr>Principles and Practices</vt:lpstr>
      <vt:lpstr>Runtime Hardening</vt:lpstr>
      <vt:lpstr>Harden the Virtual Machine</vt:lpstr>
      <vt:lpstr>Contain the Agentic Runtime</vt:lpstr>
      <vt:lpstr>Secure the Agent’s Memory, Tools, and Context</vt:lpstr>
      <vt:lpstr>Observability and Forensics</vt:lpstr>
      <vt:lpstr>Identity, Authentication and Agent Authorization</vt:lpstr>
      <vt:lpstr>Cloud Specific Hardening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Gurpriya Bhatia</dc:creator>
  <cp:lastModifiedBy>Gurpriya Bhatia</cp:lastModifiedBy>
  <cp:revision>243</cp:revision>
  <dcterms:created xsi:type="dcterms:W3CDTF">2026-04-06T18:17:12Z</dcterms:created>
  <dcterms:modified xsi:type="dcterms:W3CDTF">2026-04-12T19:33:34Z</dcterms:modified>
</cp:coreProperties>
</file>